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4.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5.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423"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63D24"/>
                </a:solidFill>
                <a:latin typeface="Cambria"/>
              </a:defRPr>
            </a:pPr>
            <a:r>
              <a:rPr lang="en-US" sz="1400" b="0" i="0" u="none" strike="noStrike">
                <a:solidFill>
                  <a:srgbClr val="163D24"/>
                </a:solidFill>
                <a:latin typeface="Cambria"/>
              </a:rPr>
              <a:t>Registered families by hub</a:t>
            </a:r>
          </a:p>
        </c:rich>
      </c:tx>
      <c:overlay val="0"/>
    </c:title>
    <c:autoTitleDeleted val="0"/>
    <c:plotArea>
      <c:layout/>
      <c:barChart>
        <c:barDir val="bar"/>
        <c:grouping val="clustered"/>
        <c:varyColors val="0"/>
        <c:ser>
          <c:idx val="0"/>
          <c:order val="0"/>
          <c:tx>
            <c:strRef>
              <c:f>Sheet1!$B$1</c:f>
              <c:strCache>
                <c:ptCount val="1"/>
                <c:pt idx="0">
                  <c:v>Registered families</c:v>
                </c:pt>
              </c:strCache>
            </c:strRef>
          </c:tx>
          <c:spPr>
            <a:solidFill>
              <a:srgbClr val="2C5F2D"/>
            </a:solidFill>
            <a:effectLst/>
          </c:spPr>
          <c:invertIfNegative val="0"/>
          <c:dLbls>
            <c:numFmt formatCode="#,##0" sourceLinked="0"/>
            <c:spPr>
              <a:noFill/>
              <a:ln>
                <a:noFill/>
              </a:ln>
              <a:effectLst/>
            </c:spPr>
            <c:txPr>
              <a:bodyPr/>
              <a:lstStyle/>
              <a:p>
                <a:pPr>
                  <a:defRPr sz="1200" b="0" i="0" u="none" strike="noStrike">
                    <a:solidFill>
                      <a:srgbClr val="1A2E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North Bay</c:v>
                </c:pt>
                <c:pt idx="1">
                  <c:v>Scarborough</c:v>
                </c:pt>
                <c:pt idx="2">
                  <c:v>Mississauga</c:v>
                </c:pt>
              </c:strCache>
            </c:strRef>
          </c:cat>
          <c:val>
            <c:numRef>
              <c:f>Sheet1!$B$2:$B$4</c:f>
              <c:numCache>
                <c:formatCode>General</c:formatCode>
                <c:ptCount val="3"/>
                <c:pt idx="0">
                  <c:v>352</c:v>
                </c:pt>
                <c:pt idx="1">
                  <c:v>326</c:v>
                </c:pt>
                <c:pt idx="2">
                  <c:v>322</c:v>
                </c:pt>
              </c:numCache>
            </c:numRef>
          </c:val>
          <c:extLst>
            <c:ext xmlns:c16="http://schemas.microsoft.com/office/drawing/2014/chart" uri="{C3380CC4-5D6E-409C-BE32-E72D297353CC}">
              <c16:uniqueId val="{00000000-93C3-475E-A181-1B01A3AB353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E20"/>
                </a:solidFill>
                <a:latin typeface="Calibri"/>
              </a:defRPr>
            </a:pPr>
            <a:endParaRPr lang="en-US"/>
          </a:p>
        </c:txPr>
        <c:crossAx val="2094734552"/>
        <c:crosses val="autoZero"/>
        <c:auto val="1"/>
        <c:lblAlgn val="ctr"/>
        <c:lblOffset val="100"/>
        <c:noMultiLvlLbl val="1"/>
      </c:catAx>
      <c:valAx>
        <c:axId val="2094734552"/>
        <c:scaling>
          <c:orientation val="minMax"/>
          <c:max val="400"/>
        </c:scaling>
        <c:delete val="0"/>
        <c:axPos val="b"/>
        <c:majorGridlines>
          <c:spPr>
            <a:ln w="12700" cap="flat">
              <a:solidFill>
                <a:srgbClr val="E8EE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F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63D24"/>
                </a:solidFill>
                <a:latin typeface="Cambria"/>
              </a:defRPr>
            </a:pPr>
            <a:r>
              <a:rPr lang="en-US" sz="1400" b="0" i="0" u="none" strike="noStrike">
                <a:solidFill>
                  <a:srgbClr val="163D24"/>
                </a:solidFill>
                <a:latin typeface="Cambria"/>
              </a:rPr>
              <a:t>Donor locations by hub</a:t>
            </a:r>
          </a:p>
        </c:rich>
      </c:tx>
      <c:overlay val="0"/>
    </c:title>
    <c:autoTitleDeleted val="0"/>
    <c:plotArea>
      <c:layout/>
      <c:doughnutChart>
        <c:varyColors val="1"/>
        <c:ser>
          <c:idx val="0"/>
          <c:order val="0"/>
          <c:tx>
            <c:strRef>
              <c:f>Sheet1!$B$1</c:f>
              <c:strCache>
                <c:ptCount val="1"/>
                <c:pt idx="0">
                  <c:v>Donor share</c:v>
                </c:pt>
              </c:strCache>
            </c:strRef>
          </c:tx>
          <c:spPr>
            <a:solidFill>
              <a:schemeClr val="accent1"/>
            </a:solidFill>
            <a:ln w="9525" cap="flat">
              <a:solidFill>
                <a:srgbClr val="F9F9F9"/>
              </a:solidFill>
              <a:prstDash val="solid"/>
              <a:round/>
            </a:ln>
            <a:effectLst/>
          </c:spPr>
          <c:dPt>
            <c:idx val="0"/>
            <c:bubble3D val="0"/>
            <c:spPr>
              <a:solidFill>
                <a:srgbClr val="2C5F2D"/>
              </a:solidFill>
              <a:effectLst/>
            </c:spPr>
            <c:extLst>
              <c:ext xmlns:c16="http://schemas.microsoft.com/office/drawing/2014/chart" uri="{C3380CC4-5D6E-409C-BE32-E72D297353CC}">
                <c16:uniqueId val="{00000001-0AE0-440A-AB3D-8C11C417C0C5}"/>
              </c:ext>
            </c:extLst>
          </c:dPt>
          <c:dPt>
            <c:idx val="1"/>
            <c:bubble3D val="0"/>
            <c:spPr>
              <a:solidFill>
                <a:srgbClr val="97BC62"/>
              </a:solidFill>
              <a:effectLst/>
            </c:spPr>
            <c:extLst>
              <c:ext xmlns:c16="http://schemas.microsoft.com/office/drawing/2014/chart" uri="{C3380CC4-5D6E-409C-BE32-E72D297353CC}">
                <c16:uniqueId val="{00000003-0AE0-440A-AB3D-8C11C417C0C5}"/>
              </c:ext>
            </c:extLst>
          </c:dPt>
          <c:dPt>
            <c:idx val="2"/>
            <c:bubble3D val="0"/>
            <c:spPr>
              <a:solidFill>
                <a:srgbClr val="D97A26"/>
              </a:solidFill>
              <a:effectLst/>
            </c:spPr>
            <c:extLst>
              <c:ext xmlns:c16="http://schemas.microsoft.com/office/drawing/2014/chart" uri="{C3380CC4-5D6E-409C-BE32-E72D297353CC}">
                <c16:uniqueId val="{00000005-0AE0-440A-AB3D-8C11C417C0C5}"/>
              </c:ext>
            </c:extLst>
          </c:dPt>
          <c:cat>
            <c:strRef>
              <c:f>Sheet1!$A$2:$A$4</c:f>
              <c:strCache>
                <c:ptCount val="3"/>
                <c:pt idx="0">
                  <c:v>Mississauga 35.8%</c:v>
                </c:pt>
                <c:pt idx="1">
                  <c:v>North Bay 33.2%</c:v>
                </c:pt>
                <c:pt idx="2">
                  <c:v>Scarborough 31.0%</c:v>
                </c:pt>
              </c:strCache>
            </c:strRef>
          </c:cat>
          <c:val>
            <c:numRef>
              <c:f>Sheet1!$B$2:$B$4</c:f>
              <c:numCache>
                <c:formatCode>General</c:formatCode>
                <c:ptCount val="3"/>
                <c:pt idx="0">
                  <c:v>35.799999999999997</c:v>
                </c:pt>
                <c:pt idx="1">
                  <c:v>33.200000000000003</c:v>
                </c:pt>
                <c:pt idx="2">
                  <c:v>31</c:v>
                </c:pt>
              </c:numCache>
            </c:numRef>
          </c:val>
          <c:extLst>
            <c:ext xmlns:c16="http://schemas.microsoft.com/office/drawing/2014/chart" uri="{C3380CC4-5D6E-409C-BE32-E72D297353CC}">
              <c16:uniqueId val="{00000006-0AE0-440A-AB3D-8C11C417C0C5}"/>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1A2E2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63D24"/>
                </a:solidFill>
                <a:latin typeface="Cambria"/>
              </a:defRPr>
            </a:pPr>
            <a:r>
              <a:rPr lang="en-US" sz="1400" b="0" i="0" u="none" strike="noStrike">
                <a:solidFill>
                  <a:srgbClr val="163D24"/>
                </a:solidFill>
                <a:latin typeface="Cambria"/>
              </a:rPr>
              <a:t>Stock on hand by storage type (units)</a:t>
            </a:r>
          </a:p>
        </c:rich>
      </c:tx>
      <c:overlay val="0"/>
    </c:title>
    <c:autoTitleDeleted val="0"/>
    <c:plotArea>
      <c:layout/>
      <c:barChart>
        <c:barDir val="bar"/>
        <c:grouping val="clustered"/>
        <c:varyColors val="0"/>
        <c:ser>
          <c:idx val="0"/>
          <c:order val="0"/>
          <c:tx>
            <c:strRef>
              <c:f>Sheet1!$B$1</c:f>
              <c:strCache>
                <c:ptCount val="1"/>
                <c:pt idx="0">
                  <c:v>Stock on hand (units)</c:v>
                </c:pt>
              </c:strCache>
            </c:strRef>
          </c:tx>
          <c:spPr>
            <a:solidFill>
              <a:srgbClr val="2C5F2D"/>
            </a:solidFill>
            <a:effectLst/>
          </c:spPr>
          <c:invertIfNegative val="0"/>
          <c:dLbls>
            <c:numFmt formatCode="#,##0" sourceLinked="0"/>
            <c:spPr>
              <a:noFill/>
              <a:ln>
                <a:noFill/>
              </a:ln>
              <a:effectLst/>
            </c:spPr>
            <c:txPr>
              <a:bodyPr/>
              <a:lstStyle/>
              <a:p>
                <a:pPr>
                  <a:defRPr sz="1100" b="0" i="0" u="none" strike="noStrike">
                    <a:solidFill>
                      <a:srgbClr val="1A2E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Dry</c:v>
                </c:pt>
                <c:pt idx="1">
                  <c:v>Cold</c:v>
                </c:pt>
                <c:pt idx="2">
                  <c:v>Controlled (medical)</c:v>
                </c:pt>
                <c:pt idx="3">
                  <c:v>Frozen</c:v>
                </c:pt>
              </c:strCache>
            </c:strRef>
          </c:cat>
          <c:val>
            <c:numRef>
              <c:f>Sheet1!$B$2:$B$5</c:f>
              <c:numCache>
                <c:formatCode>General</c:formatCode>
                <c:ptCount val="4"/>
                <c:pt idx="0">
                  <c:v>86964</c:v>
                </c:pt>
                <c:pt idx="1">
                  <c:v>24697</c:v>
                </c:pt>
                <c:pt idx="2">
                  <c:v>21028</c:v>
                </c:pt>
                <c:pt idx="3">
                  <c:v>14568</c:v>
                </c:pt>
              </c:numCache>
            </c:numRef>
          </c:val>
          <c:extLst>
            <c:ext xmlns:c16="http://schemas.microsoft.com/office/drawing/2014/chart" uri="{C3380CC4-5D6E-409C-BE32-E72D297353CC}">
              <c16:uniqueId val="{00000000-DEB4-4DCD-9B07-216BCA38B0DA}"/>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A2E20"/>
                </a:solidFill>
                <a:latin typeface="Calibri"/>
              </a:defRPr>
            </a:pPr>
            <a:endParaRPr lang="en-US"/>
          </a:p>
        </c:txPr>
        <c:crossAx val="2094734552"/>
        <c:crosses val="autoZero"/>
        <c:auto val="1"/>
        <c:lblAlgn val="ctr"/>
        <c:lblOffset val="100"/>
        <c:noMultiLvlLbl val="1"/>
      </c:catAx>
      <c:valAx>
        <c:axId val="2094734552"/>
        <c:scaling>
          <c:orientation val="minMax"/>
          <c:max val="100000"/>
        </c:scaling>
        <c:delete val="0"/>
        <c:axPos val="b"/>
        <c:majorGridlines>
          <c:spPr>
            <a:ln w="12700" cap="flat">
              <a:solidFill>
                <a:srgbClr val="E8EEE4"/>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F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Annual cost (CAD)</c:v>
                </c:pt>
              </c:strCache>
            </c:strRef>
          </c:tx>
          <c:spPr>
            <a:solidFill>
              <a:srgbClr val="2C5F2D"/>
            </a:solidFill>
            <a:effectLst/>
          </c:spPr>
          <c:invertIfNegative val="0"/>
          <c:dLbls>
            <c:numFmt formatCode="\$#,##0" sourceLinked="0"/>
            <c:spPr>
              <a:noFill/>
              <a:ln>
                <a:noFill/>
              </a:ln>
              <a:effectLst/>
            </c:spPr>
            <c:txPr>
              <a:bodyPr/>
              <a:lstStyle/>
              <a:p>
                <a:pPr>
                  <a:defRPr sz="1000" b="0" i="0" u="none" strike="noStrike">
                    <a:solidFill>
                      <a:srgbClr val="1A2E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Staff</c:v>
                </c:pt>
                <c:pt idx="1">
                  <c:v>Facility</c:v>
                </c:pt>
                <c:pt idx="2">
                  <c:v>Transportation</c:v>
                </c:pt>
                <c:pt idx="3">
                  <c:v>Operations</c:v>
                </c:pt>
                <c:pt idx="4">
                  <c:v>Contingency</c:v>
                </c:pt>
                <c:pt idx="5">
                  <c:v>Utilities</c:v>
                </c:pt>
                <c:pt idx="6">
                  <c:v>IT</c:v>
                </c:pt>
                <c:pt idx="7">
                  <c:v>Insurance</c:v>
                </c:pt>
                <c:pt idx="8">
                  <c:v>Marketing</c:v>
                </c:pt>
                <c:pt idx="9">
                  <c:v>Training</c:v>
                </c:pt>
              </c:strCache>
            </c:strRef>
          </c:cat>
          <c:val>
            <c:numRef>
              <c:f>Sheet1!$B$2:$B$11</c:f>
              <c:numCache>
                <c:formatCode>General</c:formatCode>
                <c:ptCount val="10"/>
                <c:pt idx="0">
                  <c:v>380000</c:v>
                </c:pt>
                <c:pt idx="1">
                  <c:v>180000</c:v>
                </c:pt>
                <c:pt idx="2">
                  <c:v>48500</c:v>
                </c:pt>
                <c:pt idx="3">
                  <c:v>21600</c:v>
                </c:pt>
                <c:pt idx="4">
                  <c:v>20000</c:v>
                </c:pt>
                <c:pt idx="5">
                  <c:v>18000</c:v>
                </c:pt>
                <c:pt idx="6">
                  <c:v>8060</c:v>
                </c:pt>
                <c:pt idx="7">
                  <c:v>8000</c:v>
                </c:pt>
                <c:pt idx="8">
                  <c:v>5000</c:v>
                </c:pt>
                <c:pt idx="9">
                  <c:v>4000</c:v>
                </c:pt>
              </c:numCache>
            </c:numRef>
          </c:val>
          <c:extLst>
            <c:ext xmlns:c16="http://schemas.microsoft.com/office/drawing/2014/chart" uri="{C3380CC4-5D6E-409C-BE32-E72D297353CC}">
              <c16:uniqueId val="{00000000-5793-4CAB-883B-8AC468575F2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E20"/>
                </a:solidFill>
                <a:latin typeface="Calibri"/>
              </a:defRPr>
            </a:pPr>
            <a:endParaRPr lang="en-US"/>
          </a:p>
        </c:txPr>
        <c:crossAx val="2094734552"/>
        <c:crosses val="autoZero"/>
        <c:auto val="1"/>
        <c:lblAlgn val="ctr"/>
        <c:lblOffset val="100"/>
        <c:noMultiLvlLbl val="1"/>
      </c:catAx>
      <c:valAx>
        <c:axId val="2094734552"/>
        <c:scaling>
          <c:orientation val="minMax"/>
          <c:max val="450000"/>
        </c:scaling>
        <c:delete val="0"/>
        <c:axPos val="b"/>
        <c:majorGridlines>
          <c:spPr>
            <a:ln w="12700" cap="flat">
              <a:solidFill>
                <a:srgbClr val="E8EEE4"/>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F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Cost (CAD)</c:v>
                </c:pt>
              </c:strCache>
            </c:strRef>
          </c:tx>
          <c:spPr>
            <a:solidFill>
              <a:srgbClr val="2C5F2D"/>
            </a:solidFill>
            <a:effectLst/>
          </c:spPr>
          <c:invertIfNegative val="0"/>
          <c:dLbls>
            <c:numFmt formatCode="\$#,##0" sourceLinked="0"/>
            <c:spPr>
              <a:noFill/>
              <a:ln>
                <a:noFill/>
              </a:ln>
              <a:effectLst/>
            </c:spPr>
            <c:txPr>
              <a:bodyPr/>
              <a:lstStyle/>
              <a:p>
                <a:pPr>
                  <a:defRPr sz="1000" b="0" i="0" u="none" strike="noStrike">
                    <a:solidFill>
                      <a:srgbClr val="1A2E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Project Manager</c:v>
                </c:pt>
                <c:pt idx="1">
                  <c:v>Database Designer</c:v>
                </c:pt>
                <c:pt idx="2">
                  <c:v>Developer</c:v>
                </c:pt>
                <c:pt idx="3">
                  <c:v>Business Analyst</c:v>
                </c:pt>
                <c:pt idx="4">
                  <c:v>Data Migration Lead</c:v>
                </c:pt>
                <c:pt idx="5">
                  <c:v>Tester / QA</c:v>
                </c:pt>
                <c:pt idx="6">
                  <c:v>Software License</c:v>
                </c:pt>
                <c:pt idx="7">
                  <c:v>Trainer</c:v>
                </c:pt>
                <c:pt idx="8">
                  <c:v>Travel &amp; Meetings</c:v>
                </c:pt>
                <c:pt idx="9">
                  <c:v>Training Materials</c:v>
                </c:pt>
              </c:strCache>
            </c:strRef>
          </c:cat>
          <c:val>
            <c:numRef>
              <c:f>Sheet1!$B$2:$B$11</c:f>
              <c:numCache>
                <c:formatCode>General</c:formatCode>
                <c:ptCount val="10"/>
                <c:pt idx="0">
                  <c:v>7680</c:v>
                </c:pt>
                <c:pt idx="1">
                  <c:v>4400</c:v>
                </c:pt>
                <c:pt idx="2">
                  <c:v>4200</c:v>
                </c:pt>
                <c:pt idx="3">
                  <c:v>3400</c:v>
                </c:pt>
                <c:pt idx="4">
                  <c:v>2160</c:v>
                </c:pt>
                <c:pt idx="5">
                  <c:v>1120</c:v>
                </c:pt>
                <c:pt idx="6">
                  <c:v>1000</c:v>
                </c:pt>
                <c:pt idx="7">
                  <c:v>900</c:v>
                </c:pt>
                <c:pt idx="8">
                  <c:v>100</c:v>
                </c:pt>
                <c:pt idx="9">
                  <c:v>50</c:v>
                </c:pt>
              </c:numCache>
            </c:numRef>
          </c:val>
          <c:extLst>
            <c:ext xmlns:c16="http://schemas.microsoft.com/office/drawing/2014/chart" uri="{C3380CC4-5D6E-409C-BE32-E72D297353CC}">
              <c16:uniqueId val="{00000000-759C-440E-934C-1A460FD2966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A2E20"/>
                </a:solidFill>
                <a:latin typeface="Calibri"/>
              </a:defRPr>
            </a:pPr>
            <a:endParaRPr lang="en-US"/>
          </a:p>
        </c:txPr>
        <c:crossAx val="2094734552"/>
        <c:crosses val="autoZero"/>
        <c:auto val="1"/>
        <c:lblAlgn val="ctr"/>
        <c:lblOffset val="100"/>
        <c:noMultiLvlLbl val="1"/>
      </c:catAx>
      <c:valAx>
        <c:axId val="2094734552"/>
        <c:scaling>
          <c:orientation val="minMax"/>
          <c:max val="9000"/>
        </c:scaling>
        <c:delete val="0"/>
        <c:axPos val="b"/>
        <c:majorGridlines>
          <c:spPr>
            <a:ln w="12700" cap="flat">
              <a:solidFill>
                <a:srgbClr val="E8EEE4"/>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F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225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FoodShare Food Bank Management System — replacing spreadsheets and paper logs across three hubs with one integrated system covering donations, warehousing, inventory, transportation and distribution.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the case, the operating model, people and plan, benchmark data, the WBS and schedule from MS Project, and governance.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The system covers donations, warehousing, inventory, transportation and distribution. Benchmarks come from Care Shield Food Bank, used strictly as a planning comparison.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and 4 of the charter. The four failure modes on the right are the specific, predictable ways manual record-keeping breaks down at this scale.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from Section 3, the seven objectives from Section 5 of the charter.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boundaries from Section 6. The out-of-scope list matters as much as the in-scope list for a one-semester build.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collection channels: scheduled pickup from partner locations, and direct drop-off at a warehouse. Both end in the same place — a verified inventory record.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Warehouse process from Section 8; the hub network from Section 11. Hub percentage split comes from the benchmark network, not from FoodShare's own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FIFO distribution from Section 9. Note the charter also refers to FEFO tracking in Section 14.7 — worth confirming which term the sponsor wants used throughout.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trucks, three functions, and a 50 km short-haul / long-haul split. Fleet size is one of the project's stated constraints.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stakeholder groups and their responsibilities, from Section 12 of the charter.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named leads. The note bottom-right is verbatim from the charter — roles are ownership markers, not hard silos.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charter roadmap is quarter-level and runs Q3 2026 to Q3 2027. The MS Project file baselines a shorter, task-level working schedule for the build itself.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major deliverables from Section 13.3. Reports and dashboard are core deliverables rather than post-launch additions.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the benchmark section. FoodShare does not yet capture structured network-wide statistics — that is a large part of why this project exists.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families, 4,557 individuals, average household 4.56 people. Near-even hub split is the key planning takeaway.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donor locations, evenly spread. Pickup-day concentration on Wednesday and Friday is the operational risk to design around.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 storage dominates at 59 SKUs and roughly 59% of units. Reorder alerts matter even at this scale — 6% of SKUs were below reorder level.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full-time staff, an informal 25-50 volunteer range, two trucks, ~45 crates a day, 16,435 crates a year.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and facility take 80.8% of the budget. IT is 1.2% — which sets a realistic ceiling on what FoodShare can spend running the system after handover.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plus the scale check: build for benchmark volumes, not today's numbers.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the WBS and schedule baselined in Microsoft Project, plus the WBS dictionary entries.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work packages. Database Design &amp; Build is the largest at 168 hours and $9,380 — over a third of total project cost.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as baselined in the MPP file. Five phases run largely in sequence with finish-to-start dependencies.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Manager is the single largest line at $7,680 over 128 hours, reflecting the Project Management work package running the length of the schedule.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WBS dictionary gives each work package a detailed description so scope is unambiguous at task level. Twelve entries in total.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assumptions, six constraints. If any assumption fails — particularly truck availability or volunteer numbers — the schedule and scope need revisiting.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risks. The last one — uneven pickup coverage — was added specifically because the benchmark data flagged it as a real pattern in a comparable network.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success criteria. They map back to the objectives in Section 5 — accurate records, reduced waste, timely distribution, and self-service reporting.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future extensions plus the strategic point: the reporting layer turns a record-keeping system into a planning tool.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in APA format, plus the benchmark disclaimer from the charter.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D24"/>
        </a:solidFill>
        <a:effectLst/>
      </p:bgPr>
    </p:bg>
    <p:spTree>
      <p:nvGrpSpPr>
        <p:cNvPr id="1" name=""/>
        <p:cNvGrpSpPr/>
        <p:nvPr/>
      </p:nvGrpSpPr>
      <p:grpSpPr>
        <a:xfrm>
          <a:off x="0" y="0"/>
          <a:ext cx="0" cy="0"/>
          <a:chOff x="0" y="0"/>
          <a:chExt cx="0" cy="0"/>
        </a:xfrm>
      </p:grpSpPr>
      <p:sp>
        <p:nvSpPr>
          <p:cNvPr id="2" name="Shape 0"/>
          <p:cNvSpPr/>
          <p:nvPr/>
        </p:nvSpPr>
        <p:spPr>
          <a:xfrm>
            <a:off x="9235440" y="-1371600"/>
            <a:ext cx="4754880" cy="4754880"/>
          </a:xfrm>
          <a:prstGeom prst="ellipse">
            <a:avLst/>
          </a:prstGeom>
          <a:solidFill>
            <a:srgbClr val="2C5F2D">
              <a:alpha val="55000"/>
            </a:srgbClr>
          </a:solidFill>
          <a:ln w="12700">
            <a:solidFill>
              <a:srgbClr val="2C5F2D"/>
            </a:solidFill>
            <a:prstDash val="solid"/>
          </a:ln>
        </p:spPr>
      </p:sp>
      <p:sp>
        <p:nvSpPr>
          <p:cNvPr id="3" name="Shape 1"/>
          <p:cNvSpPr/>
          <p:nvPr/>
        </p:nvSpPr>
        <p:spPr>
          <a:xfrm>
            <a:off x="10607040" y="3840480"/>
            <a:ext cx="3108960" cy="3108960"/>
          </a:xfrm>
          <a:prstGeom prst="ellipse">
            <a:avLst/>
          </a:prstGeom>
          <a:solidFill>
            <a:srgbClr val="97BC62">
              <a:alpha val="28000"/>
            </a:srgbClr>
          </a:solidFill>
          <a:ln w="12700">
            <a:solidFill>
              <a:srgbClr val="97BC62"/>
            </a:solidFill>
            <a:prstDash val="solid"/>
          </a:ln>
        </p:spPr>
      </p:sp>
      <p:sp>
        <p:nvSpPr>
          <p:cNvPr id="4" name="Text 2"/>
          <p:cNvSpPr/>
          <p:nvPr/>
        </p:nvSpPr>
        <p:spPr>
          <a:xfrm>
            <a:off x="777240" y="1143000"/>
            <a:ext cx="8778240" cy="320040"/>
          </a:xfrm>
          <a:prstGeom prst="rect">
            <a:avLst/>
          </a:prstGeom>
          <a:noFill/>
          <a:ln/>
        </p:spPr>
        <p:txBody>
          <a:bodyPr wrap="square" lIns="0" tIns="0" rIns="0" bIns="0" rtlCol="0" anchor="ctr"/>
          <a:lstStyle/>
          <a:p>
            <a:pPr marL="0" indent="0">
              <a:buNone/>
            </a:pPr>
            <a:r>
              <a:rPr lang="en-US" sz="1250" b="1" kern="0" spc="220" dirty="0">
                <a:solidFill>
                  <a:srgbClr val="97BC62"/>
                </a:solidFill>
                <a:latin typeface="Calibri" pitchFamily="34" charset="0"/>
                <a:ea typeface="Calibri" pitchFamily="34" charset="-122"/>
                <a:cs typeface="Calibri" pitchFamily="34" charset="-120"/>
              </a:rPr>
              <a:t>PROJECT CHARTER  ·  PROJECT PLAN  ·  WBS &amp; SCHEDULE</a:t>
            </a:r>
            <a:endParaRPr lang="en-US" sz="1250" dirty="0"/>
          </a:p>
        </p:txBody>
      </p:sp>
      <p:sp>
        <p:nvSpPr>
          <p:cNvPr id="5" name="Text 3"/>
          <p:cNvSpPr/>
          <p:nvPr/>
        </p:nvSpPr>
        <p:spPr>
          <a:xfrm>
            <a:off x="777240" y="1600200"/>
            <a:ext cx="896112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FoodShare Food Bank</a:t>
            </a:r>
            <a:endParaRPr lang="en-US" sz="4400" dirty="0"/>
          </a:p>
        </p:txBody>
      </p:sp>
      <p:sp>
        <p:nvSpPr>
          <p:cNvPr id="6" name="Text 4"/>
          <p:cNvSpPr/>
          <p:nvPr/>
        </p:nvSpPr>
        <p:spPr>
          <a:xfrm>
            <a:off x="777240" y="2377440"/>
            <a:ext cx="8961120" cy="502920"/>
          </a:xfrm>
          <a:prstGeom prst="rect">
            <a:avLst/>
          </a:prstGeom>
          <a:noFill/>
          <a:ln/>
        </p:spPr>
        <p:txBody>
          <a:bodyPr wrap="square" lIns="0" tIns="0" rIns="0" bIns="0" rtlCol="0" anchor="ctr"/>
          <a:lstStyle/>
          <a:p>
            <a:pPr marL="0" indent="0">
              <a:buNone/>
            </a:pPr>
            <a:r>
              <a:rPr lang="en-US" sz="2400" dirty="0">
                <a:solidFill>
                  <a:srgbClr val="97BC62"/>
                </a:solidFill>
                <a:latin typeface="Cambria" pitchFamily="34" charset="0"/>
                <a:ea typeface="Cambria" pitchFamily="34" charset="-122"/>
                <a:cs typeface="Cambria" pitchFamily="34" charset="-120"/>
              </a:rPr>
              <a:t>Network Capacity &amp; Efficiency Expansion Project</a:t>
            </a:r>
            <a:endParaRPr lang="en-US" sz="2400" dirty="0"/>
          </a:p>
        </p:txBody>
      </p:sp>
      <p:sp>
        <p:nvSpPr>
          <p:cNvPr id="7" name="Shape 5"/>
          <p:cNvSpPr/>
          <p:nvPr/>
        </p:nvSpPr>
        <p:spPr>
          <a:xfrm>
            <a:off x="777240" y="3127248"/>
            <a:ext cx="1371600" cy="32004"/>
          </a:xfrm>
          <a:prstGeom prst="rect">
            <a:avLst/>
          </a:prstGeom>
          <a:solidFill>
            <a:srgbClr val="D97A26"/>
          </a:solidFill>
          <a:ln w="12700">
            <a:solidFill>
              <a:srgbClr val="D97A26"/>
            </a:solidFill>
            <a:prstDash val="solid"/>
          </a:ln>
        </p:spPr>
      </p:sp>
      <p:sp>
        <p:nvSpPr>
          <p:cNvPr id="8" name="Text 6"/>
          <p:cNvSpPr/>
          <p:nvPr/>
        </p:nvSpPr>
        <p:spPr>
          <a:xfrm>
            <a:off x="777240" y="3383280"/>
            <a:ext cx="8412480" cy="1143000"/>
          </a:xfrm>
          <a:prstGeom prst="rect">
            <a:avLst/>
          </a:prstGeom>
          <a:noFill/>
          <a:ln/>
        </p:spPr>
        <p:txBody>
          <a:bodyPr wrap="square" lIns="0" tIns="0" rIns="0" bIns="0" rtlCol="0" anchor="ctr"/>
          <a:lstStyle/>
          <a:p>
            <a:pPr marL="0" indent="0">
              <a:lnSpc>
                <a:spcPts val="2100"/>
              </a:lnSpc>
              <a:buNone/>
            </a:pPr>
            <a:r>
              <a:rPr lang="en-US" sz="1300" b="1" dirty="0">
                <a:solidFill>
                  <a:srgbClr val="C8D8C4"/>
                </a:solidFill>
                <a:latin typeface="Calibri" pitchFamily="34" charset="0"/>
                <a:ea typeface="Calibri" pitchFamily="34" charset="-122"/>
                <a:cs typeface="Calibri" pitchFamily="34" charset="-120"/>
              </a:rPr>
              <a:t>Project Number  FSFB-2026</a:t>
            </a:r>
            <a:endParaRPr lang="en-US" sz="1300" dirty="0"/>
          </a:p>
          <a:p>
            <a:pPr marL="0" indent="0">
              <a:lnSpc>
                <a:spcPts val="2100"/>
              </a:lnSpc>
              <a:buNone/>
            </a:pPr>
            <a:r>
              <a:rPr lang="en-US" sz="1300" dirty="0">
                <a:solidFill>
                  <a:srgbClr val="C8D8C4"/>
                </a:solidFill>
                <a:latin typeface="Calibri" pitchFamily="34" charset="0"/>
                <a:ea typeface="Calibri" pitchFamily="34" charset="-122"/>
                <a:cs typeface="Calibri" pitchFamily="34" charset="-120"/>
              </a:rPr>
              <a:t>Scarborough  ·  Mississauga  ·  North Bay Hub Network</a:t>
            </a:r>
            <a:endParaRPr lang="en-US" sz="1300" dirty="0"/>
          </a:p>
          <a:p>
            <a:pPr marL="0" indent="0">
              <a:lnSpc>
                <a:spcPts val="2100"/>
              </a:lnSpc>
              <a:buNone/>
            </a:pPr>
            <a:r>
              <a:rPr lang="en-US" sz="1300" dirty="0">
                <a:solidFill>
                  <a:srgbClr val="C8D8C4"/>
                </a:solidFill>
                <a:latin typeface="Calibri" pitchFamily="34" charset="0"/>
                <a:ea typeface="Calibri" pitchFamily="34" charset="-122"/>
                <a:cs typeface="Calibri" pitchFamily="34" charset="-120"/>
              </a:rPr>
              <a:t>Prepared for Seneca Polytechnic — Business Information Technology Program</a:t>
            </a:r>
            <a:endParaRPr lang="en-US" sz="1300" dirty="0"/>
          </a:p>
          <a:p>
            <a:pPr marL="0" indent="0">
              <a:lnSpc>
                <a:spcPts val="2100"/>
              </a:lnSpc>
              <a:buNone/>
            </a:pPr>
            <a:r>
              <a:rPr lang="en-US" sz="1300" dirty="0">
                <a:solidFill>
                  <a:srgbClr val="C8D8C4"/>
                </a:solidFill>
                <a:latin typeface="Calibri" pitchFamily="34" charset="0"/>
                <a:ea typeface="Calibri" pitchFamily="34" charset="-122"/>
                <a:cs typeface="Calibri" pitchFamily="34" charset="-120"/>
              </a:rPr>
              <a:t>Sponsoring Organization: FoodShare Food Bank   |   July 23, 2026</a:t>
            </a:r>
            <a:endParaRPr lang="en-US" sz="1300" dirty="0"/>
          </a:p>
        </p:txBody>
      </p:sp>
      <p:sp>
        <p:nvSpPr>
          <p:cNvPr id="9" name="Text 7"/>
          <p:cNvSpPr/>
          <p:nvPr/>
        </p:nvSpPr>
        <p:spPr>
          <a:xfrm>
            <a:off x="777240" y="5120640"/>
            <a:ext cx="1060704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Dev Patel  ·  Ebuka  ·  Vishal  ·  Rui Song  ·  Om Surani  ·  Hirva  ·  Maharshi Darji</a:t>
            </a:r>
            <a:endParaRPr lang="en-US" sz="1250" dirty="0"/>
          </a:p>
        </p:txBody>
      </p:sp>
      <p:sp>
        <p:nvSpPr>
          <p:cNvPr id="10" name="Text 8"/>
          <p:cNvSpPr/>
          <p:nvPr/>
        </p:nvSpPr>
        <p:spPr>
          <a:xfrm>
            <a:off x="777240" y="4800600"/>
            <a:ext cx="5486400" cy="274320"/>
          </a:xfrm>
          <a:prstGeom prst="rect">
            <a:avLst/>
          </a:prstGeom>
          <a:noFill/>
          <a:ln/>
        </p:spPr>
        <p:txBody>
          <a:bodyPr wrap="square" lIns="0" tIns="0" rIns="0" bIns="0" rtlCol="0" anchor="ctr"/>
          <a:lstStyle/>
          <a:p>
            <a:pPr marL="0" indent="0">
              <a:buNone/>
            </a:pPr>
            <a:r>
              <a:rPr lang="en-US" sz="1000" b="1" kern="0" spc="180" dirty="0">
                <a:solidFill>
                  <a:srgbClr val="D97A26"/>
                </a:solidFill>
                <a:latin typeface="Calibri" pitchFamily="34" charset="0"/>
                <a:ea typeface="Calibri" pitchFamily="34" charset="-122"/>
                <a:cs typeface="Calibri" pitchFamily="34" charset="-120"/>
              </a:rPr>
              <a:t>PROJECT TEAM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What This Deck Covers</a:t>
            </a:r>
            <a:endParaRPr lang="en-US" sz="3200" dirty="0"/>
          </a:p>
        </p:txBody>
      </p:sp>
      <p:sp>
        <p:nvSpPr>
          <p:cNvPr id="3" name="Shape 1"/>
          <p:cNvSpPr/>
          <p:nvPr/>
        </p:nvSpPr>
        <p:spPr>
          <a:xfrm>
            <a:off x="548640" y="1536192"/>
            <a:ext cx="5285232" cy="1243584"/>
          </a:xfrm>
          <a:prstGeom prst="roundRect">
            <a:avLst>
              <a:gd name="adj" fmla="val 6618"/>
            </a:avLst>
          </a:prstGeom>
          <a:solidFill>
            <a:srgbClr val="EEF3EA"/>
          </a:solidFill>
          <a:ln w="12700">
            <a:solidFill>
              <a:srgbClr val="EEF3EA"/>
            </a:solidFill>
            <a:prstDash val="solid"/>
          </a:ln>
        </p:spPr>
      </p:sp>
      <p:sp>
        <p:nvSpPr>
          <p:cNvPr id="4" name="Shape 2"/>
          <p:cNvSpPr/>
          <p:nvPr/>
        </p:nvSpPr>
        <p:spPr>
          <a:xfrm>
            <a:off x="822960" y="1874520"/>
            <a:ext cx="566928" cy="566928"/>
          </a:xfrm>
          <a:prstGeom prst="ellipse">
            <a:avLst/>
          </a:prstGeom>
          <a:solidFill>
            <a:srgbClr val="2C5F2D"/>
          </a:solidFill>
          <a:ln w="12700">
            <a:solidFill>
              <a:srgbClr val="2C5F2D"/>
            </a:solidFill>
            <a:prstDash val="solid"/>
          </a:ln>
        </p:spPr>
      </p:sp>
      <p:sp>
        <p:nvSpPr>
          <p:cNvPr id="5" name="Text 3"/>
          <p:cNvSpPr/>
          <p:nvPr/>
        </p:nvSpPr>
        <p:spPr>
          <a:xfrm>
            <a:off x="822960" y="187452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6" name="Text 4"/>
          <p:cNvSpPr/>
          <p:nvPr/>
        </p:nvSpPr>
        <p:spPr>
          <a:xfrm>
            <a:off x="1536192" y="1773936"/>
            <a:ext cx="4114800" cy="329184"/>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The Case for the Project</a:t>
            </a:r>
            <a:endParaRPr lang="en-US" sz="1600" dirty="0"/>
          </a:p>
        </p:txBody>
      </p:sp>
      <p:sp>
        <p:nvSpPr>
          <p:cNvPr id="7" name="Text 5"/>
          <p:cNvSpPr/>
          <p:nvPr/>
        </p:nvSpPr>
        <p:spPr>
          <a:xfrm>
            <a:off x="1536192" y="2139696"/>
            <a:ext cx="4114800" cy="457200"/>
          </a:xfrm>
          <a:prstGeom prst="rect">
            <a:avLst/>
          </a:prstGeom>
          <a:noFill/>
          <a:ln/>
        </p:spPr>
        <p:txBody>
          <a:bodyPr wrap="square" lIns="0" tIns="0" rIns="0" bIns="0" rtlCol="0" anchor="t"/>
          <a:lstStyle/>
          <a:p>
            <a:pPr marL="0" indent="0">
              <a:buNone/>
            </a:pPr>
            <a:r>
              <a:rPr lang="en-US" sz="1150" dirty="0">
                <a:solidFill>
                  <a:srgbClr val="5F6F62"/>
                </a:solidFill>
                <a:latin typeface="Calibri" pitchFamily="34" charset="0"/>
                <a:ea typeface="Calibri" pitchFamily="34" charset="-122"/>
                <a:cs typeface="Calibri" pitchFamily="34" charset="-120"/>
              </a:rPr>
              <a:t>Background, business problem, purpose and objectives</a:t>
            </a:r>
            <a:endParaRPr lang="en-US" sz="1150" dirty="0"/>
          </a:p>
        </p:txBody>
      </p:sp>
      <p:sp>
        <p:nvSpPr>
          <p:cNvPr id="8" name="Shape 6"/>
          <p:cNvSpPr/>
          <p:nvPr/>
        </p:nvSpPr>
        <p:spPr>
          <a:xfrm>
            <a:off x="6355080" y="1536192"/>
            <a:ext cx="5285232" cy="1243584"/>
          </a:xfrm>
          <a:prstGeom prst="roundRect">
            <a:avLst>
              <a:gd name="adj" fmla="val 6618"/>
            </a:avLst>
          </a:prstGeom>
          <a:solidFill>
            <a:srgbClr val="F3F6F0"/>
          </a:solidFill>
          <a:ln w="12700">
            <a:solidFill>
              <a:srgbClr val="F3F6F0"/>
            </a:solidFill>
            <a:prstDash val="solid"/>
          </a:ln>
        </p:spPr>
      </p:sp>
      <p:sp>
        <p:nvSpPr>
          <p:cNvPr id="9" name="Shape 7"/>
          <p:cNvSpPr/>
          <p:nvPr/>
        </p:nvSpPr>
        <p:spPr>
          <a:xfrm>
            <a:off x="6629400" y="1874520"/>
            <a:ext cx="566928" cy="566928"/>
          </a:xfrm>
          <a:prstGeom prst="ellipse">
            <a:avLst/>
          </a:prstGeom>
          <a:solidFill>
            <a:srgbClr val="2C5F2D"/>
          </a:solidFill>
          <a:ln w="12700">
            <a:solidFill>
              <a:srgbClr val="2C5F2D"/>
            </a:solidFill>
            <a:prstDash val="solid"/>
          </a:ln>
        </p:spPr>
      </p:sp>
      <p:sp>
        <p:nvSpPr>
          <p:cNvPr id="10" name="Text 8"/>
          <p:cNvSpPr/>
          <p:nvPr/>
        </p:nvSpPr>
        <p:spPr>
          <a:xfrm>
            <a:off x="6629400" y="187452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1" name="Text 9"/>
          <p:cNvSpPr/>
          <p:nvPr/>
        </p:nvSpPr>
        <p:spPr>
          <a:xfrm>
            <a:off x="7342632" y="1773936"/>
            <a:ext cx="4114800" cy="329184"/>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Scope &amp; Operating Model</a:t>
            </a:r>
            <a:endParaRPr lang="en-US" sz="1600" dirty="0"/>
          </a:p>
        </p:txBody>
      </p:sp>
      <p:sp>
        <p:nvSpPr>
          <p:cNvPr id="12" name="Text 10"/>
          <p:cNvSpPr/>
          <p:nvPr/>
        </p:nvSpPr>
        <p:spPr>
          <a:xfrm>
            <a:off x="7342632" y="2139696"/>
            <a:ext cx="4114800" cy="457200"/>
          </a:xfrm>
          <a:prstGeom prst="rect">
            <a:avLst/>
          </a:prstGeom>
          <a:noFill/>
          <a:ln/>
        </p:spPr>
        <p:txBody>
          <a:bodyPr wrap="square" lIns="0" tIns="0" rIns="0" bIns="0" rtlCol="0" anchor="t"/>
          <a:lstStyle/>
          <a:p>
            <a:pPr marL="0" indent="0">
              <a:buNone/>
            </a:pPr>
            <a:r>
              <a:rPr lang="en-US" sz="1150" dirty="0">
                <a:solidFill>
                  <a:srgbClr val="5F6F62"/>
                </a:solidFill>
                <a:latin typeface="Calibri" pitchFamily="34" charset="0"/>
                <a:ea typeface="Calibri" pitchFamily="34" charset="-122"/>
                <a:cs typeface="Calibri" pitchFamily="34" charset="-120"/>
              </a:rPr>
              <a:t>In / out of scope, collection, warehousing, distribution, transport</a:t>
            </a:r>
            <a:endParaRPr lang="en-US" sz="1150" dirty="0"/>
          </a:p>
        </p:txBody>
      </p:sp>
      <p:sp>
        <p:nvSpPr>
          <p:cNvPr id="13" name="Shape 11"/>
          <p:cNvSpPr/>
          <p:nvPr/>
        </p:nvSpPr>
        <p:spPr>
          <a:xfrm>
            <a:off x="548640" y="3108960"/>
            <a:ext cx="5285232" cy="1243584"/>
          </a:xfrm>
          <a:prstGeom prst="roundRect">
            <a:avLst>
              <a:gd name="adj" fmla="val 6618"/>
            </a:avLst>
          </a:prstGeom>
          <a:solidFill>
            <a:srgbClr val="EEF3EA"/>
          </a:solidFill>
          <a:ln w="12700">
            <a:solidFill>
              <a:srgbClr val="EEF3EA"/>
            </a:solidFill>
            <a:prstDash val="solid"/>
          </a:ln>
        </p:spPr>
      </p:sp>
      <p:sp>
        <p:nvSpPr>
          <p:cNvPr id="14" name="Shape 12"/>
          <p:cNvSpPr/>
          <p:nvPr/>
        </p:nvSpPr>
        <p:spPr>
          <a:xfrm>
            <a:off x="822960" y="3447288"/>
            <a:ext cx="566928" cy="566928"/>
          </a:xfrm>
          <a:prstGeom prst="ellipse">
            <a:avLst/>
          </a:prstGeom>
          <a:solidFill>
            <a:srgbClr val="2C5F2D"/>
          </a:solidFill>
          <a:ln w="12700">
            <a:solidFill>
              <a:srgbClr val="2C5F2D"/>
            </a:solidFill>
            <a:prstDash val="solid"/>
          </a:ln>
        </p:spPr>
      </p:sp>
      <p:sp>
        <p:nvSpPr>
          <p:cNvPr id="15" name="Text 13"/>
          <p:cNvSpPr/>
          <p:nvPr/>
        </p:nvSpPr>
        <p:spPr>
          <a:xfrm>
            <a:off x="822960" y="344728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6" name="Text 14"/>
          <p:cNvSpPr/>
          <p:nvPr/>
        </p:nvSpPr>
        <p:spPr>
          <a:xfrm>
            <a:off x="1536192" y="3346704"/>
            <a:ext cx="4114800" cy="329184"/>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People &amp; Plan</a:t>
            </a:r>
            <a:endParaRPr lang="en-US" sz="1600" dirty="0"/>
          </a:p>
        </p:txBody>
      </p:sp>
      <p:sp>
        <p:nvSpPr>
          <p:cNvPr id="17" name="Text 15"/>
          <p:cNvSpPr/>
          <p:nvPr/>
        </p:nvSpPr>
        <p:spPr>
          <a:xfrm>
            <a:off x="1536192" y="3712464"/>
            <a:ext cx="4114800" cy="457200"/>
          </a:xfrm>
          <a:prstGeom prst="rect">
            <a:avLst/>
          </a:prstGeom>
          <a:noFill/>
          <a:ln/>
        </p:spPr>
        <p:txBody>
          <a:bodyPr wrap="square" lIns="0" tIns="0" rIns="0" bIns="0" rtlCol="0" anchor="t"/>
          <a:lstStyle/>
          <a:p>
            <a:pPr marL="0" indent="0">
              <a:buNone/>
            </a:pPr>
            <a:r>
              <a:rPr lang="en-US" sz="1150" dirty="0">
                <a:solidFill>
                  <a:srgbClr val="5F6F62"/>
                </a:solidFill>
                <a:latin typeface="Calibri" pitchFamily="34" charset="0"/>
                <a:ea typeface="Calibri" pitchFamily="34" charset="-122"/>
                <a:cs typeface="Calibri" pitchFamily="34" charset="-120"/>
              </a:rPr>
              <a:t>Stakeholders, team roles, phased timeline, deliverables</a:t>
            </a:r>
            <a:endParaRPr lang="en-US" sz="1150" dirty="0"/>
          </a:p>
        </p:txBody>
      </p:sp>
      <p:sp>
        <p:nvSpPr>
          <p:cNvPr id="18" name="Shape 16"/>
          <p:cNvSpPr/>
          <p:nvPr/>
        </p:nvSpPr>
        <p:spPr>
          <a:xfrm>
            <a:off x="6355080" y="3108960"/>
            <a:ext cx="5285232" cy="1243584"/>
          </a:xfrm>
          <a:prstGeom prst="roundRect">
            <a:avLst>
              <a:gd name="adj" fmla="val 6618"/>
            </a:avLst>
          </a:prstGeom>
          <a:solidFill>
            <a:srgbClr val="F3F6F0"/>
          </a:solidFill>
          <a:ln w="12700">
            <a:solidFill>
              <a:srgbClr val="F3F6F0"/>
            </a:solidFill>
            <a:prstDash val="solid"/>
          </a:ln>
        </p:spPr>
      </p:sp>
      <p:sp>
        <p:nvSpPr>
          <p:cNvPr id="19" name="Shape 17"/>
          <p:cNvSpPr/>
          <p:nvPr/>
        </p:nvSpPr>
        <p:spPr>
          <a:xfrm>
            <a:off x="6629400" y="3447288"/>
            <a:ext cx="566928" cy="566928"/>
          </a:xfrm>
          <a:prstGeom prst="ellipse">
            <a:avLst/>
          </a:prstGeom>
          <a:solidFill>
            <a:srgbClr val="2C5F2D"/>
          </a:solidFill>
          <a:ln w="12700">
            <a:solidFill>
              <a:srgbClr val="2C5F2D"/>
            </a:solidFill>
            <a:prstDash val="solid"/>
          </a:ln>
        </p:spPr>
      </p:sp>
      <p:sp>
        <p:nvSpPr>
          <p:cNvPr id="20" name="Text 18"/>
          <p:cNvSpPr/>
          <p:nvPr/>
        </p:nvSpPr>
        <p:spPr>
          <a:xfrm>
            <a:off x="6629400" y="344728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1" name="Text 19"/>
          <p:cNvSpPr/>
          <p:nvPr/>
        </p:nvSpPr>
        <p:spPr>
          <a:xfrm>
            <a:off x="7342632" y="3346704"/>
            <a:ext cx="4114800" cy="329184"/>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Reference Benchmarks</a:t>
            </a:r>
            <a:endParaRPr lang="en-US" sz="1600" dirty="0"/>
          </a:p>
        </p:txBody>
      </p:sp>
      <p:sp>
        <p:nvSpPr>
          <p:cNvPr id="22" name="Text 20"/>
          <p:cNvSpPr/>
          <p:nvPr/>
        </p:nvSpPr>
        <p:spPr>
          <a:xfrm>
            <a:off x="7342632" y="3712464"/>
            <a:ext cx="4114800" cy="457200"/>
          </a:xfrm>
          <a:prstGeom prst="rect">
            <a:avLst/>
          </a:prstGeom>
          <a:noFill/>
          <a:ln/>
        </p:spPr>
        <p:txBody>
          <a:bodyPr wrap="square" lIns="0" tIns="0" rIns="0" bIns="0" rtlCol="0" anchor="t"/>
          <a:lstStyle/>
          <a:p>
            <a:pPr marL="0" indent="0">
              <a:buNone/>
            </a:pPr>
            <a:r>
              <a:rPr lang="en-US" sz="1150" dirty="0">
                <a:solidFill>
                  <a:srgbClr val="5F6F62"/>
                </a:solidFill>
                <a:latin typeface="Calibri" pitchFamily="34" charset="0"/>
                <a:ea typeface="Calibri" pitchFamily="34" charset="-122"/>
                <a:cs typeface="Calibri" pitchFamily="34" charset="-120"/>
              </a:rPr>
              <a:t>Care Shield Food Bank operating data and what it means for us</a:t>
            </a:r>
            <a:endParaRPr lang="en-US" sz="1150" dirty="0"/>
          </a:p>
        </p:txBody>
      </p:sp>
      <p:sp>
        <p:nvSpPr>
          <p:cNvPr id="23" name="Shape 21"/>
          <p:cNvSpPr/>
          <p:nvPr/>
        </p:nvSpPr>
        <p:spPr>
          <a:xfrm>
            <a:off x="548640" y="4681728"/>
            <a:ext cx="5285232" cy="1243584"/>
          </a:xfrm>
          <a:prstGeom prst="roundRect">
            <a:avLst>
              <a:gd name="adj" fmla="val 6618"/>
            </a:avLst>
          </a:prstGeom>
          <a:solidFill>
            <a:srgbClr val="EEF3EA"/>
          </a:solidFill>
          <a:ln w="12700">
            <a:solidFill>
              <a:srgbClr val="EEF3EA"/>
            </a:solidFill>
            <a:prstDash val="solid"/>
          </a:ln>
        </p:spPr>
      </p:sp>
      <p:sp>
        <p:nvSpPr>
          <p:cNvPr id="24" name="Shape 22"/>
          <p:cNvSpPr/>
          <p:nvPr/>
        </p:nvSpPr>
        <p:spPr>
          <a:xfrm>
            <a:off x="822960" y="5020056"/>
            <a:ext cx="566928" cy="566928"/>
          </a:xfrm>
          <a:prstGeom prst="ellipse">
            <a:avLst/>
          </a:prstGeom>
          <a:solidFill>
            <a:srgbClr val="2C5F2D"/>
          </a:solidFill>
          <a:ln w="12700">
            <a:solidFill>
              <a:srgbClr val="2C5F2D"/>
            </a:solidFill>
            <a:prstDash val="solid"/>
          </a:ln>
        </p:spPr>
      </p:sp>
      <p:sp>
        <p:nvSpPr>
          <p:cNvPr id="25" name="Text 23"/>
          <p:cNvSpPr/>
          <p:nvPr/>
        </p:nvSpPr>
        <p:spPr>
          <a:xfrm>
            <a:off x="822960" y="5020056"/>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6" name="Text 24"/>
          <p:cNvSpPr/>
          <p:nvPr/>
        </p:nvSpPr>
        <p:spPr>
          <a:xfrm>
            <a:off x="1536192" y="4919472"/>
            <a:ext cx="4114800" cy="329184"/>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WBS, Schedule &amp; Cost</a:t>
            </a:r>
            <a:endParaRPr lang="en-US" sz="1600" dirty="0"/>
          </a:p>
        </p:txBody>
      </p:sp>
      <p:sp>
        <p:nvSpPr>
          <p:cNvPr id="27" name="Text 25"/>
          <p:cNvSpPr/>
          <p:nvPr/>
        </p:nvSpPr>
        <p:spPr>
          <a:xfrm>
            <a:off x="1536192" y="5285232"/>
            <a:ext cx="4114800" cy="457200"/>
          </a:xfrm>
          <a:prstGeom prst="rect">
            <a:avLst/>
          </a:prstGeom>
          <a:noFill/>
          <a:ln/>
        </p:spPr>
        <p:txBody>
          <a:bodyPr wrap="square" lIns="0" tIns="0" rIns="0" bIns="0" rtlCol="0" anchor="t"/>
          <a:lstStyle/>
          <a:p>
            <a:pPr marL="0" indent="0">
              <a:buNone/>
            </a:pPr>
            <a:r>
              <a:rPr lang="en-US" sz="1150" dirty="0">
                <a:solidFill>
                  <a:srgbClr val="5F6F62"/>
                </a:solidFill>
                <a:latin typeface="Calibri" pitchFamily="34" charset="0"/>
                <a:ea typeface="Calibri" pitchFamily="34" charset="-122"/>
                <a:cs typeface="Calibri" pitchFamily="34" charset="-120"/>
              </a:rPr>
              <a:t>Work breakdown, MS Project baseline, resources and budget</a:t>
            </a:r>
            <a:endParaRPr lang="en-US" sz="1150" dirty="0"/>
          </a:p>
        </p:txBody>
      </p:sp>
      <p:sp>
        <p:nvSpPr>
          <p:cNvPr id="28" name="Shape 26"/>
          <p:cNvSpPr/>
          <p:nvPr/>
        </p:nvSpPr>
        <p:spPr>
          <a:xfrm>
            <a:off x="6355080" y="4681728"/>
            <a:ext cx="5285232" cy="1243584"/>
          </a:xfrm>
          <a:prstGeom prst="roundRect">
            <a:avLst>
              <a:gd name="adj" fmla="val 6618"/>
            </a:avLst>
          </a:prstGeom>
          <a:solidFill>
            <a:srgbClr val="F3F6F0"/>
          </a:solidFill>
          <a:ln w="12700">
            <a:solidFill>
              <a:srgbClr val="F3F6F0"/>
            </a:solidFill>
            <a:prstDash val="solid"/>
          </a:ln>
        </p:spPr>
      </p:sp>
      <p:sp>
        <p:nvSpPr>
          <p:cNvPr id="29" name="Shape 27"/>
          <p:cNvSpPr/>
          <p:nvPr/>
        </p:nvSpPr>
        <p:spPr>
          <a:xfrm>
            <a:off x="6629400" y="5020056"/>
            <a:ext cx="566928" cy="566928"/>
          </a:xfrm>
          <a:prstGeom prst="ellipse">
            <a:avLst/>
          </a:prstGeom>
          <a:solidFill>
            <a:srgbClr val="2C5F2D"/>
          </a:solidFill>
          <a:ln w="12700">
            <a:solidFill>
              <a:srgbClr val="2C5F2D"/>
            </a:solidFill>
            <a:prstDash val="solid"/>
          </a:ln>
        </p:spPr>
      </p:sp>
      <p:sp>
        <p:nvSpPr>
          <p:cNvPr id="30" name="Text 28"/>
          <p:cNvSpPr/>
          <p:nvPr/>
        </p:nvSpPr>
        <p:spPr>
          <a:xfrm>
            <a:off x="6629400" y="5020056"/>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1" name="Text 29"/>
          <p:cNvSpPr/>
          <p:nvPr/>
        </p:nvSpPr>
        <p:spPr>
          <a:xfrm>
            <a:off x="7342632" y="4919472"/>
            <a:ext cx="4114800" cy="329184"/>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Governance</a:t>
            </a:r>
            <a:endParaRPr lang="en-US" sz="1600" dirty="0"/>
          </a:p>
        </p:txBody>
      </p:sp>
      <p:sp>
        <p:nvSpPr>
          <p:cNvPr id="32" name="Text 30"/>
          <p:cNvSpPr/>
          <p:nvPr/>
        </p:nvSpPr>
        <p:spPr>
          <a:xfrm>
            <a:off x="7342632" y="5285232"/>
            <a:ext cx="4114800" cy="457200"/>
          </a:xfrm>
          <a:prstGeom prst="rect">
            <a:avLst/>
          </a:prstGeom>
          <a:noFill/>
          <a:ln/>
        </p:spPr>
        <p:txBody>
          <a:bodyPr wrap="square" lIns="0" tIns="0" rIns="0" bIns="0" rtlCol="0" anchor="t"/>
          <a:lstStyle/>
          <a:p>
            <a:pPr marL="0" indent="0">
              <a:buNone/>
            </a:pPr>
            <a:r>
              <a:rPr lang="en-US" sz="1150" dirty="0">
                <a:solidFill>
                  <a:srgbClr val="5F6F62"/>
                </a:solidFill>
                <a:latin typeface="Calibri" pitchFamily="34" charset="0"/>
                <a:ea typeface="Calibri" pitchFamily="34" charset="-122"/>
                <a:cs typeface="Calibri" pitchFamily="34" charset="-120"/>
              </a:rPr>
              <a:t>Assumptions, constraints, risks, success criteria, next steps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Executive Summary</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One system to replace the spreadsheets and paper logs running three hubs</a:t>
            </a:r>
            <a:endParaRPr lang="en-US" sz="1400" dirty="0"/>
          </a:p>
        </p:txBody>
      </p:sp>
      <p:sp>
        <p:nvSpPr>
          <p:cNvPr id="4" name="Shape 2"/>
          <p:cNvSpPr/>
          <p:nvPr/>
        </p:nvSpPr>
        <p:spPr>
          <a:xfrm>
            <a:off x="548640" y="1481328"/>
            <a:ext cx="2615184" cy="1554480"/>
          </a:xfrm>
          <a:prstGeom prst="roundRect">
            <a:avLst>
              <a:gd name="adj" fmla="val 5294"/>
            </a:avLst>
          </a:prstGeom>
          <a:solidFill>
            <a:srgbClr val="EEF3EA"/>
          </a:solidFill>
          <a:ln w="12700">
            <a:solidFill>
              <a:srgbClr val="EEF3EA"/>
            </a:solidFill>
            <a:prstDash val="solid"/>
          </a:ln>
        </p:spPr>
      </p:sp>
      <p:sp>
        <p:nvSpPr>
          <p:cNvPr id="5" name="Text 3"/>
          <p:cNvSpPr/>
          <p:nvPr/>
        </p:nvSpPr>
        <p:spPr>
          <a:xfrm>
            <a:off x="548640" y="1572768"/>
            <a:ext cx="2615184" cy="713232"/>
          </a:xfrm>
          <a:prstGeom prst="rect">
            <a:avLst/>
          </a:prstGeom>
          <a:noFill/>
          <a:ln/>
        </p:spPr>
        <p:txBody>
          <a:bodyPr wrap="square" lIns="0" tIns="0" rIns="0" bIns="0" rtlCol="0" anchor="ctr"/>
          <a:lstStyle/>
          <a:p>
            <a:pPr marL="0" indent="0" algn="ctr">
              <a:buNone/>
            </a:pPr>
            <a:r>
              <a:rPr lang="en-US" sz="4600" b="1" dirty="0">
                <a:solidFill>
                  <a:srgbClr val="2C5F2D"/>
                </a:solidFill>
                <a:latin typeface="Cambria" pitchFamily="34" charset="0"/>
                <a:ea typeface="Cambria" pitchFamily="34" charset="-122"/>
                <a:cs typeface="Cambria" pitchFamily="34" charset="-120"/>
              </a:rPr>
              <a:t>3</a:t>
            </a:r>
            <a:endParaRPr lang="en-US" sz="4600" dirty="0"/>
          </a:p>
        </p:txBody>
      </p:sp>
      <p:sp>
        <p:nvSpPr>
          <p:cNvPr id="6" name="Text 4"/>
          <p:cNvSpPr/>
          <p:nvPr/>
        </p:nvSpPr>
        <p:spPr>
          <a:xfrm>
            <a:off x="548640" y="2286000"/>
            <a:ext cx="2615184" cy="274320"/>
          </a:xfrm>
          <a:prstGeom prst="rect">
            <a:avLst/>
          </a:prstGeom>
          <a:noFill/>
          <a:ln/>
        </p:spPr>
        <p:txBody>
          <a:bodyPr wrap="square" lIns="0" tIns="0" rIns="0" bIns="0" rtlCol="0" anchor="ctr"/>
          <a:lstStyle/>
          <a:p>
            <a:pPr marL="0" indent="0" algn="ctr">
              <a:buNone/>
            </a:pPr>
            <a:r>
              <a:rPr lang="en-US" sz="1250" b="1" dirty="0">
                <a:solidFill>
                  <a:srgbClr val="1A2E20"/>
                </a:solidFill>
                <a:latin typeface="Calibri" pitchFamily="34" charset="0"/>
                <a:ea typeface="Calibri" pitchFamily="34" charset="-122"/>
                <a:cs typeface="Calibri" pitchFamily="34" charset="-120"/>
              </a:rPr>
              <a:t>Warehouse hubs</a:t>
            </a:r>
            <a:endParaRPr lang="en-US" sz="1250" dirty="0"/>
          </a:p>
        </p:txBody>
      </p:sp>
      <p:sp>
        <p:nvSpPr>
          <p:cNvPr id="7" name="Text 5"/>
          <p:cNvSpPr/>
          <p:nvPr/>
        </p:nvSpPr>
        <p:spPr>
          <a:xfrm>
            <a:off x="685800" y="2560320"/>
            <a:ext cx="2340864" cy="384048"/>
          </a:xfrm>
          <a:prstGeom prst="rect">
            <a:avLst/>
          </a:prstGeom>
          <a:noFill/>
          <a:ln/>
        </p:spPr>
        <p:txBody>
          <a:bodyPr wrap="square" lIns="0" tIns="0" rIns="0" bIns="0" rtlCol="0" anchor="ctr"/>
          <a:lstStyle/>
          <a:p>
            <a:pPr marL="0" indent="0" algn="ctr">
              <a:buNone/>
            </a:pPr>
            <a:r>
              <a:rPr lang="en-US" sz="1000" dirty="0">
                <a:solidFill>
                  <a:srgbClr val="5F6F62"/>
                </a:solidFill>
                <a:latin typeface="Calibri" pitchFamily="34" charset="0"/>
                <a:ea typeface="Calibri" pitchFamily="34" charset="-122"/>
                <a:cs typeface="Calibri" pitchFamily="34" charset="-120"/>
              </a:rPr>
              <a:t>Scarborough, Mississauga, North Bay</a:t>
            </a:r>
            <a:endParaRPr lang="en-US" sz="1000" dirty="0"/>
          </a:p>
        </p:txBody>
      </p:sp>
      <p:sp>
        <p:nvSpPr>
          <p:cNvPr id="8" name="Shape 6"/>
          <p:cNvSpPr/>
          <p:nvPr/>
        </p:nvSpPr>
        <p:spPr>
          <a:xfrm>
            <a:off x="3401568" y="1481328"/>
            <a:ext cx="2615184" cy="1554480"/>
          </a:xfrm>
          <a:prstGeom prst="roundRect">
            <a:avLst>
              <a:gd name="adj" fmla="val 5294"/>
            </a:avLst>
          </a:prstGeom>
          <a:solidFill>
            <a:srgbClr val="EEF3EA"/>
          </a:solidFill>
          <a:ln w="12700">
            <a:solidFill>
              <a:srgbClr val="EEF3EA"/>
            </a:solidFill>
            <a:prstDash val="solid"/>
          </a:ln>
        </p:spPr>
      </p:sp>
      <p:sp>
        <p:nvSpPr>
          <p:cNvPr id="9" name="Text 7"/>
          <p:cNvSpPr/>
          <p:nvPr/>
        </p:nvSpPr>
        <p:spPr>
          <a:xfrm>
            <a:off x="3401568" y="1572768"/>
            <a:ext cx="2615184" cy="713232"/>
          </a:xfrm>
          <a:prstGeom prst="rect">
            <a:avLst/>
          </a:prstGeom>
          <a:noFill/>
          <a:ln/>
        </p:spPr>
        <p:txBody>
          <a:bodyPr wrap="square" lIns="0" tIns="0" rIns="0" bIns="0" rtlCol="0" anchor="ctr"/>
          <a:lstStyle/>
          <a:p>
            <a:pPr marL="0" indent="0" algn="ctr">
              <a:buNone/>
            </a:pPr>
            <a:r>
              <a:rPr lang="en-US" sz="4600" b="1" dirty="0">
                <a:solidFill>
                  <a:srgbClr val="2C5F2D"/>
                </a:solidFill>
                <a:latin typeface="Cambria" pitchFamily="34" charset="0"/>
                <a:ea typeface="Cambria" pitchFamily="34" charset="-122"/>
                <a:cs typeface="Cambria" pitchFamily="34" charset="-120"/>
              </a:rPr>
              <a:t>2</a:t>
            </a:r>
            <a:endParaRPr lang="en-US" sz="4600" dirty="0"/>
          </a:p>
        </p:txBody>
      </p:sp>
      <p:sp>
        <p:nvSpPr>
          <p:cNvPr id="10" name="Text 8"/>
          <p:cNvSpPr/>
          <p:nvPr/>
        </p:nvSpPr>
        <p:spPr>
          <a:xfrm>
            <a:off x="3401568" y="2286000"/>
            <a:ext cx="2615184" cy="274320"/>
          </a:xfrm>
          <a:prstGeom prst="rect">
            <a:avLst/>
          </a:prstGeom>
          <a:noFill/>
          <a:ln/>
        </p:spPr>
        <p:txBody>
          <a:bodyPr wrap="square" lIns="0" tIns="0" rIns="0" bIns="0" rtlCol="0" anchor="ctr"/>
          <a:lstStyle/>
          <a:p>
            <a:pPr marL="0" indent="0" algn="ctr">
              <a:buNone/>
            </a:pPr>
            <a:r>
              <a:rPr lang="en-US" sz="1250" b="1" dirty="0">
                <a:solidFill>
                  <a:srgbClr val="1A2E20"/>
                </a:solidFill>
                <a:latin typeface="Calibri" pitchFamily="34" charset="0"/>
                <a:ea typeface="Calibri" pitchFamily="34" charset="-122"/>
                <a:cs typeface="Calibri" pitchFamily="34" charset="-120"/>
              </a:rPr>
              <a:t>Delivery trucks</a:t>
            </a:r>
            <a:endParaRPr lang="en-US" sz="1250" dirty="0"/>
          </a:p>
        </p:txBody>
      </p:sp>
      <p:sp>
        <p:nvSpPr>
          <p:cNvPr id="11" name="Text 9"/>
          <p:cNvSpPr/>
          <p:nvPr/>
        </p:nvSpPr>
        <p:spPr>
          <a:xfrm>
            <a:off x="3538728" y="2560320"/>
            <a:ext cx="2340864" cy="384048"/>
          </a:xfrm>
          <a:prstGeom prst="rect">
            <a:avLst/>
          </a:prstGeom>
          <a:noFill/>
          <a:ln/>
        </p:spPr>
        <p:txBody>
          <a:bodyPr wrap="square" lIns="0" tIns="0" rIns="0" bIns="0" rtlCol="0" anchor="ctr"/>
          <a:lstStyle/>
          <a:p>
            <a:pPr marL="0" indent="0" algn="ctr">
              <a:buNone/>
            </a:pPr>
            <a:r>
              <a:rPr lang="en-US" sz="1000" dirty="0">
                <a:solidFill>
                  <a:srgbClr val="5F6F62"/>
                </a:solidFill>
                <a:latin typeface="Calibri" pitchFamily="34" charset="0"/>
                <a:ea typeface="Calibri" pitchFamily="34" charset="-122"/>
                <a:cs typeface="Calibri" pitchFamily="34" charset="-120"/>
              </a:rPr>
              <a:t>Pickup, inter-hub transfer, distribution</a:t>
            </a:r>
            <a:endParaRPr lang="en-US" sz="1000" dirty="0"/>
          </a:p>
        </p:txBody>
      </p:sp>
      <p:sp>
        <p:nvSpPr>
          <p:cNvPr id="12" name="Shape 10"/>
          <p:cNvSpPr/>
          <p:nvPr/>
        </p:nvSpPr>
        <p:spPr>
          <a:xfrm>
            <a:off x="6254496" y="1481328"/>
            <a:ext cx="2615184" cy="1554480"/>
          </a:xfrm>
          <a:prstGeom prst="roundRect">
            <a:avLst>
              <a:gd name="adj" fmla="val 5294"/>
            </a:avLst>
          </a:prstGeom>
          <a:solidFill>
            <a:srgbClr val="EEF3EA"/>
          </a:solidFill>
          <a:ln w="12700">
            <a:solidFill>
              <a:srgbClr val="EEF3EA"/>
            </a:solidFill>
            <a:prstDash val="solid"/>
          </a:ln>
        </p:spPr>
      </p:sp>
      <p:sp>
        <p:nvSpPr>
          <p:cNvPr id="13" name="Text 11"/>
          <p:cNvSpPr/>
          <p:nvPr/>
        </p:nvSpPr>
        <p:spPr>
          <a:xfrm>
            <a:off x="6254496" y="1572768"/>
            <a:ext cx="2615184" cy="713232"/>
          </a:xfrm>
          <a:prstGeom prst="rect">
            <a:avLst/>
          </a:prstGeom>
          <a:noFill/>
          <a:ln/>
        </p:spPr>
        <p:txBody>
          <a:bodyPr wrap="square" lIns="0" tIns="0" rIns="0" bIns="0" rtlCol="0" anchor="ctr"/>
          <a:lstStyle/>
          <a:p>
            <a:pPr marL="0" indent="0" algn="ctr">
              <a:buNone/>
            </a:pPr>
            <a:r>
              <a:rPr lang="en-US" sz="4600" b="1" dirty="0">
                <a:solidFill>
                  <a:srgbClr val="2C5F2D"/>
                </a:solidFill>
                <a:latin typeface="Cambria" pitchFamily="34" charset="0"/>
                <a:ea typeface="Cambria" pitchFamily="34" charset="-122"/>
                <a:cs typeface="Cambria" pitchFamily="34" charset="-120"/>
              </a:rPr>
              <a:t>9</a:t>
            </a:r>
            <a:endParaRPr lang="en-US" sz="4600" dirty="0"/>
          </a:p>
        </p:txBody>
      </p:sp>
      <p:sp>
        <p:nvSpPr>
          <p:cNvPr id="14" name="Text 12"/>
          <p:cNvSpPr/>
          <p:nvPr/>
        </p:nvSpPr>
        <p:spPr>
          <a:xfrm>
            <a:off x="6254496" y="2286000"/>
            <a:ext cx="2615184" cy="274320"/>
          </a:xfrm>
          <a:prstGeom prst="rect">
            <a:avLst/>
          </a:prstGeom>
          <a:noFill/>
          <a:ln/>
        </p:spPr>
        <p:txBody>
          <a:bodyPr wrap="square" lIns="0" tIns="0" rIns="0" bIns="0" rtlCol="0" anchor="ctr"/>
          <a:lstStyle/>
          <a:p>
            <a:pPr marL="0" indent="0" algn="ctr">
              <a:buNone/>
            </a:pPr>
            <a:r>
              <a:rPr lang="en-US" sz="1250" b="1" dirty="0">
                <a:solidFill>
                  <a:srgbClr val="1A2E20"/>
                </a:solidFill>
                <a:latin typeface="Calibri" pitchFamily="34" charset="0"/>
                <a:ea typeface="Calibri" pitchFamily="34" charset="-122"/>
                <a:cs typeface="Calibri" pitchFamily="34" charset="-120"/>
              </a:rPr>
              <a:t>Functions in scope</a:t>
            </a:r>
            <a:endParaRPr lang="en-US" sz="1250" dirty="0"/>
          </a:p>
        </p:txBody>
      </p:sp>
      <p:sp>
        <p:nvSpPr>
          <p:cNvPr id="15" name="Text 13"/>
          <p:cNvSpPr/>
          <p:nvPr/>
        </p:nvSpPr>
        <p:spPr>
          <a:xfrm>
            <a:off x="6391656" y="2560320"/>
            <a:ext cx="2340864" cy="384048"/>
          </a:xfrm>
          <a:prstGeom prst="rect">
            <a:avLst/>
          </a:prstGeom>
          <a:noFill/>
          <a:ln/>
        </p:spPr>
        <p:txBody>
          <a:bodyPr wrap="square" lIns="0" tIns="0" rIns="0" bIns="0" rtlCol="0" anchor="ctr"/>
          <a:lstStyle/>
          <a:p>
            <a:pPr marL="0" indent="0" algn="ctr">
              <a:buNone/>
            </a:pPr>
            <a:r>
              <a:rPr lang="en-US" sz="1000" dirty="0">
                <a:solidFill>
                  <a:srgbClr val="5F6F62"/>
                </a:solidFill>
                <a:latin typeface="Calibri" pitchFamily="34" charset="0"/>
                <a:ea typeface="Calibri" pitchFamily="34" charset="-122"/>
                <a:cs typeface="Calibri" pitchFamily="34" charset="-120"/>
              </a:rPr>
              <a:t>Donors through to reporting</a:t>
            </a:r>
            <a:endParaRPr lang="en-US" sz="1000" dirty="0"/>
          </a:p>
        </p:txBody>
      </p:sp>
      <p:sp>
        <p:nvSpPr>
          <p:cNvPr id="16" name="Shape 14"/>
          <p:cNvSpPr/>
          <p:nvPr/>
        </p:nvSpPr>
        <p:spPr>
          <a:xfrm>
            <a:off x="9107424" y="1481328"/>
            <a:ext cx="2615184" cy="1554480"/>
          </a:xfrm>
          <a:prstGeom prst="roundRect">
            <a:avLst>
              <a:gd name="adj" fmla="val 5294"/>
            </a:avLst>
          </a:prstGeom>
          <a:solidFill>
            <a:srgbClr val="EEF3EA"/>
          </a:solidFill>
          <a:ln w="12700">
            <a:solidFill>
              <a:srgbClr val="EEF3EA"/>
            </a:solidFill>
            <a:prstDash val="solid"/>
          </a:ln>
        </p:spPr>
      </p:sp>
      <p:sp>
        <p:nvSpPr>
          <p:cNvPr id="17" name="Text 15"/>
          <p:cNvSpPr/>
          <p:nvPr/>
        </p:nvSpPr>
        <p:spPr>
          <a:xfrm>
            <a:off x="9107424" y="1572768"/>
            <a:ext cx="2615184" cy="713232"/>
          </a:xfrm>
          <a:prstGeom prst="rect">
            <a:avLst/>
          </a:prstGeom>
          <a:noFill/>
          <a:ln/>
        </p:spPr>
        <p:txBody>
          <a:bodyPr wrap="square" lIns="0" tIns="0" rIns="0" bIns="0" rtlCol="0" anchor="ctr"/>
          <a:lstStyle/>
          <a:p>
            <a:pPr marL="0" indent="0" algn="ctr">
              <a:buNone/>
            </a:pPr>
            <a:r>
              <a:rPr lang="en-US" sz="4600" b="1" dirty="0">
                <a:solidFill>
                  <a:srgbClr val="2C5F2D"/>
                </a:solidFill>
                <a:latin typeface="Cambria" pitchFamily="34" charset="0"/>
                <a:ea typeface="Cambria" pitchFamily="34" charset="-122"/>
                <a:cs typeface="Cambria" pitchFamily="34" charset="-120"/>
              </a:rPr>
              <a:t>5</a:t>
            </a:r>
            <a:endParaRPr lang="en-US" sz="4600" dirty="0"/>
          </a:p>
        </p:txBody>
      </p:sp>
      <p:sp>
        <p:nvSpPr>
          <p:cNvPr id="18" name="Text 16"/>
          <p:cNvSpPr/>
          <p:nvPr/>
        </p:nvSpPr>
        <p:spPr>
          <a:xfrm>
            <a:off x="9107424" y="2286000"/>
            <a:ext cx="2615184" cy="274320"/>
          </a:xfrm>
          <a:prstGeom prst="rect">
            <a:avLst/>
          </a:prstGeom>
          <a:noFill/>
          <a:ln/>
        </p:spPr>
        <p:txBody>
          <a:bodyPr wrap="square" lIns="0" tIns="0" rIns="0" bIns="0" rtlCol="0" anchor="ctr"/>
          <a:lstStyle/>
          <a:p>
            <a:pPr marL="0" indent="0" algn="ctr">
              <a:buNone/>
            </a:pPr>
            <a:r>
              <a:rPr lang="en-US" sz="1250" b="1" dirty="0">
                <a:solidFill>
                  <a:srgbClr val="1A2E20"/>
                </a:solidFill>
                <a:latin typeface="Calibri" pitchFamily="34" charset="0"/>
                <a:ea typeface="Calibri" pitchFamily="34" charset="-122"/>
                <a:cs typeface="Calibri" pitchFamily="34" charset="-120"/>
              </a:rPr>
              <a:t>Delivery phases</a:t>
            </a:r>
            <a:endParaRPr lang="en-US" sz="1250" dirty="0"/>
          </a:p>
        </p:txBody>
      </p:sp>
      <p:sp>
        <p:nvSpPr>
          <p:cNvPr id="19" name="Text 17"/>
          <p:cNvSpPr/>
          <p:nvPr/>
        </p:nvSpPr>
        <p:spPr>
          <a:xfrm>
            <a:off x="9244584" y="2560320"/>
            <a:ext cx="2340864" cy="384048"/>
          </a:xfrm>
          <a:prstGeom prst="rect">
            <a:avLst/>
          </a:prstGeom>
          <a:noFill/>
          <a:ln/>
        </p:spPr>
        <p:txBody>
          <a:bodyPr wrap="square" lIns="0" tIns="0" rIns="0" bIns="0" rtlCol="0" anchor="ctr"/>
          <a:lstStyle/>
          <a:p>
            <a:pPr marL="0" indent="0" algn="ctr">
              <a:buNone/>
            </a:pPr>
            <a:r>
              <a:rPr lang="en-US" sz="1000" dirty="0">
                <a:solidFill>
                  <a:srgbClr val="5F6F62"/>
                </a:solidFill>
                <a:latin typeface="Calibri" pitchFamily="34" charset="0"/>
                <a:ea typeface="Calibri" pitchFamily="34" charset="-122"/>
                <a:cs typeface="Calibri" pitchFamily="34" charset="-120"/>
              </a:rPr>
              <a:t>Requirements to Year 1 evaluation</a:t>
            </a:r>
            <a:endParaRPr lang="en-US" sz="1000" dirty="0"/>
          </a:p>
        </p:txBody>
      </p:sp>
      <p:sp>
        <p:nvSpPr>
          <p:cNvPr id="20" name="Shape 18"/>
          <p:cNvSpPr/>
          <p:nvPr/>
        </p:nvSpPr>
        <p:spPr>
          <a:xfrm>
            <a:off x="548640" y="3310128"/>
            <a:ext cx="5577840" cy="2697480"/>
          </a:xfrm>
          <a:prstGeom prst="roundRect">
            <a:avLst>
              <a:gd name="adj" fmla="val 3051"/>
            </a:avLst>
          </a:prstGeom>
          <a:solidFill>
            <a:srgbClr val="F7F9F5"/>
          </a:solidFill>
          <a:ln w="12700">
            <a:solidFill>
              <a:srgbClr val="F7F9F5"/>
            </a:solidFill>
            <a:prstDash val="solid"/>
          </a:ln>
        </p:spPr>
      </p:sp>
      <p:sp>
        <p:nvSpPr>
          <p:cNvPr id="21" name="Text 19"/>
          <p:cNvSpPr/>
          <p:nvPr/>
        </p:nvSpPr>
        <p:spPr>
          <a:xfrm>
            <a:off x="868680" y="3520440"/>
            <a:ext cx="4937760" cy="292608"/>
          </a:xfrm>
          <a:prstGeom prst="rect">
            <a:avLst/>
          </a:prstGeom>
          <a:noFill/>
          <a:ln/>
        </p:spPr>
        <p:txBody>
          <a:bodyPr wrap="square" lIns="0" tIns="0" rIns="0" bIns="0" rtlCol="0" anchor="ctr"/>
          <a:lstStyle/>
          <a:p>
            <a:pPr marL="0" indent="0">
              <a:buNone/>
            </a:pPr>
            <a:r>
              <a:rPr lang="en-US" sz="1700" b="1" dirty="0">
                <a:solidFill>
                  <a:srgbClr val="163D24"/>
                </a:solidFill>
                <a:latin typeface="Cambria" pitchFamily="34" charset="0"/>
                <a:ea typeface="Cambria" pitchFamily="34" charset="-122"/>
                <a:cs typeface="Cambria" pitchFamily="34" charset="-120"/>
              </a:rPr>
              <a:t>The problem in one line</a:t>
            </a:r>
            <a:endParaRPr lang="en-US" sz="1700" dirty="0"/>
          </a:p>
        </p:txBody>
      </p:sp>
      <p:sp>
        <p:nvSpPr>
          <p:cNvPr id="22" name="Text 20"/>
          <p:cNvSpPr/>
          <p:nvPr/>
        </p:nvSpPr>
        <p:spPr>
          <a:xfrm>
            <a:off x="868680" y="3886200"/>
            <a:ext cx="4937760" cy="1920240"/>
          </a:xfrm>
          <a:prstGeom prst="rect">
            <a:avLst/>
          </a:prstGeom>
          <a:noFill/>
          <a:ln/>
        </p:spPr>
        <p:txBody>
          <a:bodyPr wrap="square" lIns="0" tIns="0" rIns="0" bIns="0" rtlCol="0" anchor="ctr"/>
          <a:lstStyle/>
          <a:p>
            <a:pPr marL="0" indent="0">
              <a:lnSpc>
                <a:spcPts val="2000"/>
              </a:lnSpc>
              <a:spcAft>
                <a:spcPts val="800"/>
              </a:spcAft>
              <a:buNone/>
            </a:pPr>
            <a:r>
              <a:rPr lang="en-US" sz="1300" dirty="0">
                <a:solidFill>
                  <a:srgbClr val="1A2E20"/>
                </a:solidFill>
                <a:latin typeface="Calibri" pitchFamily="34" charset="0"/>
                <a:ea typeface="Calibri" pitchFamily="34" charset="-122"/>
                <a:cs typeface="Calibri" pitchFamily="34" charset="-120"/>
              </a:rPr>
              <a:t>Grocery stores, restaurants and farms already have surplus food that is safe to eat. FoodShare exists to move it to registered families before it expires.</a:t>
            </a:r>
            <a:endParaRPr lang="en-US" sz="1300" dirty="0"/>
          </a:p>
          <a:p>
            <a:pPr marL="0" indent="0">
              <a:lnSpc>
                <a:spcPts val="2000"/>
              </a:lnSpc>
              <a:buNone/>
            </a:pPr>
            <a:r>
              <a:rPr lang="en-US" sz="1300" dirty="0">
                <a:solidFill>
                  <a:srgbClr val="1A2E20"/>
                </a:solidFill>
                <a:latin typeface="Calibri" pitchFamily="34" charset="0"/>
                <a:ea typeface="Calibri" pitchFamily="34" charset="-122"/>
                <a:cs typeface="Calibri" pitchFamily="34" charset="-120"/>
              </a:rPr>
              <a:t>Today that runs on manual records — which means missed entries, inventory counts that drift from reality, and food sitting in storage past the point it should have gone out the door.</a:t>
            </a:r>
            <a:endParaRPr lang="en-US" sz="1300" dirty="0"/>
          </a:p>
        </p:txBody>
      </p:sp>
      <p:sp>
        <p:nvSpPr>
          <p:cNvPr id="23" name="Shape 21"/>
          <p:cNvSpPr/>
          <p:nvPr/>
        </p:nvSpPr>
        <p:spPr>
          <a:xfrm>
            <a:off x="6355080" y="3310128"/>
            <a:ext cx="5285232" cy="2697480"/>
          </a:xfrm>
          <a:prstGeom prst="roundRect">
            <a:avLst>
              <a:gd name="adj" fmla="val 3051"/>
            </a:avLst>
          </a:prstGeom>
          <a:solidFill>
            <a:srgbClr val="163D24"/>
          </a:solidFill>
          <a:ln w="12700">
            <a:solidFill>
              <a:srgbClr val="163D24"/>
            </a:solidFill>
            <a:prstDash val="solid"/>
          </a:ln>
        </p:spPr>
      </p:sp>
      <p:sp>
        <p:nvSpPr>
          <p:cNvPr id="24" name="Text 22"/>
          <p:cNvSpPr/>
          <p:nvPr/>
        </p:nvSpPr>
        <p:spPr>
          <a:xfrm>
            <a:off x="6675120" y="3520440"/>
            <a:ext cx="4663440" cy="292608"/>
          </a:xfrm>
          <a:prstGeom prst="rect">
            <a:avLst/>
          </a:prstGeom>
          <a:noFill/>
          <a:ln/>
        </p:spPr>
        <p:txBody>
          <a:bodyPr wrap="square" lIns="0" tIns="0" rIns="0" bIns="0" rtlCol="0" anchor="ctr"/>
          <a:lstStyle/>
          <a:p>
            <a:pPr marL="0" indent="0">
              <a:buNone/>
            </a:pPr>
            <a:r>
              <a:rPr lang="en-US" sz="1700" b="1" dirty="0">
                <a:solidFill>
                  <a:srgbClr val="97BC62"/>
                </a:solidFill>
                <a:latin typeface="Cambria" pitchFamily="34" charset="0"/>
                <a:ea typeface="Cambria" pitchFamily="34" charset="-122"/>
                <a:cs typeface="Cambria" pitchFamily="34" charset="-120"/>
              </a:rPr>
              <a:t>What makes this charter different</a:t>
            </a:r>
            <a:endParaRPr lang="en-US" sz="1700" dirty="0"/>
          </a:p>
        </p:txBody>
      </p:sp>
      <p:sp>
        <p:nvSpPr>
          <p:cNvPr id="25" name="Text 23"/>
          <p:cNvSpPr/>
          <p:nvPr/>
        </p:nvSpPr>
        <p:spPr>
          <a:xfrm>
            <a:off x="6675120" y="3886200"/>
            <a:ext cx="4663440" cy="1920240"/>
          </a:xfrm>
          <a:prstGeom prst="rect">
            <a:avLst/>
          </a:prstGeom>
          <a:noFill/>
          <a:ln/>
        </p:spPr>
        <p:txBody>
          <a:bodyPr wrap="square" lIns="0" tIns="0" rIns="0" bIns="0" rtlCol="0" anchor="ctr"/>
          <a:lstStyle/>
          <a:p>
            <a:pPr marL="0" indent="0">
              <a:lnSpc>
                <a:spcPts val="1900"/>
              </a:lnSpc>
              <a:buNone/>
            </a:pPr>
            <a:r>
              <a:rPr lang="en-US" sz="1250" dirty="0">
                <a:solidFill>
                  <a:srgbClr val="C8D8C4"/>
                </a:solidFill>
                <a:latin typeface="Calibri" pitchFamily="34" charset="0"/>
                <a:ea typeface="Calibri" pitchFamily="34" charset="-122"/>
                <a:cs typeface="Calibri" pitchFamily="34" charset="-120"/>
              </a:rPr>
              <a:t>Rather than guessing at what a mature three-hub network looks like operationally, we pulled the publicly available operating figures from </a:t>
            </a:r>
            <a:r>
              <a:rPr lang="en-US" sz="1250" b="1" dirty="0">
                <a:solidFill>
                  <a:srgbClr val="FFFFFF"/>
                </a:solidFill>
                <a:latin typeface="Calibri" pitchFamily="34" charset="0"/>
                <a:ea typeface="Calibri" pitchFamily="34" charset="-122"/>
                <a:cs typeface="Calibri" pitchFamily="34" charset="-120"/>
              </a:rPr>
              <a:t>Care Shield Food Bank</a:t>
            </a:r>
            <a:r>
              <a:rPr lang="en-US" sz="1250" dirty="0">
                <a:solidFill>
                  <a:srgbClr val="C8D8C4"/>
                </a:solidFill>
                <a:latin typeface="Calibri" pitchFamily="34" charset="0"/>
                <a:ea typeface="Calibri" pitchFamily="34" charset="-122"/>
                <a:cs typeface="Calibri" pitchFamily="34" charset="-120"/>
              </a:rPr>
              <a:t> — a comparable Scarborough / Mississauga / North Bay network — and used them as reference benchmarks (Section 14).</a:t>
            </a:r>
            <a:endParaRPr lang="en-US" sz="1250" dirty="0"/>
          </a:p>
          <a:p>
            <a:pPr marL="0" indent="0">
              <a:lnSpc>
                <a:spcPts val="1900"/>
              </a:lnSpc>
              <a:buNone/>
            </a:pPr>
            <a:r>
              <a:rPr lang="en-US" sz="1250" dirty="0">
                <a:solidFill>
                  <a:srgbClr val="C8D8C4"/>
                </a:solidFill>
                <a:latin typeface="Calibri" pitchFamily="34" charset="0"/>
                <a:ea typeface="Calibri" pitchFamily="34" charset="-122"/>
                <a:cs typeface="Calibri" pitchFamily="34" charset="-120"/>
              </a:rPr>
              <a:t>A same-size network's real numbers give us far more grounded planning assumptions than we would have reached on our own.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Background &amp; Business Problem</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Sections 2 and 4 — why the current way of working stops scaling</a:t>
            </a:r>
            <a:endParaRPr lang="en-US" sz="1400" dirty="0"/>
          </a:p>
        </p:txBody>
      </p:sp>
      <p:sp>
        <p:nvSpPr>
          <p:cNvPr id="4" name="Shape 2"/>
          <p:cNvSpPr/>
          <p:nvPr/>
        </p:nvSpPr>
        <p:spPr>
          <a:xfrm>
            <a:off x="548640" y="1481328"/>
            <a:ext cx="5394960" cy="2240280"/>
          </a:xfrm>
          <a:prstGeom prst="roundRect">
            <a:avLst>
              <a:gd name="adj" fmla="val 3673"/>
            </a:avLst>
          </a:prstGeom>
          <a:solidFill>
            <a:srgbClr val="EEF3EA"/>
          </a:solidFill>
          <a:ln w="12700">
            <a:solidFill>
              <a:srgbClr val="EEF3EA"/>
            </a:solidFill>
            <a:prstDash val="solid"/>
          </a:ln>
        </p:spPr>
      </p:sp>
      <p:sp>
        <p:nvSpPr>
          <p:cNvPr id="5" name="Text 3"/>
          <p:cNvSpPr/>
          <p:nvPr/>
        </p:nvSpPr>
        <p:spPr>
          <a:xfrm>
            <a:off x="841248" y="1664208"/>
            <a:ext cx="4846320" cy="292608"/>
          </a:xfrm>
          <a:prstGeom prst="rect">
            <a:avLst/>
          </a:prstGeom>
          <a:noFill/>
          <a:ln/>
        </p:spPr>
        <p:txBody>
          <a:bodyPr wrap="square" lIns="0" tIns="0" rIns="0" bIns="0" rtlCol="0" anchor="ctr"/>
          <a:lstStyle/>
          <a:p>
            <a:pPr marL="0" indent="0">
              <a:buNone/>
            </a:pPr>
            <a:r>
              <a:rPr lang="en-US" sz="1700" b="1" dirty="0">
                <a:solidFill>
                  <a:srgbClr val="163D24"/>
                </a:solidFill>
                <a:latin typeface="Cambria" pitchFamily="34" charset="0"/>
                <a:ea typeface="Cambria" pitchFamily="34" charset="-122"/>
                <a:cs typeface="Cambria" pitchFamily="34" charset="-120"/>
              </a:rPr>
              <a:t>The gap FoodShare sits in</a:t>
            </a:r>
            <a:endParaRPr lang="en-US" sz="1700" dirty="0"/>
          </a:p>
        </p:txBody>
      </p:sp>
      <p:sp>
        <p:nvSpPr>
          <p:cNvPr id="6" name="Text 4"/>
          <p:cNvSpPr/>
          <p:nvPr/>
        </p:nvSpPr>
        <p:spPr>
          <a:xfrm>
            <a:off x="841248" y="2011680"/>
            <a:ext cx="4846320" cy="1554480"/>
          </a:xfrm>
          <a:prstGeom prst="rect">
            <a:avLst/>
          </a:prstGeom>
          <a:noFill/>
          <a:ln/>
        </p:spPr>
        <p:txBody>
          <a:bodyPr wrap="square" lIns="0" tIns="0" rIns="0" bIns="0" rtlCol="0" anchor="ctr"/>
          <a:lstStyle/>
          <a:p>
            <a:pPr marL="0" indent="0">
              <a:lnSpc>
                <a:spcPts val="1800"/>
              </a:lnSpc>
              <a:buNone/>
            </a:pPr>
            <a:r>
              <a:rPr lang="en-US" sz="1200" dirty="0">
                <a:solidFill>
                  <a:srgbClr val="1A2E20"/>
                </a:solidFill>
                <a:latin typeface="Calibri" pitchFamily="34" charset="0"/>
                <a:ea typeface="Calibri" pitchFamily="34" charset="-122"/>
                <a:cs typeface="Calibri" pitchFamily="34" charset="-120"/>
              </a:rPr>
              <a:t>Food insecurity has been climbing as living costs outpace what many households can absorb. At the same time a surprising amount of usable food never reaches anyone — stores and restaurants routinely discard items close to their best-before date that are still perfectly fine to eat. FoodShare collects that surplus, stores it properly, and gets it to families before it spoils.</a:t>
            </a:r>
            <a:endParaRPr lang="en-US" sz="1200" dirty="0"/>
          </a:p>
        </p:txBody>
      </p:sp>
      <p:sp>
        <p:nvSpPr>
          <p:cNvPr id="7" name="Shape 5"/>
          <p:cNvSpPr/>
          <p:nvPr/>
        </p:nvSpPr>
        <p:spPr>
          <a:xfrm>
            <a:off x="548640" y="3886200"/>
            <a:ext cx="5394960" cy="2130552"/>
          </a:xfrm>
          <a:prstGeom prst="roundRect">
            <a:avLst>
              <a:gd name="adj" fmla="val 3863"/>
            </a:avLst>
          </a:prstGeom>
          <a:solidFill>
            <a:srgbClr val="F7F9F5"/>
          </a:solidFill>
          <a:ln w="12700">
            <a:solidFill>
              <a:srgbClr val="F7F9F5"/>
            </a:solidFill>
            <a:prstDash val="solid"/>
          </a:ln>
        </p:spPr>
      </p:sp>
      <p:sp>
        <p:nvSpPr>
          <p:cNvPr id="8" name="Text 6"/>
          <p:cNvSpPr/>
          <p:nvPr/>
        </p:nvSpPr>
        <p:spPr>
          <a:xfrm>
            <a:off x="841248" y="4069080"/>
            <a:ext cx="4846320" cy="292608"/>
          </a:xfrm>
          <a:prstGeom prst="rect">
            <a:avLst/>
          </a:prstGeom>
          <a:noFill/>
          <a:ln/>
        </p:spPr>
        <p:txBody>
          <a:bodyPr wrap="square" lIns="0" tIns="0" rIns="0" bIns="0" rtlCol="0" anchor="ctr"/>
          <a:lstStyle/>
          <a:p>
            <a:pPr marL="0" indent="0">
              <a:buNone/>
            </a:pPr>
            <a:r>
              <a:rPr lang="en-US" sz="1700" b="1" dirty="0">
                <a:solidFill>
                  <a:srgbClr val="163D24"/>
                </a:solidFill>
                <a:latin typeface="Cambria" pitchFamily="34" charset="0"/>
                <a:ea typeface="Cambria" pitchFamily="34" charset="-122"/>
                <a:cs typeface="Cambria" pitchFamily="34" charset="-120"/>
              </a:rPr>
              <a:t>What has not kept pace</a:t>
            </a:r>
            <a:endParaRPr lang="en-US" sz="1700" dirty="0"/>
          </a:p>
        </p:txBody>
      </p:sp>
      <p:sp>
        <p:nvSpPr>
          <p:cNvPr id="9" name="Text 7"/>
          <p:cNvSpPr/>
          <p:nvPr/>
        </p:nvSpPr>
        <p:spPr>
          <a:xfrm>
            <a:off x="841248" y="4416552"/>
            <a:ext cx="4846320" cy="1463040"/>
          </a:xfrm>
          <a:prstGeom prst="rect">
            <a:avLst/>
          </a:prstGeom>
          <a:noFill/>
          <a:ln/>
        </p:spPr>
        <p:txBody>
          <a:bodyPr wrap="square" lIns="0" tIns="0" rIns="0" bIns="0" rtlCol="0" anchor="ctr"/>
          <a:lstStyle/>
          <a:p>
            <a:pPr marL="0" indent="0">
              <a:lnSpc>
                <a:spcPts val="1800"/>
              </a:lnSpc>
              <a:buNone/>
            </a:pPr>
            <a:r>
              <a:rPr lang="en-US" sz="1200" dirty="0">
                <a:solidFill>
                  <a:srgbClr val="1A2E20"/>
                </a:solidFill>
                <a:latin typeface="Calibri" pitchFamily="34" charset="0"/>
                <a:ea typeface="Calibri" pitchFamily="34" charset="-122"/>
                <a:cs typeface="Calibri" pitchFamily="34" charset="-120"/>
              </a:rPr>
              <a:t>The organization already runs three hubs, but the process behind the scenes has not kept up with the volume it now handles. Layer three warehouses, a rotating delivery schedule and varying family requirements on top of manual records, and it becomes genuinely hard to know what food is on hand and who is next in line for it — so distribution decisions get made on an incomplete picture.</a:t>
            </a:r>
            <a:endParaRPr lang="en-US" sz="1200" dirty="0"/>
          </a:p>
        </p:txBody>
      </p:sp>
      <p:sp>
        <p:nvSpPr>
          <p:cNvPr id="10" name="Text 8"/>
          <p:cNvSpPr/>
          <p:nvPr/>
        </p:nvSpPr>
        <p:spPr>
          <a:xfrm>
            <a:off x="6355080" y="1481328"/>
            <a:ext cx="5303520" cy="310896"/>
          </a:xfrm>
          <a:prstGeom prst="rect">
            <a:avLst/>
          </a:prstGeom>
          <a:noFill/>
          <a:ln/>
        </p:spPr>
        <p:txBody>
          <a:bodyPr wrap="square" lIns="0" tIns="0" rIns="0" bIns="0" rtlCol="0" anchor="ctr"/>
          <a:lstStyle/>
          <a:p>
            <a:pPr marL="0" indent="0">
              <a:buNone/>
            </a:pPr>
            <a:r>
              <a:rPr lang="en-US" sz="1700" b="1" dirty="0">
                <a:solidFill>
                  <a:srgbClr val="163D24"/>
                </a:solidFill>
                <a:latin typeface="Cambria" pitchFamily="34" charset="0"/>
                <a:ea typeface="Cambria" pitchFamily="34" charset="-122"/>
                <a:cs typeface="Cambria" pitchFamily="34" charset="-120"/>
              </a:rPr>
              <a:t>How manual records break down</a:t>
            </a:r>
            <a:endParaRPr lang="en-US" sz="1700" dirty="0"/>
          </a:p>
        </p:txBody>
      </p:sp>
      <p:sp>
        <p:nvSpPr>
          <p:cNvPr id="11" name="Shape 9"/>
          <p:cNvSpPr/>
          <p:nvPr/>
        </p:nvSpPr>
        <p:spPr>
          <a:xfrm>
            <a:off x="6355080" y="1901952"/>
            <a:ext cx="5285232" cy="1005840"/>
          </a:xfrm>
          <a:prstGeom prst="roundRect">
            <a:avLst>
              <a:gd name="adj" fmla="val 8182"/>
            </a:avLst>
          </a:prstGeom>
          <a:solidFill>
            <a:srgbClr val="EEF3EA"/>
          </a:solidFill>
          <a:ln w="12700">
            <a:solidFill>
              <a:srgbClr val="EEF3EA"/>
            </a:solidFill>
            <a:prstDash val="solid"/>
          </a:ln>
        </p:spPr>
      </p:sp>
      <p:sp>
        <p:nvSpPr>
          <p:cNvPr id="12" name="Shape 10"/>
          <p:cNvSpPr/>
          <p:nvPr/>
        </p:nvSpPr>
        <p:spPr>
          <a:xfrm>
            <a:off x="6601968" y="2267712"/>
            <a:ext cx="256032" cy="256032"/>
          </a:xfrm>
          <a:prstGeom prst="ellipse">
            <a:avLst/>
          </a:prstGeom>
          <a:solidFill>
            <a:srgbClr val="D97A26"/>
          </a:solidFill>
          <a:ln w="12700">
            <a:solidFill>
              <a:srgbClr val="D97A26"/>
            </a:solidFill>
            <a:prstDash val="solid"/>
          </a:ln>
        </p:spPr>
      </p:sp>
      <p:sp>
        <p:nvSpPr>
          <p:cNvPr id="13" name="Text 11"/>
          <p:cNvSpPr/>
          <p:nvPr/>
        </p:nvSpPr>
        <p:spPr>
          <a:xfrm>
            <a:off x="7004304" y="2048256"/>
            <a:ext cx="4434840" cy="292608"/>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Records go missing</a:t>
            </a:r>
            <a:endParaRPr lang="en-US" sz="1350" dirty="0"/>
          </a:p>
        </p:txBody>
      </p:sp>
      <p:sp>
        <p:nvSpPr>
          <p:cNvPr id="14" name="Text 12"/>
          <p:cNvSpPr/>
          <p:nvPr/>
        </p:nvSpPr>
        <p:spPr>
          <a:xfrm>
            <a:off x="7004304" y="2340864"/>
            <a:ext cx="4434840" cy="457200"/>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Donations entered on paper or in one person's spreadsheet never reach the shared record</a:t>
            </a:r>
            <a:endParaRPr lang="en-US" sz="1100" dirty="0"/>
          </a:p>
        </p:txBody>
      </p:sp>
      <p:sp>
        <p:nvSpPr>
          <p:cNvPr id="15" name="Shape 13"/>
          <p:cNvSpPr/>
          <p:nvPr/>
        </p:nvSpPr>
        <p:spPr>
          <a:xfrm>
            <a:off x="6355080" y="2999232"/>
            <a:ext cx="5285232" cy="1005840"/>
          </a:xfrm>
          <a:prstGeom prst="roundRect">
            <a:avLst>
              <a:gd name="adj" fmla="val 8182"/>
            </a:avLst>
          </a:prstGeom>
          <a:solidFill>
            <a:srgbClr val="F3F6F0"/>
          </a:solidFill>
          <a:ln w="12700">
            <a:solidFill>
              <a:srgbClr val="F3F6F0"/>
            </a:solidFill>
            <a:prstDash val="solid"/>
          </a:ln>
        </p:spPr>
      </p:sp>
      <p:sp>
        <p:nvSpPr>
          <p:cNvPr id="16" name="Shape 14"/>
          <p:cNvSpPr/>
          <p:nvPr/>
        </p:nvSpPr>
        <p:spPr>
          <a:xfrm>
            <a:off x="6601968" y="3364992"/>
            <a:ext cx="256032" cy="256032"/>
          </a:xfrm>
          <a:prstGeom prst="ellipse">
            <a:avLst/>
          </a:prstGeom>
          <a:solidFill>
            <a:srgbClr val="D97A26"/>
          </a:solidFill>
          <a:ln w="12700">
            <a:solidFill>
              <a:srgbClr val="D97A26"/>
            </a:solidFill>
            <a:prstDash val="solid"/>
          </a:ln>
        </p:spPr>
      </p:sp>
      <p:sp>
        <p:nvSpPr>
          <p:cNvPr id="17" name="Text 15"/>
          <p:cNvSpPr/>
          <p:nvPr/>
        </p:nvSpPr>
        <p:spPr>
          <a:xfrm>
            <a:off x="7004304" y="3145536"/>
            <a:ext cx="4434840" cy="292608"/>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Counts stop matching the shelf</a:t>
            </a:r>
            <a:endParaRPr lang="en-US" sz="1350" dirty="0"/>
          </a:p>
        </p:txBody>
      </p:sp>
      <p:sp>
        <p:nvSpPr>
          <p:cNvPr id="18" name="Text 16"/>
          <p:cNvSpPr/>
          <p:nvPr/>
        </p:nvSpPr>
        <p:spPr>
          <a:xfrm>
            <a:off x="7004304" y="3438144"/>
            <a:ext cx="4434840" cy="457200"/>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Inventory drifts from physical stock, so staff plan against numbers that are already wrong</a:t>
            </a:r>
            <a:endParaRPr lang="en-US" sz="1100" dirty="0"/>
          </a:p>
        </p:txBody>
      </p:sp>
      <p:sp>
        <p:nvSpPr>
          <p:cNvPr id="19" name="Shape 17"/>
          <p:cNvSpPr/>
          <p:nvPr/>
        </p:nvSpPr>
        <p:spPr>
          <a:xfrm>
            <a:off x="6355080" y="4096512"/>
            <a:ext cx="5285232" cy="1005840"/>
          </a:xfrm>
          <a:prstGeom prst="roundRect">
            <a:avLst>
              <a:gd name="adj" fmla="val 8182"/>
            </a:avLst>
          </a:prstGeom>
          <a:solidFill>
            <a:srgbClr val="EEF3EA"/>
          </a:solidFill>
          <a:ln w="12700">
            <a:solidFill>
              <a:srgbClr val="EEF3EA"/>
            </a:solidFill>
            <a:prstDash val="solid"/>
          </a:ln>
        </p:spPr>
      </p:sp>
      <p:sp>
        <p:nvSpPr>
          <p:cNvPr id="20" name="Shape 18"/>
          <p:cNvSpPr/>
          <p:nvPr/>
        </p:nvSpPr>
        <p:spPr>
          <a:xfrm>
            <a:off x="6601968" y="4462272"/>
            <a:ext cx="256032" cy="256032"/>
          </a:xfrm>
          <a:prstGeom prst="ellipse">
            <a:avLst/>
          </a:prstGeom>
          <a:solidFill>
            <a:srgbClr val="D97A26"/>
          </a:solidFill>
          <a:ln w="12700">
            <a:solidFill>
              <a:srgbClr val="D97A26"/>
            </a:solidFill>
            <a:prstDash val="solid"/>
          </a:ln>
        </p:spPr>
      </p:sp>
      <p:sp>
        <p:nvSpPr>
          <p:cNvPr id="21" name="Text 19"/>
          <p:cNvSpPr/>
          <p:nvPr/>
        </p:nvSpPr>
        <p:spPr>
          <a:xfrm>
            <a:off x="7004304" y="4242816"/>
            <a:ext cx="4434840" cy="292608"/>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Food quietly expires</a:t>
            </a:r>
            <a:endParaRPr lang="en-US" sz="1350" dirty="0"/>
          </a:p>
        </p:txBody>
      </p:sp>
      <p:sp>
        <p:nvSpPr>
          <p:cNvPr id="22" name="Text 20"/>
          <p:cNvSpPr/>
          <p:nvPr/>
        </p:nvSpPr>
        <p:spPr>
          <a:xfrm>
            <a:off x="7004304" y="4535424"/>
            <a:ext cx="4434840" cy="457200"/>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Items sit in storage because nobody flagged the expiry date in time</a:t>
            </a:r>
            <a:endParaRPr lang="en-US" sz="1100" dirty="0"/>
          </a:p>
        </p:txBody>
      </p:sp>
      <p:sp>
        <p:nvSpPr>
          <p:cNvPr id="23" name="Shape 21"/>
          <p:cNvSpPr/>
          <p:nvPr/>
        </p:nvSpPr>
        <p:spPr>
          <a:xfrm>
            <a:off x="6355080" y="5193792"/>
            <a:ext cx="5285232" cy="1005840"/>
          </a:xfrm>
          <a:prstGeom prst="roundRect">
            <a:avLst>
              <a:gd name="adj" fmla="val 8182"/>
            </a:avLst>
          </a:prstGeom>
          <a:solidFill>
            <a:srgbClr val="F3F6F0"/>
          </a:solidFill>
          <a:ln w="12700">
            <a:solidFill>
              <a:srgbClr val="F3F6F0"/>
            </a:solidFill>
            <a:prstDash val="solid"/>
          </a:ln>
        </p:spPr>
      </p:sp>
      <p:sp>
        <p:nvSpPr>
          <p:cNvPr id="24" name="Shape 22"/>
          <p:cNvSpPr/>
          <p:nvPr/>
        </p:nvSpPr>
        <p:spPr>
          <a:xfrm>
            <a:off x="6601968" y="5559552"/>
            <a:ext cx="256032" cy="256032"/>
          </a:xfrm>
          <a:prstGeom prst="ellipse">
            <a:avLst/>
          </a:prstGeom>
          <a:solidFill>
            <a:srgbClr val="D97A26"/>
          </a:solidFill>
          <a:ln w="12700">
            <a:solidFill>
              <a:srgbClr val="D97A26"/>
            </a:solidFill>
            <a:prstDash val="solid"/>
          </a:ln>
        </p:spPr>
      </p:sp>
      <p:sp>
        <p:nvSpPr>
          <p:cNvPr id="25" name="Text 23"/>
          <p:cNvSpPr/>
          <p:nvPr/>
        </p:nvSpPr>
        <p:spPr>
          <a:xfrm>
            <a:off x="7004304" y="5340096"/>
            <a:ext cx="4434840" cy="292608"/>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No single view of the network</a:t>
            </a:r>
            <a:endParaRPr lang="en-US" sz="1350" dirty="0"/>
          </a:p>
        </p:txBody>
      </p:sp>
      <p:sp>
        <p:nvSpPr>
          <p:cNvPr id="26" name="Text 24"/>
          <p:cNvSpPr/>
          <p:nvPr/>
        </p:nvSpPr>
        <p:spPr>
          <a:xfrm>
            <a:off x="7004304" y="5632704"/>
            <a:ext cx="4434840" cy="457200"/>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Three warehouses, a rotating schedule and varying family needs, with nothing tying them together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Project Purpose &amp; Objectives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Sections 3 and 5 — one system, seven measurable objectives</a:t>
            </a:r>
            <a:endParaRPr lang="en-US" sz="1400" dirty="0"/>
          </a:p>
        </p:txBody>
      </p:sp>
      <p:sp>
        <p:nvSpPr>
          <p:cNvPr id="4" name="Shape 2"/>
          <p:cNvSpPr/>
          <p:nvPr/>
        </p:nvSpPr>
        <p:spPr>
          <a:xfrm>
            <a:off x="548640" y="1463040"/>
            <a:ext cx="11091672" cy="868680"/>
          </a:xfrm>
          <a:prstGeom prst="roundRect">
            <a:avLst>
              <a:gd name="adj" fmla="val 9474"/>
            </a:avLst>
          </a:prstGeom>
          <a:solidFill>
            <a:srgbClr val="163D24"/>
          </a:solidFill>
          <a:ln w="12700">
            <a:solidFill>
              <a:srgbClr val="163D24"/>
            </a:solidFill>
            <a:prstDash val="solid"/>
          </a:ln>
        </p:spPr>
      </p:sp>
      <p:sp>
        <p:nvSpPr>
          <p:cNvPr id="5" name="Text 3"/>
          <p:cNvSpPr/>
          <p:nvPr/>
        </p:nvSpPr>
        <p:spPr>
          <a:xfrm>
            <a:off x="868680" y="1554480"/>
            <a:ext cx="10451592" cy="694944"/>
          </a:xfrm>
          <a:prstGeom prst="rect">
            <a:avLst/>
          </a:prstGeom>
          <a:noFill/>
          <a:ln/>
        </p:spPr>
        <p:txBody>
          <a:bodyPr wrap="square" lIns="0" tIns="0" rIns="0" bIns="0" rtlCol="0" anchor="ctr"/>
          <a:lstStyle/>
          <a:p>
            <a:pPr marL="0" indent="0">
              <a:lnSpc>
                <a:spcPts val="1700"/>
              </a:lnSpc>
              <a:buNone/>
            </a:pPr>
            <a:r>
              <a:rPr lang="en-US" sz="1100" b="1" kern="0" spc="160" dirty="0">
                <a:solidFill>
                  <a:srgbClr val="D97A26"/>
                </a:solidFill>
                <a:latin typeface="Calibri" pitchFamily="34" charset="0"/>
                <a:ea typeface="Calibri" pitchFamily="34" charset="-122"/>
                <a:cs typeface="Calibri" pitchFamily="34" charset="-120"/>
              </a:rPr>
              <a:t>PURPOSE   </a:t>
            </a:r>
            <a:r>
              <a:rPr lang="en-US" sz="1200" dirty="0">
                <a:solidFill>
                  <a:srgbClr val="FFFFFF"/>
                </a:solidFill>
                <a:latin typeface="Calibri" pitchFamily="34" charset="0"/>
                <a:ea typeface="Calibri" pitchFamily="34" charset="-122"/>
                <a:cs typeface="Calibri" pitchFamily="34" charset="-120"/>
              </a:rPr>
              <a:t>Give FoodShare a single system for managing food donations from its partners and getting that food out to registered families fairly and on time — cutting food waste, tightening inventory accuracy, and making the donation-to-distribution pipeline something the organization can run predictably rather than reactively.</a:t>
            </a:r>
            <a:endParaRPr lang="en-US" sz="1100" dirty="0"/>
          </a:p>
        </p:txBody>
      </p:sp>
      <p:sp>
        <p:nvSpPr>
          <p:cNvPr id="6" name="Shape 4"/>
          <p:cNvSpPr/>
          <p:nvPr/>
        </p:nvSpPr>
        <p:spPr>
          <a:xfrm>
            <a:off x="548640" y="2615184"/>
            <a:ext cx="2679192" cy="1783080"/>
          </a:xfrm>
          <a:prstGeom prst="roundRect">
            <a:avLst>
              <a:gd name="adj" fmla="val 4615"/>
            </a:avLst>
          </a:prstGeom>
          <a:solidFill>
            <a:srgbClr val="EEF3EA"/>
          </a:solidFill>
          <a:ln w="12700">
            <a:solidFill>
              <a:srgbClr val="EEF3EA"/>
            </a:solidFill>
            <a:prstDash val="solid"/>
          </a:ln>
        </p:spPr>
      </p:sp>
      <p:sp>
        <p:nvSpPr>
          <p:cNvPr id="7" name="Shape 5"/>
          <p:cNvSpPr/>
          <p:nvPr/>
        </p:nvSpPr>
        <p:spPr>
          <a:xfrm>
            <a:off x="804672" y="2852928"/>
            <a:ext cx="502920" cy="502920"/>
          </a:xfrm>
          <a:prstGeom prst="ellipse">
            <a:avLst/>
          </a:prstGeom>
          <a:solidFill>
            <a:srgbClr val="2C5F2D"/>
          </a:solidFill>
          <a:ln w="12700">
            <a:solidFill>
              <a:srgbClr val="2C5F2D"/>
            </a:solidFill>
            <a:prstDash val="solid"/>
          </a:ln>
        </p:spPr>
      </p:sp>
      <p:sp>
        <p:nvSpPr>
          <p:cNvPr id="8" name="Text 6"/>
          <p:cNvSpPr/>
          <p:nvPr/>
        </p:nvSpPr>
        <p:spPr>
          <a:xfrm>
            <a:off x="804672" y="28529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9" name="Text 7"/>
          <p:cNvSpPr/>
          <p:nvPr/>
        </p:nvSpPr>
        <p:spPr>
          <a:xfrm>
            <a:off x="804672" y="3456432"/>
            <a:ext cx="2167128" cy="457200"/>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One central database</a:t>
            </a:r>
            <a:endParaRPr lang="en-US" sz="1300" dirty="0"/>
          </a:p>
        </p:txBody>
      </p:sp>
      <p:sp>
        <p:nvSpPr>
          <p:cNvPr id="10" name="Text 8"/>
          <p:cNvSpPr/>
          <p:nvPr/>
        </p:nvSpPr>
        <p:spPr>
          <a:xfrm>
            <a:off x="804672" y="3895344"/>
            <a:ext cx="2167128" cy="41148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Covering all food donations across the network</a:t>
            </a:r>
            <a:endParaRPr lang="en-US" sz="1050" dirty="0"/>
          </a:p>
        </p:txBody>
      </p:sp>
      <p:sp>
        <p:nvSpPr>
          <p:cNvPr id="11" name="Shape 9"/>
          <p:cNvSpPr/>
          <p:nvPr/>
        </p:nvSpPr>
        <p:spPr>
          <a:xfrm>
            <a:off x="3337560" y="2615184"/>
            <a:ext cx="2679192" cy="1783080"/>
          </a:xfrm>
          <a:prstGeom prst="roundRect">
            <a:avLst>
              <a:gd name="adj" fmla="val 4615"/>
            </a:avLst>
          </a:prstGeom>
          <a:solidFill>
            <a:srgbClr val="F3F6F0"/>
          </a:solidFill>
          <a:ln w="12700">
            <a:solidFill>
              <a:srgbClr val="F3F6F0"/>
            </a:solidFill>
            <a:prstDash val="solid"/>
          </a:ln>
        </p:spPr>
      </p:sp>
      <p:sp>
        <p:nvSpPr>
          <p:cNvPr id="12" name="Shape 10"/>
          <p:cNvSpPr/>
          <p:nvPr/>
        </p:nvSpPr>
        <p:spPr>
          <a:xfrm>
            <a:off x="3593592" y="2852928"/>
            <a:ext cx="502920" cy="502920"/>
          </a:xfrm>
          <a:prstGeom prst="ellipse">
            <a:avLst/>
          </a:prstGeom>
          <a:solidFill>
            <a:srgbClr val="2C5F2D"/>
          </a:solidFill>
          <a:ln w="12700">
            <a:solidFill>
              <a:srgbClr val="2C5F2D"/>
            </a:solidFill>
            <a:prstDash val="solid"/>
          </a:ln>
        </p:spPr>
      </p:sp>
      <p:sp>
        <p:nvSpPr>
          <p:cNvPr id="13" name="Text 11"/>
          <p:cNvSpPr/>
          <p:nvPr/>
        </p:nvSpPr>
        <p:spPr>
          <a:xfrm>
            <a:off x="3593592" y="28529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4" name="Text 12"/>
          <p:cNvSpPr/>
          <p:nvPr/>
        </p:nvSpPr>
        <p:spPr>
          <a:xfrm>
            <a:off x="3593592" y="3456432"/>
            <a:ext cx="2167128" cy="457200"/>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Accurate inventory</a:t>
            </a:r>
            <a:endParaRPr lang="en-US" sz="1300" dirty="0"/>
          </a:p>
        </p:txBody>
      </p:sp>
      <p:sp>
        <p:nvSpPr>
          <p:cNvPr id="15" name="Text 13"/>
          <p:cNvSpPr/>
          <p:nvPr/>
        </p:nvSpPr>
        <p:spPr>
          <a:xfrm>
            <a:off x="3593592" y="3895344"/>
            <a:ext cx="2167128" cy="41148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Tracked across all three warehouses</a:t>
            </a:r>
            <a:endParaRPr lang="en-US" sz="1050" dirty="0"/>
          </a:p>
        </p:txBody>
      </p:sp>
      <p:sp>
        <p:nvSpPr>
          <p:cNvPr id="16" name="Shape 14"/>
          <p:cNvSpPr/>
          <p:nvPr/>
        </p:nvSpPr>
        <p:spPr>
          <a:xfrm>
            <a:off x="6126480" y="2615184"/>
            <a:ext cx="2679192" cy="1783080"/>
          </a:xfrm>
          <a:prstGeom prst="roundRect">
            <a:avLst>
              <a:gd name="adj" fmla="val 4615"/>
            </a:avLst>
          </a:prstGeom>
          <a:solidFill>
            <a:srgbClr val="EEF3EA"/>
          </a:solidFill>
          <a:ln w="12700">
            <a:solidFill>
              <a:srgbClr val="EEF3EA"/>
            </a:solidFill>
            <a:prstDash val="solid"/>
          </a:ln>
        </p:spPr>
      </p:sp>
      <p:sp>
        <p:nvSpPr>
          <p:cNvPr id="17" name="Shape 15"/>
          <p:cNvSpPr/>
          <p:nvPr/>
        </p:nvSpPr>
        <p:spPr>
          <a:xfrm>
            <a:off x="6382512" y="2852928"/>
            <a:ext cx="502920" cy="502920"/>
          </a:xfrm>
          <a:prstGeom prst="ellipse">
            <a:avLst/>
          </a:prstGeom>
          <a:solidFill>
            <a:srgbClr val="2C5F2D"/>
          </a:solidFill>
          <a:ln w="12700">
            <a:solidFill>
              <a:srgbClr val="2C5F2D"/>
            </a:solidFill>
            <a:prstDash val="solid"/>
          </a:ln>
        </p:spPr>
      </p:sp>
      <p:sp>
        <p:nvSpPr>
          <p:cNvPr id="18" name="Text 16"/>
          <p:cNvSpPr/>
          <p:nvPr/>
        </p:nvSpPr>
        <p:spPr>
          <a:xfrm>
            <a:off x="6382512" y="28529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9" name="Text 17"/>
          <p:cNvSpPr/>
          <p:nvPr/>
        </p:nvSpPr>
        <p:spPr>
          <a:xfrm>
            <a:off x="6382512" y="3456432"/>
            <a:ext cx="2167128" cy="457200"/>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Donors &amp; families in one place</a:t>
            </a:r>
            <a:endParaRPr lang="en-US" sz="1300" dirty="0"/>
          </a:p>
        </p:txBody>
      </p:sp>
      <p:sp>
        <p:nvSpPr>
          <p:cNvPr id="20" name="Text 18"/>
          <p:cNvSpPr/>
          <p:nvPr/>
        </p:nvSpPr>
        <p:spPr>
          <a:xfrm>
            <a:off x="6382512" y="3895344"/>
            <a:ext cx="2167128" cy="41148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Single maintained record for each</a:t>
            </a:r>
            <a:endParaRPr lang="en-US" sz="1050" dirty="0"/>
          </a:p>
        </p:txBody>
      </p:sp>
      <p:sp>
        <p:nvSpPr>
          <p:cNvPr id="21" name="Shape 19"/>
          <p:cNvSpPr/>
          <p:nvPr/>
        </p:nvSpPr>
        <p:spPr>
          <a:xfrm>
            <a:off x="8915400" y="2615184"/>
            <a:ext cx="2679192" cy="1783080"/>
          </a:xfrm>
          <a:prstGeom prst="roundRect">
            <a:avLst>
              <a:gd name="adj" fmla="val 4615"/>
            </a:avLst>
          </a:prstGeom>
          <a:solidFill>
            <a:srgbClr val="F3F6F0"/>
          </a:solidFill>
          <a:ln w="12700">
            <a:solidFill>
              <a:srgbClr val="F3F6F0"/>
            </a:solidFill>
            <a:prstDash val="solid"/>
          </a:ln>
        </p:spPr>
      </p:sp>
      <p:sp>
        <p:nvSpPr>
          <p:cNvPr id="22" name="Shape 20"/>
          <p:cNvSpPr/>
          <p:nvPr/>
        </p:nvSpPr>
        <p:spPr>
          <a:xfrm>
            <a:off x="9171432" y="2852928"/>
            <a:ext cx="502920" cy="502920"/>
          </a:xfrm>
          <a:prstGeom prst="ellipse">
            <a:avLst/>
          </a:prstGeom>
          <a:solidFill>
            <a:srgbClr val="2C5F2D"/>
          </a:solidFill>
          <a:ln w="12700">
            <a:solidFill>
              <a:srgbClr val="2C5F2D"/>
            </a:solidFill>
            <a:prstDash val="solid"/>
          </a:ln>
        </p:spPr>
      </p:sp>
      <p:sp>
        <p:nvSpPr>
          <p:cNvPr id="23" name="Text 21"/>
          <p:cNvSpPr/>
          <p:nvPr/>
        </p:nvSpPr>
        <p:spPr>
          <a:xfrm>
            <a:off x="9171432" y="28529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4" name="Text 22"/>
          <p:cNvSpPr/>
          <p:nvPr/>
        </p:nvSpPr>
        <p:spPr>
          <a:xfrm>
            <a:off x="9171432" y="3456432"/>
            <a:ext cx="2167128" cy="457200"/>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Cut food waste</a:t>
            </a:r>
            <a:endParaRPr lang="en-US" sz="1300" dirty="0"/>
          </a:p>
        </p:txBody>
      </p:sp>
      <p:sp>
        <p:nvSpPr>
          <p:cNvPr id="25" name="Text 23"/>
          <p:cNvSpPr/>
          <p:nvPr/>
        </p:nvSpPr>
        <p:spPr>
          <a:xfrm>
            <a:off x="9171432" y="3895344"/>
            <a:ext cx="2167128" cy="41148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Prioritize items closest to expiry (FIFO)</a:t>
            </a:r>
            <a:endParaRPr lang="en-US" sz="1050" dirty="0"/>
          </a:p>
        </p:txBody>
      </p:sp>
      <p:sp>
        <p:nvSpPr>
          <p:cNvPr id="26" name="Shape 24"/>
          <p:cNvSpPr/>
          <p:nvPr/>
        </p:nvSpPr>
        <p:spPr>
          <a:xfrm>
            <a:off x="548640" y="4590288"/>
            <a:ext cx="3584448" cy="1783080"/>
          </a:xfrm>
          <a:prstGeom prst="roundRect">
            <a:avLst>
              <a:gd name="adj" fmla="val 4615"/>
            </a:avLst>
          </a:prstGeom>
          <a:solidFill>
            <a:srgbClr val="EEF3EA"/>
          </a:solidFill>
          <a:ln w="12700">
            <a:solidFill>
              <a:srgbClr val="EEF3EA"/>
            </a:solidFill>
            <a:prstDash val="solid"/>
          </a:ln>
        </p:spPr>
      </p:sp>
      <p:sp>
        <p:nvSpPr>
          <p:cNvPr id="27" name="Shape 25"/>
          <p:cNvSpPr/>
          <p:nvPr/>
        </p:nvSpPr>
        <p:spPr>
          <a:xfrm>
            <a:off x="804672" y="4828032"/>
            <a:ext cx="502920" cy="502920"/>
          </a:xfrm>
          <a:prstGeom prst="ellipse">
            <a:avLst/>
          </a:prstGeom>
          <a:solidFill>
            <a:srgbClr val="2C5F2D"/>
          </a:solidFill>
          <a:ln w="12700">
            <a:solidFill>
              <a:srgbClr val="2C5F2D"/>
            </a:solidFill>
            <a:prstDash val="solid"/>
          </a:ln>
        </p:spPr>
      </p:sp>
      <p:sp>
        <p:nvSpPr>
          <p:cNvPr id="28" name="Text 26"/>
          <p:cNvSpPr/>
          <p:nvPr/>
        </p:nvSpPr>
        <p:spPr>
          <a:xfrm>
            <a:off x="804672" y="4828032"/>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9" name="Text 27"/>
          <p:cNvSpPr/>
          <p:nvPr/>
        </p:nvSpPr>
        <p:spPr>
          <a:xfrm>
            <a:off x="804672" y="5431536"/>
            <a:ext cx="3072384" cy="457200"/>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Schedule collection &amp; distribution</a:t>
            </a:r>
            <a:endParaRPr lang="en-US" sz="1300" dirty="0"/>
          </a:p>
        </p:txBody>
      </p:sp>
      <p:sp>
        <p:nvSpPr>
          <p:cNvPr id="30" name="Text 28"/>
          <p:cNvSpPr/>
          <p:nvPr/>
        </p:nvSpPr>
        <p:spPr>
          <a:xfrm>
            <a:off x="804672" y="5870448"/>
            <a:ext cx="3072384" cy="41148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Pickup runs and monthly distribution</a:t>
            </a:r>
            <a:endParaRPr lang="en-US" sz="1050" dirty="0"/>
          </a:p>
        </p:txBody>
      </p:sp>
      <p:sp>
        <p:nvSpPr>
          <p:cNvPr id="31" name="Shape 29"/>
          <p:cNvSpPr/>
          <p:nvPr/>
        </p:nvSpPr>
        <p:spPr>
          <a:xfrm>
            <a:off x="4251960" y="4590288"/>
            <a:ext cx="3584448" cy="1783080"/>
          </a:xfrm>
          <a:prstGeom prst="roundRect">
            <a:avLst>
              <a:gd name="adj" fmla="val 4615"/>
            </a:avLst>
          </a:prstGeom>
          <a:solidFill>
            <a:srgbClr val="F3F6F0"/>
          </a:solidFill>
          <a:ln w="12700">
            <a:solidFill>
              <a:srgbClr val="F3F6F0"/>
            </a:solidFill>
            <a:prstDash val="solid"/>
          </a:ln>
        </p:spPr>
      </p:sp>
      <p:sp>
        <p:nvSpPr>
          <p:cNvPr id="32" name="Shape 30"/>
          <p:cNvSpPr/>
          <p:nvPr/>
        </p:nvSpPr>
        <p:spPr>
          <a:xfrm>
            <a:off x="4507992" y="4828032"/>
            <a:ext cx="502920" cy="502920"/>
          </a:xfrm>
          <a:prstGeom prst="ellipse">
            <a:avLst/>
          </a:prstGeom>
          <a:solidFill>
            <a:srgbClr val="2C5F2D"/>
          </a:solidFill>
          <a:ln w="12700">
            <a:solidFill>
              <a:srgbClr val="2C5F2D"/>
            </a:solidFill>
            <a:prstDash val="solid"/>
          </a:ln>
        </p:spPr>
      </p:sp>
      <p:sp>
        <p:nvSpPr>
          <p:cNvPr id="33" name="Text 31"/>
          <p:cNvSpPr/>
          <p:nvPr/>
        </p:nvSpPr>
        <p:spPr>
          <a:xfrm>
            <a:off x="4507992" y="4828032"/>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4" name="Text 32"/>
          <p:cNvSpPr/>
          <p:nvPr/>
        </p:nvSpPr>
        <p:spPr>
          <a:xfrm>
            <a:off x="4507992" y="5431536"/>
            <a:ext cx="3072384" cy="457200"/>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Reports at a glance</a:t>
            </a:r>
            <a:endParaRPr lang="en-US" sz="1300" dirty="0"/>
          </a:p>
        </p:txBody>
      </p:sp>
      <p:sp>
        <p:nvSpPr>
          <p:cNvPr id="35" name="Text 33"/>
          <p:cNvSpPr/>
          <p:nvPr/>
        </p:nvSpPr>
        <p:spPr>
          <a:xfrm>
            <a:off x="4507992" y="5870448"/>
            <a:ext cx="3072384" cy="41148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Staff monitor inventory and donations directly</a:t>
            </a:r>
            <a:endParaRPr lang="en-US" sz="1050" dirty="0"/>
          </a:p>
        </p:txBody>
      </p:sp>
      <p:sp>
        <p:nvSpPr>
          <p:cNvPr id="36" name="Shape 34"/>
          <p:cNvSpPr/>
          <p:nvPr/>
        </p:nvSpPr>
        <p:spPr>
          <a:xfrm>
            <a:off x="7955280" y="4590288"/>
            <a:ext cx="3584448" cy="1783080"/>
          </a:xfrm>
          <a:prstGeom prst="roundRect">
            <a:avLst>
              <a:gd name="adj" fmla="val 4615"/>
            </a:avLst>
          </a:prstGeom>
          <a:solidFill>
            <a:srgbClr val="EEF3EA"/>
          </a:solidFill>
          <a:ln w="12700">
            <a:solidFill>
              <a:srgbClr val="EEF3EA"/>
            </a:solidFill>
            <a:prstDash val="solid"/>
          </a:ln>
        </p:spPr>
      </p:sp>
      <p:sp>
        <p:nvSpPr>
          <p:cNvPr id="37" name="Shape 35"/>
          <p:cNvSpPr/>
          <p:nvPr/>
        </p:nvSpPr>
        <p:spPr>
          <a:xfrm>
            <a:off x="8211312" y="4828032"/>
            <a:ext cx="502920" cy="502920"/>
          </a:xfrm>
          <a:prstGeom prst="ellipse">
            <a:avLst/>
          </a:prstGeom>
          <a:solidFill>
            <a:srgbClr val="2C5F2D"/>
          </a:solidFill>
          <a:ln w="12700">
            <a:solidFill>
              <a:srgbClr val="2C5F2D"/>
            </a:solidFill>
            <a:prstDash val="solid"/>
          </a:ln>
        </p:spPr>
      </p:sp>
      <p:sp>
        <p:nvSpPr>
          <p:cNvPr id="38" name="Text 36"/>
          <p:cNvSpPr/>
          <p:nvPr/>
        </p:nvSpPr>
        <p:spPr>
          <a:xfrm>
            <a:off x="8211312" y="4828032"/>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39" name="Text 37"/>
          <p:cNvSpPr/>
          <p:nvPr/>
        </p:nvSpPr>
        <p:spPr>
          <a:xfrm>
            <a:off x="8211312" y="5431536"/>
            <a:ext cx="3072384" cy="457200"/>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Better partner communication</a:t>
            </a:r>
            <a:endParaRPr lang="en-US" sz="1300" dirty="0"/>
          </a:p>
        </p:txBody>
      </p:sp>
      <p:sp>
        <p:nvSpPr>
          <p:cNvPr id="40" name="Text 38"/>
          <p:cNvSpPr/>
          <p:nvPr/>
        </p:nvSpPr>
        <p:spPr>
          <a:xfrm>
            <a:off x="8211312" y="5870448"/>
            <a:ext cx="3072384" cy="41148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Between FoodShare and its partner organizations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Project Scope</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6 — nine functions in, six explicitly out</a:t>
            </a:r>
            <a:endParaRPr lang="en-US" sz="1400" dirty="0"/>
          </a:p>
        </p:txBody>
      </p:sp>
      <p:sp>
        <p:nvSpPr>
          <p:cNvPr id="4" name="Shape 2"/>
          <p:cNvSpPr/>
          <p:nvPr/>
        </p:nvSpPr>
        <p:spPr>
          <a:xfrm>
            <a:off x="548640" y="1463040"/>
            <a:ext cx="5486400" cy="4572000"/>
          </a:xfrm>
          <a:prstGeom prst="roundRect">
            <a:avLst>
              <a:gd name="adj" fmla="val 1800"/>
            </a:avLst>
          </a:prstGeom>
          <a:solidFill>
            <a:srgbClr val="EEF3EA"/>
          </a:solidFill>
          <a:ln w="12700">
            <a:solidFill>
              <a:srgbClr val="EEF3EA"/>
            </a:solidFill>
            <a:prstDash val="solid"/>
          </a:ln>
        </p:spPr>
      </p:sp>
      <p:sp>
        <p:nvSpPr>
          <p:cNvPr id="5" name="Shape 3"/>
          <p:cNvSpPr/>
          <p:nvPr/>
        </p:nvSpPr>
        <p:spPr>
          <a:xfrm>
            <a:off x="841248" y="1691640"/>
            <a:ext cx="1280160" cy="310896"/>
          </a:xfrm>
          <a:prstGeom prst="roundRect">
            <a:avLst>
              <a:gd name="adj" fmla="val 23529"/>
            </a:avLst>
          </a:prstGeom>
          <a:solidFill>
            <a:srgbClr val="2C5F2D"/>
          </a:solidFill>
          <a:ln w="12700">
            <a:solidFill>
              <a:srgbClr val="2C5F2D"/>
            </a:solidFill>
            <a:prstDash val="solid"/>
          </a:ln>
        </p:spPr>
      </p:sp>
      <p:sp>
        <p:nvSpPr>
          <p:cNvPr id="6" name="Text 4"/>
          <p:cNvSpPr/>
          <p:nvPr/>
        </p:nvSpPr>
        <p:spPr>
          <a:xfrm>
            <a:off x="841248" y="1691640"/>
            <a:ext cx="12801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 SCOPE</a:t>
            </a:r>
            <a:endParaRPr lang="en-US" sz="1100" dirty="0"/>
          </a:p>
        </p:txBody>
      </p:sp>
      <p:sp>
        <p:nvSpPr>
          <p:cNvPr id="7" name="Shape 5"/>
          <p:cNvSpPr/>
          <p:nvPr/>
        </p:nvSpPr>
        <p:spPr>
          <a:xfrm>
            <a:off x="896112" y="2295144"/>
            <a:ext cx="164592" cy="164592"/>
          </a:xfrm>
          <a:prstGeom prst="ellipse">
            <a:avLst/>
          </a:prstGeom>
          <a:solidFill>
            <a:srgbClr val="2C5F2D"/>
          </a:solidFill>
          <a:ln w="12700">
            <a:solidFill>
              <a:srgbClr val="2C5F2D"/>
            </a:solidFill>
            <a:prstDash val="solid"/>
          </a:ln>
        </p:spPr>
      </p:sp>
      <p:sp>
        <p:nvSpPr>
          <p:cNvPr id="8" name="Text 6"/>
          <p:cNvSpPr/>
          <p:nvPr/>
        </p:nvSpPr>
        <p:spPr>
          <a:xfrm>
            <a:off x="1207008" y="2176272"/>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Donor registration</a:t>
            </a:r>
            <a:endParaRPr lang="en-US" sz="1300" dirty="0"/>
          </a:p>
        </p:txBody>
      </p:sp>
      <p:sp>
        <p:nvSpPr>
          <p:cNvPr id="9" name="Shape 7"/>
          <p:cNvSpPr/>
          <p:nvPr/>
        </p:nvSpPr>
        <p:spPr>
          <a:xfrm>
            <a:off x="896112" y="2715768"/>
            <a:ext cx="164592" cy="164592"/>
          </a:xfrm>
          <a:prstGeom prst="ellipse">
            <a:avLst/>
          </a:prstGeom>
          <a:solidFill>
            <a:srgbClr val="2C5F2D"/>
          </a:solidFill>
          <a:ln w="12700">
            <a:solidFill>
              <a:srgbClr val="2C5F2D"/>
            </a:solidFill>
            <a:prstDash val="solid"/>
          </a:ln>
        </p:spPr>
      </p:sp>
      <p:sp>
        <p:nvSpPr>
          <p:cNvPr id="10" name="Text 8"/>
          <p:cNvSpPr/>
          <p:nvPr/>
        </p:nvSpPr>
        <p:spPr>
          <a:xfrm>
            <a:off x="1207008" y="2596896"/>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Family registration</a:t>
            </a:r>
            <a:endParaRPr lang="en-US" sz="1300" dirty="0"/>
          </a:p>
        </p:txBody>
      </p:sp>
      <p:sp>
        <p:nvSpPr>
          <p:cNvPr id="11" name="Shape 9"/>
          <p:cNvSpPr/>
          <p:nvPr/>
        </p:nvSpPr>
        <p:spPr>
          <a:xfrm>
            <a:off x="896112" y="3136392"/>
            <a:ext cx="164592" cy="164592"/>
          </a:xfrm>
          <a:prstGeom prst="ellipse">
            <a:avLst/>
          </a:prstGeom>
          <a:solidFill>
            <a:srgbClr val="2C5F2D"/>
          </a:solidFill>
          <a:ln w="12700">
            <a:solidFill>
              <a:srgbClr val="2C5F2D"/>
            </a:solidFill>
            <a:prstDash val="solid"/>
          </a:ln>
        </p:spPr>
      </p:sp>
      <p:sp>
        <p:nvSpPr>
          <p:cNvPr id="12" name="Text 10"/>
          <p:cNvSpPr/>
          <p:nvPr/>
        </p:nvSpPr>
        <p:spPr>
          <a:xfrm>
            <a:off x="1207008" y="3017520"/>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Food donation records</a:t>
            </a:r>
            <a:endParaRPr lang="en-US" sz="1300" dirty="0"/>
          </a:p>
        </p:txBody>
      </p:sp>
      <p:sp>
        <p:nvSpPr>
          <p:cNvPr id="13" name="Shape 11"/>
          <p:cNvSpPr/>
          <p:nvPr/>
        </p:nvSpPr>
        <p:spPr>
          <a:xfrm>
            <a:off x="896112" y="3557016"/>
            <a:ext cx="164592" cy="164592"/>
          </a:xfrm>
          <a:prstGeom prst="ellipse">
            <a:avLst/>
          </a:prstGeom>
          <a:solidFill>
            <a:srgbClr val="2C5F2D"/>
          </a:solidFill>
          <a:ln w="12700">
            <a:solidFill>
              <a:srgbClr val="2C5F2D"/>
            </a:solidFill>
            <a:prstDash val="solid"/>
          </a:ln>
        </p:spPr>
      </p:sp>
      <p:sp>
        <p:nvSpPr>
          <p:cNvPr id="14" name="Text 12"/>
          <p:cNvSpPr/>
          <p:nvPr/>
        </p:nvSpPr>
        <p:spPr>
          <a:xfrm>
            <a:off x="1207008" y="3438144"/>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Inventory management</a:t>
            </a:r>
            <a:endParaRPr lang="en-US" sz="1300" dirty="0"/>
          </a:p>
        </p:txBody>
      </p:sp>
      <p:sp>
        <p:nvSpPr>
          <p:cNvPr id="15" name="Shape 13"/>
          <p:cNvSpPr/>
          <p:nvPr/>
        </p:nvSpPr>
        <p:spPr>
          <a:xfrm>
            <a:off x="896112" y="3977640"/>
            <a:ext cx="164592" cy="164592"/>
          </a:xfrm>
          <a:prstGeom prst="ellipse">
            <a:avLst/>
          </a:prstGeom>
          <a:solidFill>
            <a:srgbClr val="2C5F2D"/>
          </a:solidFill>
          <a:ln w="12700">
            <a:solidFill>
              <a:srgbClr val="2C5F2D"/>
            </a:solidFill>
            <a:prstDash val="solid"/>
          </a:ln>
        </p:spPr>
      </p:sp>
      <p:sp>
        <p:nvSpPr>
          <p:cNvPr id="16" name="Text 14"/>
          <p:cNvSpPr/>
          <p:nvPr/>
        </p:nvSpPr>
        <p:spPr>
          <a:xfrm>
            <a:off x="1207008" y="3858768"/>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Management of all three warehouses</a:t>
            </a:r>
            <a:endParaRPr lang="en-US" sz="1300" dirty="0"/>
          </a:p>
        </p:txBody>
      </p:sp>
      <p:sp>
        <p:nvSpPr>
          <p:cNvPr id="17" name="Shape 15"/>
          <p:cNvSpPr/>
          <p:nvPr/>
        </p:nvSpPr>
        <p:spPr>
          <a:xfrm>
            <a:off x="896112" y="4398264"/>
            <a:ext cx="164592" cy="164592"/>
          </a:xfrm>
          <a:prstGeom prst="ellipse">
            <a:avLst/>
          </a:prstGeom>
          <a:solidFill>
            <a:srgbClr val="2C5F2D"/>
          </a:solidFill>
          <a:ln w="12700">
            <a:solidFill>
              <a:srgbClr val="2C5F2D"/>
            </a:solidFill>
            <a:prstDash val="solid"/>
          </a:ln>
        </p:spPr>
      </p:sp>
      <p:sp>
        <p:nvSpPr>
          <p:cNvPr id="18" name="Text 16"/>
          <p:cNvSpPr/>
          <p:nvPr/>
        </p:nvSpPr>
        <p:spPr>
          <a:xfrm>
            <a:off x="1207008" y="4279392"/>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Transportation management</a:t>
            </a:r>
            <a:endParaRPr lang="en-US" sz="1300" dirty="0"/>
          </a:p>
        </p:txBody>
      </p:sp>
      <p:sp>
        <p:nvSpPr>
          <p:cNvPr id="19" name="Shape 17"/>
          <p:cNvSpPr/>
          <p:nvPr/>
        </p:nvSpPr>
        <p:spPr>
          <a:xfrm>
            <a:off x="896112" y="4818888"/>
            <a:ext cx="164592" cy="164592"/>
          </a:xfrm>
          <a:prstGeom prst="ellipse">
            <a:avLst/>
          </a:prstGeom>
          <a:solidFill>
            <a:srgbClr val="2C5F2D"/>
          </a:solidFill>
          <a:ln w="12700">
            <a:solidFill>
              <a:srgbClr val="2C5F2D"/>
            </a:solidFill>
            <a:prstDash val="solid"/>
          </a:ln>
        </p:spPr>
      </p:sp>
      <p:sp>
        <p:nvSpPr>
          <p:cNvPr id="20" name="Text 18"/>
          <p:cNvSpPr/>
          <p:nvPr/>
        </p:nvSpPr>
        <p:spPr>
          <a:xfrm>
            <a:off x="1207008" y="4700016"/>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Monthly food distribution schedule</a:t>
            </a:r>
            <a:endParaRPr lang="en-US" sz="1300" dirty="0"/>
          </a:p>
        </p:txBody>
      </p:sp>
      <p:sp>
        <p:nvSpPr>
          <p:cNvPr id="21" name="Shape 19"/>
          <p:cNvSpPr/>
          <p:nvPr/>
        </p:nvSpPr>
        <p:spPr>
          <a:xfrm>
            <a:off x="896112" y="5239512"/>
            <a:ext cx="164592" cy="164592"/>
          </a:xfrm>
          <a:prstGeom prst="ellipse">
            <a:avLst/>
          </a:prstGeom>
          <a:solidFill>
            <a:srgbClr val="2C5F2D"/>
          </a:solidFill>
          <a:ln w="12700">
            <a:solidFill>
              <a:srgbClr val="2C5F2D"/>
            </a:solidFill>
            <a:prstDash val="solid"/>
          </a:ln>
        </p:spPr>
      </p:sp>
      <p:sp>
        <p:nvSpPr>
          <p:cNvPr id="22" name="Text 20"/>
          <p:cNvSpPr/>
          <p:nvPr/>
        </p:nvSpPr>
        <p:spPr>
          <a:xfrm>
            <a:off x="1207008" y="5120640"/>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Food collection scheduling</a:t>
            </a:r>
            <a:endParaRPr lang="en-US" sz="1300" dirty="0"/>
          </a:p>
        </p:txBody>
      </p:sp>
      <p:sp>
        <p:nvSpPr>
          <p:cNvPr id="23" name="Shape 21"/>
          <p:cNvSpPr/>
          <p:nvPr/>
        </p:nvSpPr>
        <p:spPr>
          <a:xfrm>
            <a:off x="896112" y="5660136"/>
            <a:ext cx="164592" cy="164592"/>
          </a:xfrm>
          <a:prstGeom prst="ellipse">
            <a:avLst/>
          </a:prstGeom>
          <a:solidFill>
            <a:srgbClr val="2C5F2D"/>
          </a:solidFill>
          <a:ln w="12700">
            <a:solidFill>
              <a:srgbClr val="2C5F2D"/>
            </a:solidFill>
            <a:prstDash val="solid"/>
          </a:ln>
        </p:spPr>
      </p:sp>
      <p:sp>
        <p:nvSpPr>
          <p:cNvPr id="24" name="Text 22"/>
          <p:cNvSpPr/>
          <p:nvPr/>
        </p:nvSpPr>
        <p:spPr>
          <a:xfrm>
            <a:off x="1207008" y="5541264"/>
            <a:ext cx="466344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Reporting on inventory and donations</a:t>
            </a:r>
            <a:endParaRPr lang="en-US" sz="1300" dirty="0"/>
          </a:p>
        </p:txBody>
      </p:sp>
      <p:sp>
        <p:nvSpPr>
          <p:cNvPr id="25" name="Shape 23"/>
          <p:cNvSpPr/>
          <p:nvPr/>
        </p:nvSpPr>
        <p:spPr>
          <a:xfrm>
            <a:off x="6355080" y="1463040"/>
            <a:ext cx="5285232" cy="4572000"/>
          </a:xfrm>
          <a:prstGeom prst="roundRect">
            <a:avLst>
              <a:gd name="adj" fmla="val 1800"/>
            </a:avLst>
          </a:prstGeom>
          <a:solidFill>
            <a:srgbClr val="F5F2EE"/>
          </a:solidFill>
          <a:ln w="12700">
            <a:solidFill>
              <a:srgbClr val="F5F2EE"/>
            </a:solidFill>
            <a:prstDash val="solid"/>
          </a:ln>
        </p:spPr>
      </p:sp>
      <p:sp>
        <p:nvSpPr>
          <p:cNvPr id="26" name="Shape 24"/>
          <p:cNvSpPr/>
          <p:nvPr/>
        </p:nvSpPr>
        <p:spPr>
          <a:xfrm>
            <a:off x="6647688" y="1691640"/>
            <a:ext cx="1600200" cy="310896"/>
          </a:xfrm>
          <a:prstGeom prst="roundRect">
            <a:avLst>
              <a:gd name="adj" fmla="val 23529"/>
            </a:avLst>
          </a:prstGeom>
          <a:solidFill>
            <a:srgbClr val="D97A26"/>
          </a:solidFill>
          <a:ln w="12700">
            <a:solidFill>
              <a:srgbClr val="D97A26"/>
            </a:solidFill>
            <a:prstDash val="solid"/>
          </a:ln>
        </p:spPr>
      </p:sp>
      <p:sp>
        <p:nvSpPr>
          <p:cNvPr id="27" name="Text 25"/>
          <p:cNvSpPr/>
          <p:nvPr/>
        </p:nvSpPr>
        <p:spPr>
          <a:xfrm>
            <a:off x="6647688" y="1691640"/>
            <a:ext cx="160020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 OF SCOPE</a:t>
            </a:r>
            <a:endParaRPr lang="en-US" sz="1100" dirty="0"/>
          </a:p>
        </p:txBody>
      </p:sp>
      <p:sp>
        <p:nvSpPr>
          <p:cNvPr id="28" name="Shape 26"/>
          <p:cNvSpPr/>
          <p:nvPr/>
        </p:nvSpPr>
        <p:spPr>
          <a:xfrm>
            <a:off x="6702552" y="2359152"/>
            <a:ext cx="164592" cy="41148"/>
          </a:xfrm>
          <a:prstGeom prst="rect">
            <a:avLst/>
          </a:prstGeom>
          <a:solidFill>
            <a:srgbClr val="D97A26"/>
          </a:solidFill>
          <a:ln w="12700">
            <a:solidFill>
              <a:srgbClr val="D97A26"/>
            </a:solidFill>
            <a:prstDash val="solid"/>
          </a:ln>
        </p:spPr>
      </p:sp>
      <p:sp>
        <p:nvSpPr>
          <p:cNvPr id="29" name="Text 27"/>
          <p:cNvSpPr/>
          <p:nvPr/>
        </p:nvSpPr>
        <p:spPr>
          <a:xfrm>
            <a:off x="7013448" y="2176272"/>
            <a:ext cx="438912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Cash donations</a:t>
            </a:r>
            <a:endParaRPr lang="en-US" sz="1300" dirty="0"/>
          </a:p>
        </p:txBody>
      </p:sp>
      <p:sp>
        <p:nvSpPr>
          <p:cNvPr id="30" name="Shape 28"/>
          <p:cNvSpPr/>
          <p:nvPr/>
        </p:nvSpPr>
        <p:spPr>
          <a:xfrm>
            <a:off x="6702552" y="2779776"/>
            <a:ext cx="164592" cy="41148"/>
          </a:xfrm>
          <a:prstGeom prst="rect">
            <a:avLst/>
          </a:prstGeom>
          <a:solidFill>
            <a:srgbClr val="D97A26"/>
          </a:solidFill>
          <a:ln w="12700">
            <a:solidFill>
              <a:srgbClr val="D97A26"/>
            </a:solidFill>
            <a:prstDash val="solid"/>
          </a:ln>
        </p:spPr>
      </p:sp>
      <p:sp>
        <p:nvSpPr>
          <p:cNvPr id="31" name="Text 29"/>
          <p:cNvSpPr/>
          <p:nvPr/>
        </p:nvSpPr>
        <p:spPr>
          <a:xfrm>
            <a:off x="7013448" y="2596896"/>
            <a:ext cx="438912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Online payment processing</a:t>
            </a:r>
            <a:endParaRPr lang="en-US" sz="1300" dirty="0"/>
          </a:p>
        </p:txBody>
      </p:sp>
      <p:sp>
        <p:nvSpPr>
          <p:cNvPr id="32" name="Shape 30"/>
          <p:cNvSpPr/>
          <p:nvPr/>
        </p:nvSpPr>
        <p:spPr>
          <a:xfrm>
            <a:off x="6702552" y="3200400"/>
            <a:ext cx="164592" cy="41148"/>
          </a:xfrm>
          <a:prstGeom prst="rect">
            <a:avLst/>
          </a:prstGeom>
          <a:solidFill>
            <a:srgbClr val="D97A26"/>
          </a:solidFill>
          <a:ln w="12700">
            <a:solidFill>
              <a:srgbClr val="D97A26"/>
            </a:solidFill>
            <a:prstDash val="solid"/>
          </a:ln>
        </p:spPr>
      </p:sp>
      <p:sp>
        <p:nvSpPr>
          <p:cNvPr id="33" name="Text 31"/>
          <p:cNvSpPr/>
          <p:nvPr/>
        </p:nvSpPr>
        <p:spPr>
          <a:xfrm>
            <a:off x="7013448" y="3017520"/>
            <a:ext cx="438912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International food distribution</a:t>
            </a:r>
            <a:endParaRPr lang="en-US" sz="1300" dirty="0"/>
          </a:p>
        </p:txBody>
      </p:sp>
      <p:sp>
        <p:nvSpPr>
          <p:cNvPr id="34" name="Shape 32"/>
          <p:cNvSpPr/>
          <p:nvPr/>
        </p:nvSpPr>
        <p:spPr>
          <a:xfrm>
            <a:off x="6702552" y="3621024"/>
            <a:ext cx="164592" cy="41148"/>
          </a:xfrm>
          <a:prstGeom prst="rect">
            <a:avLst/>
          </a:prstGeom>
          <a:solidFill>
            <a:srgbClr val="D97A26"/>
          </a:solidFill>
          <a:ln w="12700">
            <a:solidFill>
              <a:srgbClr val="D97A26"/>
            </a:solidFill>
            <a:prstDash val="solid"/>
          </a:ln>
        </p:spPr>
      </p:sp>
      <p:sp>
        <p:nvSpPr>
          <p:cNvPr id="35" name="Text 33"/>
          <p:cNvSpPr/>
          <p:nvPr/>
        </p:nvSpPr>
        <p:spPr>
          <a:xfrm>
            <a:off x="7013448" y="3438144"/>
            <a:ext cx="438912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Clothing donations</a:t>
            </a:r>
            <a:endParaRPr lang="en-US" sz="1300" dirty="0"/>
          </a:p>
        </p:txBody>
      </p:sp>
      <p:sp>
        <p:nvSpPr>
          <p:cNvPr id="36" name="Shape 34"/>
          <p:cNvSpPr/>
          <p:nvPr/>
        </p:nvSpPr>
        <p:spPr>
          <a:xfrm>
            <a:off x="6702552" y="4041648"/>
            <a:ext cx="164592" cy="41148"/>
          </a:xfrm>
          <a:prstGeom prst="rect">
            <a:avLst/>
          </a:prstGeom>
          <a:solidFill>
            <a:srgbClr val="D97A26"/>
          </a:solidFill>
          <a:ln w="12700">
            <a:solidFill>
              <a:srgbClr val="D97A26"/>
            </a:solidFill>
            <a:prstDash val="solid"/>
          </a:ln>
        </p:spPr>
      </p:sp>
      <p:sp>
        <p:nvSpPr>
          <p:cNvPr id="37" name="Text 35"/>
          <p:cNvSpPr/>
          <p:nvPr/>
        </p:nvSpPr>
        <p:spPr>
          <a:xfrm>
            <a:off x="7013448" y="3858768"/>
            <a:ext cx="438912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Medical services</a:t>
            </a:r>
            <a:endParaRPr lang="en-US" sz="1300" dirty="0"/>
          </a:p>
        </p:txBody>
      </p:sp>
      <p:sp>
        <p:nvSpPr>
          <p:cNvPr id="38" name="Shape 36"/>
          <p:cNvSpPr/>
          <p:nvPr/>
        </p:nvSpPr>
        <p:spPr>
          <a:xfrm>
            <a:off x="6702552" y="4462272"/>
            <a:ext cx="164592" cy="41148"/>
          </a:xfrm>
          <a:prstGeom prst="rect">
            <a:avLst/>
          </a:prstGeom>
          <a:solidFill>
            <a:srgbClr val="D97A26"/>
          </a:solidFill>
          <a:ln w="12700">
            <a:solidFill>
              <a:srgbClr val="D97A26"/>
            </a:solidFill>
            <a:prstDash val="solid"/>
          </a:ln>
        </p:spPr>
      </p:sp>
      <p:sp>
        <p:nvSpPr>
          <p:cNvPr id="39" name="Text 37"/>
          <p:cNvSpPr/>
          <p:nvPr/>
        </p:nvSpPr>
        <p:spPr>
          <a:xfrm>
            <a:off x="7013448" y="4279392"/>
            <a:ext cx="4389120" cy="384048"/>
          </a:xfrm>
          <a:prstGeom prst="rect">
            <a:avLst/>
          </a:prstGeom>
          <a:noFill/>
          <a:ln/>
        </p:spPr>
        <p:txBody>
          <a:bodyPr wrap="square" lIns="0" tIns="0" rIns="0" bIns="0" rtlCol="0" anchor="ctr"/>
          <a:lstStyle/>
          <a:p>
            <a:pPr marL="0" indent="0">
              <a:buNone/>
            </a:pPr>
            <a:r>
              <a:rPr lang="en-US" sz="1300" dirty="0">
                <a:solidFill>
                  <a:srgbClr val="1A2E20"/>
                </a:solidFill>
                <a:latin typeface="Calibri" pitchFamily="34" charset="0"/>
                <a:ea typeface="Calibri" pitchFamily="34" charset="-122"/>
                <a:cs typeface="Calibri" pitchFamily="34" charset="-120"/>
              </a:rPr>
              <a:t>Disaster relief programs</a:t>
            </a:r>
            <a:endParaRPr lang="en-US" sz="1300" dirty="0"/>
          </a:p>
        </p:txBody>
      </p:sp>
      <p:sp>
        <p:nvSpPr>
          <p:cNvPr id="40" name="Text 38"/>
          <p:cNvSpPr/>
          <p:nvPr/>
        </p:nvSpPr>
        <p:spPr>
          <a:xfrm>
            <a:off x="6647688" y="4892040"/>
            <a:ext cx="4700016" cy="914400"/>
          </a:xfrm>
          <a:prstGeom prst="rect">
            <a:avLst/>
          </a:prstGeom>
          <a:noFill/>
          <a:ln/>
        </p:spPr>
        <p:txBody>
          <a:bodyPr wrap="square" lIns="0" tIns="0" rIns="0" bIns="0" rtlCol="0" anchor="ctr"/>
          <a:lstStyle/>
          <a:p>
            <a:pPr marL="0" indent="0">
              <a:lnSpc>
                <a:spcPts val="1800"/>
              </a:lnSpc>
              <a:buNone/>
            </a:pPr>
            <a:r>
              <a:rPr lang="en-US" sz="1150" i="1" dirty="0">
                <a:solidFill>
                  <a:srgbClr val="5F6F62"/>
                </a:solidFill>
                <a:latin typeface="Calibri" pitchFamily="34" charset="0"/>
                <a:ea typeface="Calibri" pitchFamily="34" charset="-122"/>
                <a:cs typeface="Calibri" pitchFamily="34" charset="-120"/>
              </a:rPr>
              <a:t>FoodShare accepts food items only — not money. Anything outside the donation-to-distribution pipeline is deliberately excluded to keep the build deliverable in one semester.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How the System Will Work</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7 — food reaches FoodShare through two channels</a:t>
            </a:r>
            <a:endParaRPr lang="en-US" sz="1400" dirty="0"/>
          </a:p>
        </p:txBody>
      </p:sp>
      <p:sp>
        <p:nvSpPr>
          <p:cNvPr id="4" name="Shape 2"/>
          <p:cNvSpPr/>
          <p:nvPr/>
        </p:nvSpPr>
        <p:spPr>
          <a:xfrm>
            <a:off x="548640" y="1481328"/>
            <a:ext cx="11091672" cy="2084832"/>
          </a:xfrm>
          <a:prstGeom prst="roundRect">
            <a:avLst>
              <a:gd name="adj" fmla="val 3947"/>
            </a:avLst>
          </a:prstGeom>
          <a:solidFill>
            <a:srgbClr val="EEF3EA"/>
          </a:solidFill>
          <a:ln w="12700">
            <a:solidFill>
              <a:srgbClr val="EEF3EA"/>
            </a:solidFill>
            <a:prstDash val="solid"/>
          </a:ln>
        </p:spPr>
      </p:sp>
      <p:sp>
        <p:nvSpPr>
          <p:cNvPr id="5" name="Shape 3"/>
          <p:cNvSpPr/>
          <p:nvPr/>
        </p:nvSpPr>
        <p:spPr>
          <a:xfrm>
            <a:off x="841248" y="1700784"/>
            <a:ext cx="3200400" cy="329184"/>
          </a:xfrm>
          <a:prstGeom prst="roundRect">
            <a:avLst>
              <a:gd name="adj" fmla="val 22222"/>
            </a:avLst>
          </a:prstGeom>
          <a:solidFill>
            <a:srgbClr val="2C5F2D"/>
          </a:solidFill>
          <a:ln w="12700">
            <a:solidFill>
              <a:srgbClr val="2C5F2D"/>
            </a:solidFill>
            <a:prstDash val="solid"/>
          </a:ln>
        </p:spPr>
      </p:sp>
      <p:sp>
        <p:nvSpPr>
          <p:cNvPr id="6" name="Text 4"/>
          <p:cNvSpPr/>
          <p:nvPr/>
        </p:nvSpPr>
        <p:spPr>
          <a:xfrm>
            <a:off x="841248" y="1700784"/>
            <a:ext cx="32004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METHOD 1 — PICKUP FROM PARTNER LOCATIONS</a:t>
            </a:r>
            <a:endParaRPr lang="en-US" sz="1050" dirty="0"/>
          </a:p>
        </p:txBody>
      </p:sp>
      <p:sp>
        <p:nvSpPr>
          <p:cNvPr id="7" name="Shape 5"/>
          <p:cNvSpPr/>
          <p:nvPr/>
        </p:nvSpPr>
        <p:spPr>
          <a:xfrm>
            <a:off x="841248" y="2212848"/>
            <a:ext cx="457200" cy="457200"/>
          </a:xfrm>
          <a:prstGeom prst="ellipse">
            <a:avLst/>
          </a:prstGeom>
          <a:solidFill>
            <a:srgbClr val="2C5F2D"/>
          </a:solidFill>
          <a:ln w="12700">
            <a:solidFill>
              <a:srgbClr val="2C5F2D"/>
            </a:solidFill>
            <a:prstDash val="solid"/>
          </a:ln>
        </p:spPr>
      </p:sp>
      <p:sp>
        <p:nvSpPr>
          <p:cNvPr id="8" name="Text 6"/>
          <p:cNvSpPr/>
          <p:nvPr/>
        </p:nvSpPr>
        <p:spPr>
          <a:xfrm>
            <a:off x="841248" y="22128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408176" y="2212848"/>
            <a:ext cx="201168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Partner logs in</a:t>
            </a:r>
            <a:endParaRPr lang="en-US" sz="1250" dirty="0"/>
          </a:p>
        </p:txBody>
      </p:sp>
      <p:sp>
        <p:nvSpPr>
          <p:cNvPr id="10" name="Text 8"/>
          <p:cNvSpPr/>
          <p:nvPr/>
        </p:nvSpPr>
        <p:spPr>
          <a:xfrm>
            <a:off x="841248" y="2743200"/>
            <a:ext cx="2487168" cy="658368"/>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Grocery stores, restaurants, farms and community organizations use the FoodShare portal</a:t>
            </a:r>
            <a:endParaRPr lang="en-US" sz="1050" dirty="0"/>
          </a:p>
        </p:txBody>
      </p:sp>
      <p:sp>
        <p:nvSpPr>
          <p:cNvPr id="11" name="Shape 9"/>
          <p:cNvSpPr/>
          <p:nvPr/>
        </p:nvSpPr>
        <p:spPr>
          <a:xfrm>
            <a:off x="3236976" y="2359152"/>
            <a:ext cx="237744" cy="164592"/>
          </a:xfrm>
          <a:prstGeom prst="rightArrow">
            <a:avLst/>
          </a:prstGeom>
          <a:solidFill>
            <a:srgbClr val="97BC62"/>
          </a:solidFill>
          <a:ln w="12700">
            <a:solidFill>
              <a:srgbClr val="97BC62"/>
            </a:solidFill>
            <a:prstDash val="solid"/>
          </a:ln>
        </p:spPr>
      </p:sp>
      <p:sp>
        <p:nvSpPr>
          <p:cNvPr id="12" name="Shape 10"/>
          <p:cNvSpPr/>
          <p:nvPr/>
        </p:nvSpPr>
        <p:spPr>
          <a:xfrm>
            <a:off x="3566160" y="2212848"/>
            <a:ext cx="457200" cy="457200"/>
          </a:xfrm>
          <a:prstGeom prst="ellipse">
            <a:avLst/>
          </a:prstGeom>
          <a:solidFill>
            <a:srgbClr val="2C5F2D"/>
          </a:solidFill>
          <a:ln w="12700">
            <a:solidFill>
              <a:srgbClr val="2C5F2D"/>
            </a:solidFill>
            <a:prstDash val="solid"/>
          </a:ln>
        </p:spPr>
      </p:sp>
      <p:sp>
        <p:nvSpPr>
          <p:cNvPr id="13" name="Text 11"/>
          <p:cNvSpPr/>
          <p:nvPr/>
        </p:nvSpPr>
        <p:spPr>
          <a:xfrm>
            <a:off x="3566160" y="22128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4133088" y="2212848"/>
            <a:ext cx="201168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Donation entered</a:t>
            </a:r>
            <a:endParaRPr lang="en-US" sz="1250" dirty="0"/>
          </a:p>
        </p:txBody>
      </p:sp>
      <p:sp>
        <p:nvSpPr>
          <p:cNvPr id="15" name="Text 13"/>
          <p:cNvSpPr/>
          <p:nvPr/>
        </p:nvSpPr>
        <p:spPr>
          <a:xfrm>
            <a:off x="3566160" y="2743200"/>
            <a:ext cx="2487168" cy="658368"/>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Item, quantity, expiry date and food category are submitted</a:t>
            </a:r>
            <a:endParaRPr lang="en-US" sz="1050" dirty="0"/>
          </a:p>
        </p:txBody>
      </p:sp>
      <p:sp>
        <p:nvSpPr>
          <p:cNvPr id="16" name="Shape 14"/>
          <p:cNvSpPr/>
          <p:nvPr/>
        </p:nvSpPr>
        <p:spPr>
          <a:xfrm>
            <a:off x="5961888" y="2359152"/>
            <a:ext cx="237744" cy="164592"/>
          </a:xfrm>
          <a:prstGeom prst="rightArrow">
            <a:avLst/>
          </a:prstGeom>
          <a:solidFill>
            <a:srgbClr val="97BC62"/>
          </a:solidFill>
          <a:ln w="12700">
            <a:solidFill>
              <a:srgbClr val="97BC62"/>
            </a:solidFill>
            <a:prstDash val="solid"/>
          </a:ln>
        </p:spPr>
      </p:sp>
      <p:sp>
        <p:nvSpPr>
          <p:cNvPr id="17" name="Shape 15"/>
          <p:cNvSpPr/>
          <p:nvPr/>
        </p:nvSpPr>
        <p:spPr>
          <a:xfrm>
            <a:off x="6291072" y="2212848"/>
            <a:ext cx="457200" cy="457200"/>
          </a:xfrm>
          <a:prstGeom prst="ellipse">
            <a:avLst/>
          </a:prstGeom>
          <a:solidFill>
            <a:srgbClr val="2C5F2D"/>
          </a:solidFill>
          <a:ln w="12700">
            <a:solidFill>
              <a:srgbClr val="2C5F2D"/>
            </a:solidFill>
            <a:prstDash val="solid"/>
          </a:ln>
        </p:spPr>
      </p:sp>
      <p:sp>
        <p:nvSpPr>
          <p:cNvPr id="18" name="Text 16"/>
          <p:cNvSpPr/>
          <p:nvPr/>
        </p:nvSpPr>
        <p:spPr>
          <a:xfrm>
            <a:off x="6291072" y="22128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858000" y="2212848"/>
            <a:ext cx="201168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Pickup scheduled</a:t>
            </a:r>
            <a:endParaRPr lang="en-US" sz="1250" dirty="0"/>
          </a:p>
        </p:txBody>
      </p:sp>
      <p:sp>
        <p:nvSpPr>
          <p:cNvPr id="20" name="Text 18"/>
          <p:cNvSpPr/>
          <p:nvPr/>
        </p:nvSpPr>
        <p:spPr>
          <a:xfrm>
            <a:off x="6291072" y="2743200"/>
            <a:ext cx="2487168" cy="658368"/>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The donation joins the pickup schedule for that hub</a:t>
            </a:r>
            <a:endParaRPr lang="en-US" sz="1050" dirty="0"/>
          </a:p>
        </p:txBody>
      </p:sp>
      <p:sp>
        <p:nvSpPr>
          <p:cNvPr id="21" name="Shape 19"/>
          <p:cNvSpPr/>
          <p:nvPr/>
        </p:nvSpPr>
        <p:spPr>
          <a:xfrm>
            <a:off x="8686800" y="2359152"/>
            <a:ext cx="237744" cy="164592"/>
          </a:xfrm>
          <a:prstGeom prst="rightArrow">
            <a:avLst/>
          </a:prstGeom>
          <a:solidFill>
            <a:srgbClr val="97BC62"/>
          </a:solidFill>
          <a:ln w="12700">
            <a:solidFill>
              <a:srgbClr val="97BC62"/>
            </a:solidFill>
            <a:prstDash val="solid"/>
          </a:ln>
        </p:spPr>
      </p:sp>
      <p:sp>
        <p:nvSpPr>
          <p:cNvPr id="22" name="Shape 20"/>
          <p:cNvSpPr/>
          <p:nvPr/>
        </p:nvSpPr>
        <p:spPr>
          <a:xfrm>
            <a:off x="9015984" y="2212848"/>
            <a:ext cx="457200" cy="457200"/>
          </a:xfrm>
          <a:prstGeom prst="ellipse">
            <a:avLst/>
          </a:prstGeom>
          <a:solidFill>
            <a:srgbClr val="2C5F2D"/>
          </a:solidFill>
          <a:ln w="12700">
            <a:solidFill>
              <a:srgbClr val="2C5F2D"/>
            </a:solidFill>
            <a:prstDash val="solid"/>
          </a:ln>
        </p:spPr>
      </p:sp>
      <p:sp>
        <p:nvSpPr>
          <p:cNvPr id="23" name="Text 21"/>
          <p:cNvSpPr/>
          <p:nvPr/>
        </p:nvSpPr>
        <p:spPr>
          <a:xfrm>
            <a:off x="9015984" y="22128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9582912" y="2212848"/>
            <a:ext cx="201168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Truck collects</a:t>
            </a:r>
            <a:endParaRPr lang="en-US" sz="1250" dirty="0"/>
          </a:p>
        </p:txBody>
      </p:sp>
      <p:sp>
        <p:nvSpPr>
          <p:cNvPr id="25" name="Text 23"/>
          <p:cNvSpPr/>
          <p:nvPr/>
        </p:nvSpPr>
        <p:spPr>
          <a:xfrm>
            <a:off x="9015984" y="2743200"/>
            <a:ext cx="2487168" cy="658368"/>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One of FoodShare's two trucks picks it up on schedule</a:t>
            </a:r>
            <a:endParaRPr lang="en-US" sz="1050" dirty="0"/>
          </a:p>
        </p:txBody>
      </p:sp>
      <p:sp>
        <p:nvSpPr>
          <p:cNvPr id="26" name="Shape 24"/>
          <p:cNvSpPr/>
          <p:nvPr/>
        </p:nvSpPr>
        <p:spPr>
          <a:xfrm>
            <a:off x="548640" y="3712464"/>
            <a:ext cx="11091672" cy="2084832"/>
          </a:xfrm>
          <a:prstGeom prst="roundRect">
            <a:avLst>
              <a:gd name="adj" fmla="val 3947"/>
            </a:avLst>
          </a:prstGeom>
          <a:solidFill>
            <a:srgbClr val="F3F6F0"/>
          </a:solidFill>
          <a:ln w="12700">
            <a:solidFill>
              <a:srgbClr val="F3F6F0"/>
            </a:solidFill>
            <a:prstDash val="solid"/>
          </a:ln>
        </p:spPr>
      </p:sp>
      <p:sp>
        <p:nvSpPr>
          <p:cNvPr id="27" name="Shape 25"/>
          <p:cNvSpPr/>
          <p:nvPr/>
        </p:nvSpPr>
        <p:spPr>
          <a:xfrm>
            <a:off x="841248" y="3931920"/>
            <a:ext cx="3200400" cy="329184"/>
          </a:xfrm>
          <a:prstGeom prst="roundRect">
            <a:avLst>
              <a:gd name="adj" fmla="val 22222"/>
            </a:avLst>
          </a:prstGeom>
          <a:solidFill>
            <a:srgbClr val="D97A26"/>
          </a:solidFill>
          <a:ln w="12700">
            <a:solidFill>
              <a:srgbClr val="D97A26"/>
            </a:solidFill>
            <a:prstDash val="solid"/>
          </a:ln>
        </p:spPr>
      </p:sp>
      <p:sp>
        <p:nvSpPr>
          <p:cNvPr id="28" name="Text 26"/>
          <p:cNvSpPr/>
          <p:nvPr/>
        </p:nvSpPr>
        <p:spPr>
          <a:xfrm>
            <a:off x="841248" y="3931920"/>
            <a:ext cx="320040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METHOD 2 — DIRECT WAREHOUSE DROP-OFF</a:t>
            </a:r>
            <a:endParaRPr lang="en-US" sz="1050" dirty="0"/>
          </a:p>
        </p:txBody>
      </p:sp>
      <p:sp>
        <p:nvSpPr>
          <p:cNvPr id="29" name="Shape 27"/>
          <p:cNvSpPr/>
          <p:nvPr/>
        </p:nvSpPr>
        <p:spPr>
          <a:xfrm>
            <a:off x="841248" y="4443984"/>
            <a:ext cx="457200" cy="457200"/>
          </a:xfrm>
          <a:prstGeom prst="ellipse">
            <a:avLst/>
          </a:prstGeom>
          <a:solidFill>
            <a:srgbClr val="D97A26"/>
          </a:solidFill>
          <a:ln w="12700">
            <a:solidFill>
              <a:srgbClr val="D97A26"/>
            </a:solidFill>
            <a:prstDash val="solid"/>
          </a:ln>
        </p:spPr>
      </p:sp>
      <p:sp>
        <p:nvSpPr>
          <p:cNvPr id="30" name="Text 28"/>
          <p:cNvSpPr/>
          <p:nvPr/>
        </p:nvSpPr>
        <p:spPr>
          <a:xfrm>
            <a:off x="841248" y="44439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1" name="Text 29"/>
          <p:cNvSpPr/>
          <p:nvPr/>
        </p:nvSpPr>
        <p:spPr>
          <a:xfrm>
            <a:off x="1408176" y="4443984"/>
            <a:ext cx="201168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Donor arrives</a:t>
            </a:r>
            <a:endParaRPr lang="en-US" sz="1250" dirty="0"/>
          </a:p>
        </p:txBody>
      </p:sp>
      <p:sp>
        <p:nvSpPr>
          <p:cNvPr id="32" name="Text 30"/>
          <p:cNvSpPr/>
          <p:nvPr/>
        </p:nvSpPr>
        <p:spPr>
          <a:xfrm>
            <a:off x="841248" y="4974336"/>
            <a:ext cx="2487168" cy="658368"/>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Food is brought straight to one of the three warehouses</a:t>
            </a:r>
            <a:endParaRPr lang="en-US" sz="1050" dirty="0"/>
          </a:p>
        </p:txBody>
      </p:sp>
      <p:sp>
        <p:nvSpPr>
          <p:cNvPr id="33" name="Shape 31"/>
          <p:cNvSpPr/>
          <p:nvPr/>
        </p:nvSpPr>
        <p:spPr>
          <a:xfrm>
            <a:off x="3236976" y="4590288"/>
            <a:ext cx="237744" cy="164592"/>
          </a:xfrm>
          <a:prstGeom prst="rightArrow">
            <a:avLst/>
          </a:prstGeom>
          <a:solidFill>
            <a:srgbClr val="D9B58C"/>
          </a:solidFill>
          <a:ln w="12700">
            <a:solidFill>
              <a:srgbClr val="D9B58C"/>
            </a:solidFill>
            <a:prstDash val="solid"/>
          </a:ln>
        </p:spPr>
      </p:sp>
      <p:sp>
        <p:nvSpPr>
          <p:cNvPr id="34" name="Shape 32"/>
          <p:cNvSpPr/>
          <p:nvPr/>
        </p:nvSpPr>
        <p:spPr>
          <a:xfrm>
            <a:off x="3566160" y="4443984"/>
            <a:ext cx="457200" cy="457200"/>
          </a:xfrm>
          <a:prstGeom prst="ellipse">
            <a:avLst/>
          </a:prstGeom>
          <a:solidFill>
            <a:srgbClr val="D97A26"/>
          </a:solidFill>
          <a:ln w="12700">
            <a:solidFill>
              <a:srgbClr val="D97A26"/>
            </a:solidFill>
            <a:prstDash val="solid"/>
          </a:ln>
        </p:spPr>
      </p:sp>
      <p:sp>
        <p:nvSpPr>
          <p:cNvPr id="35" name="Text 33"/>
          <p:cNvSpPr/>
          <p:nvPr/>
        </p:nvSpPr>
        <p:spPr>
          <a:xfrm>
            <a:off x="3566160" y="44439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6" name="Text 34"/>
          <p:cNvSpPr/>
          <p:nvPr/>
        </p:nvSpPr>
        <p:spPr>
          <a:xfrm>
            <a:off x="4133088" y="4443984"/>
            <a:ext cx="201168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Staff inspect</a:t>
            </a:r>
            <a:endParaRPr lang="en-US" sz="1250" dirty="0"/>
          </a:p>
        </p:txBody>
      </p:sp>
      <p:sp>
        <p:nvSpPr>
          <p:cNvPr id="37" name="Text 35"/>
          <p:cNvSpPr/>
          <p:nvPr/>
        </p:nvSpPr>
        <p:spPr>
          <a:xfrm>
            <a:off x="3566160" y="4974336"/>
            <a:ext cx="2487168" cy="658368"/>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Quantity, expiry date, category and packaging condition are checked</a:t>
            </a:r>
            <a:endParaRPr lang="en-US" sz="1050" dirty="0"/>
          </a:p>
        </p:txBody>
      </p:sp>
      <p:sp>
        <p:nvSpPr>
          <p:cNvPr id="38" name="Shape 36"/>
          <p:cNvSpPr/>
          <p:nvPr/>
        </p:nvSpPr>
        <p:spPr>
          <a:xfrm>
            <a:off x="5961888" y="4590288"/>
            <a:ext cx="237744" cy="164592"/>
          </a:xfrm>
          <a:prstGeom prst="rightArrow">
            <a:avLst/>
          </a:prstGeom>
          <a:solidFill>
            <a:srgbClr val="D9B58C"/>
          </a:solidFill>
          <a:ln w="12700">
            <a:solidFill>
              <a:srgbClr val="D9B58C"/>
            </a:solidFill>
            <a:prstDash val="solid"/>
          </a:ln>
        </p:spPr>
      </p:sp>
      <p:sp>
        <p:nvSpPr>
          <p:cNvPr id="39" name="Shape 37"/>
          <p:cNvSpPr/>
          <p:nvPr/>
        </p:nvSpPr>
        <p:spPr>
          <a:xfrm>
            <a:off x="6291072" y="4443984"/>
            <a:ext cx="457200" cy="457200"/>
          </a:xfrm>
          <a:prstGeom prst="ellipse">
            <a:avLst/>
          </a:prstGeom>
          <a:solidFill>
            <a:srgbClr val="D97A26"/>
          </a:solidFill>
          <a:ln w="12700">
            <a:solidFill>
              <a:srgbClr val="D97A26"/>
            </a:solidFill>
            <a:prstDash val="solid"/>
          </a:ln>
        </p:spPr>
      </p:sp>
      <p:sp>
        <p:nvSpPr>
          <p:cNvPr id="40" name="Text 38"/>
          <p:cNvSpPr/>
          <p:nvPr/>
        </p:nvSpPr>
        <p:spPr>
          <a:xfrm>
            <a:off x="6291072" y="44439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9"/>
          <p:cNvSpPr/>
          <p:nvPr/>
        </p:nvSpPr>
        <p:spPr>
          <a:xfrm>
            <a:off x="6858000" y="4443984"/>
            <a:ext cx="201168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Details corrected</a:t>
            </a:r>
            <a:endParaRPr lang="en-US" sz="1250" dirty="0"/>
          </a:p>
        </p:txBody>
      </p:sp>
      <p:sp>
        <p:nvSpPr>
          <p:cNvPr id="42" name="Text 40"/>
          <p:cNvSpPr/>
          <p:nvPr/>
        </p:nvSpPr>
        <p:spPr>
          <a:xfrm>
            <a:off x="6291072" y="4974336"/>
            <a:ext cx="2487168" cy="658368"/>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Anything the donor entered incorrectly is fixed before logging</a:t>
            </a:r>
            <a:endParaRPr lang="en-US" sz="1050" dirty="0"/>
          </a:p>
        </p:txBody>
      </p:sp>
      <p:sp>
        <p:nvSpPr>
          <p:cNvPr id="43" name="Shape 41"/>
          <p:cNvSpPr/>
          <p:nvPr/>
        </p:nvSpPr>
        <p:spPr>
          <a:xfrm>
            <a:off x="8686800" y="4590288"/>
            <a:ext cx="237744" cy="164592"/>
          </a:xfrm>
          <a:prstGeom prst="rightArrow">
            <a:avLst/>
          </a:prstGeom>
          <a:solidFill>
            <a:srgbClr val="D9B58C"/>
          </a:solidFill>
          <a:ln w="12700">
            <a:solidFill>
              <a:srgbClr val="D9B58C"/>
            </a:solidFill>
            <a:prstDash val="solid"/>
          </a:ln>
        </p:spPr>
      </p:sp>
      <p:sp>
        <p:nvSpPr>
          <p:cNvPr id="44" name="Shape 42"/>
          <p:cNvSpPr/>
          <p:nvPr/>
        </p:nvSpPr>
        <p:spPr>
          <a:xfrm>
            <a:off x="9015984" y="4443984"/>
            <a:ext cx="457200" cy="457200"/>
          </a:xfrm>
          <a:prstGeom prst="ellipse">
            <a:avLst/>
          </a:prstGeom>
          <a:solidFill>
            <a:srgbClr val="D97A26"/>
          </a:solidFill>
          <a:ln w="12700">
            <a:solidFill>
              <a:srgbClr val="D97A26"/>
            </a:solidFill>
            <a:prstDash val="solid"/>
          </a:ln>
        </p:spPr>
      </p:sp>
      <p:sp>
        <p:nvSpPr>
          <p:cNvPr id="45" name="Text 43"/>
          <p:cNvSpPr/>
          <p:nvPr/>
        </p:nvSpPr>
        <p:spPr>
          <a:xfrm>
            <a:off x="9015984" y="44439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6" name="Text 44"/>
          <p:cNvSpPr/>
          <p:nvPr/>
        </p:nvSpPr>
        <p:spPr>
          <a:xfrm>
            <a:off x="9582912" y="4443984"/>
            <a:ext cx="201168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Inventory updated</a:t>
            </a:r>
            <a:endParaRPr lang="en-US" sz="1250" dirty="0"/>
          </a:p>
        </p:txBody>
      </p:sp>
      <p:sp>
        <p:nvSpPr>
          <p:cNvPr id="47" name="Text 45"/>
          <p:cNvSpPr/>
          <p:nvPr/>
        </p:nvSpPr>
        <p:spPr>
          <a:xfrm>
            <a:off x="9015984" y="4974336"/>
            <a:ext cx="2487168" cy="658368"/>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The record is created and the food moves into storage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Warehouse Process &amp; the Hub Network</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Sections 8 and 11 — every donation is inspected before it becomes stock</a:t>
            </a:r>
            <a:endParaRPr lang="en-US" sz="1400" dirty="0"/>
          </a:p>
        </p:txBody>
      </p:sp>
      <p:sp>
        <p:nvSpPr>
          <p:cNvPr id="4" name="Text 2"/>
          <p:cNvSpPr/>
          <p:nvPr/>
        </p:nvSpPr>
        <p:spPr>
          <a:xfrm>
            <a:off x="548640" y="1463040"/>
            <a:ext cx="5486400" cy="310896"/>
          </a:xfrm>
          <a:prstGeom prst="rect">
            <a:avLst/>
          </a:prstGeom>
          <a:noFill/>
          <a:ln/>
        </p:spPr>
        <p:txBody>
          <a:bodyPr wrap="square" lIns="0" tIns="0" rIns="0" bIns="0" rtlCol="0" anchor="ctr"/>
          <a:lstStyle/>
          <a:p>
            <a:pPr marL="0" indent="0">
              <a:buNone/>
            </a:pPr>
            <a:r>
              <a:rPr lang="en-US" sz="1800" b="1" dirty="0">
                <a:solidFill>
                  <a:srgbClr val="163D24"/>
                </a:solidFill>
                <a:latin typeface="Cambria" pitchFamily="34" charset="0"/>
                <a:ea typeface="Cambria" pitchFamily="34" charset="-122"/>
                <a:cs typeface="Cambria" pitchFamily="34" charset="-120"/>
              </a:rPr>
              <a:t>Inspection on arrival</a:t>
            </a:r>
            <a:endParaRPr lang="en-US" sz="1800" dirty="0"/>
          </a:p>
        </p:txBody>
      </p:sp>
      <p:sp>
        <p:nvSpPr>
          <p:cNvPr id="5" name="Shape 3"/>
          <p:cNvSpPr/>
          <p:nvPr/>
        </p:nvSpPr>
        <p:spPr>
          <a:xfrm>
            <a:off x="548640" y="1874520"/>
            <a:ext cx="2651760" cy="694944"/>
          </a:xfrm>
          <a:prstGeom prst="roundRect">
            <a:avLst>
              <a:gd name="adj" fmla="val 11842"/>
            </a:avLst>
          </a:prstGeom>
          <a:solidFill>
            <a:srgbClr val="EEF3EA"/>
          </a:solidFill>
          <a:ln w="12700">
            <a:solidFill>
              <a:srgbClr val="EEF3EA"/>
            </a:solidFill>
            <a:prstDash val="solid"/>
          </a:ln>
        </p:spPr>
      </p:sp>
      <p:sp>
        <p:nvSpPr>
          <p:cNvPr id="6" name="Shape 4"/>
          <p:cNvSpPr/>
          <p:nvPr/>
        </p:nvSpPr>
        <p:spPr>
          <a:xfrm>
            <a:off x="768096" y="2112264"/>
            <a:ext cx="219456" cy="219456"/>
          </a:xfrm>
          <a:prstGeom prst="ellipse">
            <a:avLst/>
          </a:prstGeom>
          <a:solidFill>
            <a:srgbClr val="2C5F2D"/>
          </a:solidFill>
          <a:ln w="12700">
            <a:solidFill>
              <a:srgbClr val="2C5F2D"/>
            </a:solidFill>
            <a:prstDash val="solid"/>
          </a:ln>
        </p:spPr>
      </p:sp>
      <p:sp>
        <p:nvSpPr>
          <p:cNvPr id="7" name="Text 5"/>
          <p:cNvSpPr/>
          <p:nvPr/>
        </p:nvSpPr>
        <p:spPr>
          <a:xfrm>
            <a:off x="1115568" y="1874520"/>
            <a:ext cx="1920240" cy="694944"/>
          </a:xfrm>
          <a:prstGeom prst="rect">
            <a:avLst/>
          </a:prstGeom>
          <a:noFill/>
          <a:ln/>
        </p:spPr>
        <p:txBody>
          <a:bodyPr wrap="square" lIns="0" tIns="0" rIns="0" bIns="0" rtlCol="0" anchor="ctr"/>
          <a:lstStyle/>
          <a:p>
            <a:pPr marL="0" indent="0">
              <a:buNone/>
            </a:pPr>
            <a:r>
              <a:rPr lang="en-US" sz="1300" b="1" dirty="0">
                <a:solidFill>
                  <a:srgbClr val="1A2E20"/>
                </a:solidFill>
                <a:latin typeface="Calibri" pitchFamily="34" charset="0"/>
                <a:ea typeface="Calibri" pitchFamily="34" charset="-122"/>
                <a:cs typeface="Calibri" pitchFamily="34" charset="-120"/>
              </a:rPr>
              <a:t>Quantity</a:t>
            </a:r>
            <a:endParaRPr lang="en-US" sz="1300" dirty="0"/>
          </a:p>
        </p:txBody>
      </p:sp>
      <p:sp>
        <p:nvSpPr>
          <p:cNvPr id="8" name="Shape 6"/>
          <p:cNvSpPr/>
          <p:nvPr/>
        </p:nvSpPr>
        <p:spPr>
          <a:xfrm>
            <a:off x="3383280" y="1874520"/>
            <a:ext cx="2651760" cy="694944"/>
          </a:xfrm>
          <a:prstGeom prst="roundRect">
            <a:avLst>
              <a:gd name="adj" fmla="val 11842"/>
            </a:avLst>
          </a:prstGeom>
          <a:solidFill>
            <a:srgbClr val="EEF3EA"/>
          </a:solidFill>
          <a:ln w="12700">
            <a:solidFill>
              <a:srgbClr val="EEF3EA"/>
            </a:solidFill>
            <a:prstDash val="solid"/>
          </a:ln>
        </p:spPr>
      </p:sp>
      <p:sp>
        <p:nvSpPr>
          <p:cNvPr id="9" name="Shape 7"/>
          <p:cNvSpPr/>
          <p:nvPr/>
        </p:nvSpPr>
        <p:spPr>
          <a:xfrm>
            <a:off x="3602736" y="2112264"/>
            <a:ext cx="219456" cy="219456"/>
          </a:xfrm>
          <a:prstGeom prst="ellipse">
            <a:avLst/>
          </a:prstGeom>
          <a:solidFill>
            <a:srgbClr val="2C5F2D"/>
          </a:solidFill>
          <a:ln w="12700">
            <a:solidFill>
              <a:srgbClr val="2C5F2D"/>
            </a:solidFill>
            <a:prstDash val="solid"/>
          </a:ln>
        </p:spPr>
      </p:sp>
      <p:sp>
        <p:nvSpPr>
          <p:cNvPr id="10" name="Text 8"/>
          <p:cNvSpPr/>
          <p:nvPr/>
        </p:nvSpPr>
        <p:spPr>
          <a:xfrm>
            <a:off x="3950208" y="1874520"/>
            <a:ext cx="1920240" cy="694944"/>
          </a:xfrm>
          <a:prstGeom prst="rect">
            <a:avLst/>
          </a:prstGeom>
          <a:noFill/>
          <a:ln/>
        </p:spPr>
        <p:txBody>
          <a:bodyPr wrap="square" lIns="0" tIns="0" rIns="0" bIns="0" rtlCol="0" anchor="ctr"/>
          <a:lstStyle/>
          <a:p>
            <a:pPr marL="0" indent="0">
              <a:buNone/>
            </a:pPr>
            <a:r>
              <a:rPr lang="en-US" sz="1300" b="1" dirty="0">
                <a:solidFill>
                  <a:srgbClr val="1A2E20"/>
                </a:solidFill>
                <a:latin typeface="Calibri" pitchFamily="34" charset="0"/>
                <a:ea typeface="Calibri" pitchFamily="34" charset="-122"/>
                <a:cs typeface="Calibri" pitchFamily="34" charset="-120"/>
              </a:rPr>
              <a:t>Expiry date</a:t>
            </a:r>
            <a:endParaRPr lang="en-US" sz="1300" dirty="0"/>
          </a:p>
        </p:txBody>
      </p:sp>
      <p:sp>
        <p:nvSpPr>
          <p:cNvPr id="11" name="Shape 9"/>
          <p:cNvSpPr/>
          <p:nvPr/>
        </p:nvSpPr>
        <p:spPr>
          <a:xfrm>
            <a:off x="548640" y="2715768"/>
            <a:ext cx="2651760" cy="694944"/>
          </a:xfrm>
          <a:prstGeom prst="roundRect">
            <a:avLst>
              <a:gd name="adj" fmla="val 11842"/>
            </a:avLst>
          </a:prstGeom>
          <a:solidFill>
            <a:srgbClr val="EEF3EA"/>
          </a:solidFill>
          <a:ln w="12700">
            <a:solidFill>
              <a:srgbClr val="EEF3EA"/>
            </a:solidFill>
            <a:prstDash val="solid"/>
          </a:ln>
        </p:spPr>
      </p:sp>
      <p:sp>
        <p:nvSpPr>
          <p:cNvPr id="12" name="Shape 10"/>
          <p:cNvSpPr/>
          <p:nvPr/>
        </p:nvSpPr>
        <p:spPr>
          <a:xfrm>
            <a:off x="768096" y="2953512"/>
            <a:ext cx="219456" cy="219456"/>
          </a:xfrm>
          <a:prstGeom prst="ellipse">
            <a:avLst/>
          </a:prstGeom>
          <a:solidFill>
            <a:srgbClr val="2C5F2D"/>
          </a:solidFill>
          <a:ln w="12700">
            <a:solidFill>
              <a:srgbClr val="2C5F2D"/>
            </a:solidFill>
            <a:prstDash val="solid"/>
          </a:ln>
        </p:spPr>
      </p:sp>
      <p:sp>
        <p:nvSpPr>
          <p:cNvPr id="13" name="Text 11"/>
          <p:cNvSpPr/>
          <p:nvPr/>
        </p:nvSpPr>
        <p:spPr>
          <a:xfrm>
            <a:off x="1115568" y="2715768"/>
            <a:ext cx="1920240" cy="694944"/>
          </a:xfrm>
          <a:prstGeom prst="rect">
            <a:avLst/>
          </a:prstGeom>
          <a:noFill/>
          <a:ln/>
        </p:spPr>
        <p:txBody>
          <a:bodyPr wrap="square" lIns="0" tIns="0" rIns="0" bIns="0" rtlCol="0" anchor="ctr"/>
          <a:lstStyle/>
          <a:p>
            <a:pPr marL="0" indent="0">
              <a:buNone/>
            </a:pPr>
            <a:r>
              <a:rPr lang="en-US" sz="1300" b="1" dirty="0">
                <a:solidFill>
                  <a:srgbClr val="1A2E20"/>
                </a:solidFill>
                <a:latin typeface="Calibri" pitchFamily="34" charset="0"/>
                <a:ea typeface="Calibri" pitchFamily="34" charset="-122"/>
                <a:cs typeface="Calibri" pitchFamily="34" charset="-120"/>
              </a:rPr>
              <a:t>Food category</a:t>
            </a:r>
            <a:endParaRPr lang="en-US" sz="1300" dirty="0"/>
          </a:p>
        </p:txBody>
      </p:sp>
      <p:sp>
        <p:nvSpPr>
          <p:cNvPr id="14" name="Shape 12"/>
          <p:cNvSpPr/>
          <p:nvPr/>
        </p:nvSpPr>
        <p:spPr>
          <a:xfrm>
            <a:off x="3383280" y="2715768"/>
            <a:ext cx="2651760" cy="694944"/>
          </a:xfrm>
          <a:prstGeom prst="roundRect">
            <a:avLst>
              <a:gd name="adj" fmla="val 11842"/>
            </a:avLst>
          </a:prstGeom>
          <a:solidFill>
            <a:srgbClr val="EEF3EA"/>
          </a:solidFill>
          <a:ln w="12700">
            <a:solidFill>
              <a:srgbClr val="EEF3EA"/>
            </a:solidFill>
            <a:prstDash val="solid"/>
          </a:ln>
        </p:spPr>
      </p:sp>
      <p:sp>
        <p:nvSpPr>
          <p:cNvPr id="15" name="Shape 13"/>
          <p:cNvSpPr/>
          <p:nvPr/>
        </p:nvSpPr>
        <p:spPr>
          <a:xfrm>
            <a:off x="3602736" y="2953512"/>
            <a:ext cx="219456" cy="219456"/>
          </a:xfrm>
          <a:prstGeom prst="ellipse">
            <a:avLst/>
          </a:prstGeom>
          <a:solidFill>
            <a:srgbClr val="2C5F2D"/>
          </a:solidFill>
          <a:ln w="12700">
            <a:solidFill>
              <a:srgbClr val="2C5F2D"/>
            </a:solidFill>
            <a:prstDash val="solid"/>
          </a:ln>
        </p:spPr>
      </p:sp>
      <p:sp>
        <p:nvSpPr>
          <p:cNvPr id="16" name="Text 14"/>
          <p:cNvSpPr/>
          <p:nvPr/>
        </p:nvSpPr>
        <p:spPr>
          <a:xfrm>
            <a:off x="3950208" y="2715768"/>
            <a:ext cx="1920240" cy="694944"/>
          </a:xfrm>
          <a:prstGeom prst="rect">
            <a:avLst/>
          </a:prstGeom>
          <a:noFill/>
          <a:ln/>
        </p:spPr>
        <p:txBody>
          <a:bodyPr wrap="square" lIns="0" tIns="0" rIns="0" bIns="0" rtlCol="0" anchor="ctr"/>
          <a:lstStyle/>
          <a:p>
            <a:pPr marL="0" indent="0">
              <a:buNone/>
            </a:pPr>
            <a:r>
              <a:rPr lang="en-US" sz="1300" b="1" dirty="0">
                <a:solidFill>
                  <a:srgbClr val="1A2E20"/>
                </a:solidFill>
                <a:latin typeface="Calibri" pitchFamily="34" charset="0"/>
                <a:ea typeface="Calibri" pitchFamily="34" charset="-122"/>
                <a:cs typeface="Calibri" pitchFamily="34" charset="-120"/>
              </a:rPr>
              <a:t>Packaging condition</a:t>
            </a:r>
            <a:endParaRPr lang="en-US" sz="1300" dirty="0"/>
          </a:p>
        </p:txBody>
      </p:sp>
      <p:sp>
        <p:nvSpPr>
          <p:cNvPr id="17" name="Text 15"/>
          <p:cNvSpPr/>
          <p:nvPr/>
        </p:nvSpPr>
        <p:spPr>
          <a:xfrm>
            <a:off x="548640" y="3639312"/>
            <a:ext cx="5486400" cy="777240"/>
          </a:xfrm>
          <a:prstGeom prst="rect">
            <a:avLst/>
          </a:prstGeom>
          <a:noFill/>
          <a:ln/>
        </p:spPr>
        <p:txBody>
          <a:bodyPr wrap="square" lIns="0" tIns="0" rIns="0" bIns="0" rtlCol="0" anchor="ctr"/>
          <a:lstStyle/>
          <a:p>
            <a:pPr marL="0" indent="0">
              <a:lnSpc>
                <a:spcPts val="1900"/>
              </a:lnSpc>
              <a:buNone/>
            </a:pPr>
            <a:r>
              <a:rPr lang="en-US" sz="1250" dirty="0">
                <a:solidFill>
                  <a:srgbClr val="1A2E20"/>
                </a:solidFill>
                <a:latin typeface="Calibri" pitchFamily="34" charset="0"/>
                <a:ea typeface="Calibri" pitchFamily="34" charset="-122"/>
                <a:cs typeface="Calibri" pitchFamily="34" charset="-120"/>
              </a:rPr>
              <a:t>Staff correct any information the donor entered incorrectly before it is logged into inventory. Perishable items go into refrigerated storage as needed.</a:t>
            </a:r>
            <a:endParaRPr lang="en-US" sz="1250" dirty="0"/>
          </a:p>
        </p:txBody>
      </p:sp>
      <p:sp>
        <p:nvSpPr>
          <p:cNvPr id="18" name="Shape 16"/>
          <p:cNvSpPr/>
          <p:nvPr/>
        </p:nvSpPr>
        <p:spPr>
          <a:xfrm>
            <a:off x="548640" y="4553712"/>
            <a:ext cx="5486400" cy="1463040"/>
          </a:xfrm>
          <a:prstGeom prst="roundRect">
            <a:avLst>
              <a:gd name="adj" fmla="val 5625"/>
            </a:avLst>
          </a:prstGeom>
          <a:solidFill>
            <a:srgbClr val="F7F9F5"/>
          </a:solidFill>
          <a:ln w="12700">
            <a:solidFill>
              <a:srgbClr val="F7F9F5"/>
            </a:solidFill>
            <a:prstDash val="solid"/>
          </a:ln>
        </p:spPr>
      </p:sp>
      <p:sp>
        <p:nvSpPr>
          <p:cNvPr id="19" name="Text 17"/>
          <p:cNvSpPr/>
          <p:nvPr/>
        </p:nvSpPr>
        <p:spPr>
          <a:xfrm>
            <a:off x="841248" y="4718304"/>
            <a:ext cx="4937760" cy="274320"/>
          </a:xfrm>
          <a:prstGeom prst="rect">
            <a:avLst/>
          </a:prstGeom>
          <a:noFill/>
          <a:ln/>
        </p:spPr>
        <p:txBody>
          <a:bodyPr wrap="square" lIns="0" tIns="0" rIns="0" bIns="0" rtlCol="0" anchor="ctr"/>
          <a:lstStyle/>
          <a:p>
            <a:pPr marL="0" indent="0">
              <a:buNone/>
            </a:pPr>
            <a:r>
              <a:rPr lang="en-US" sz="1200" b="1" dirty="0">
                <a:solidFill>
                  <a:srgbClr val="163D24"/>
                </a:solidFill>
                <a:latin typeface="Calibri" pitchFamily="34" charset="0"/>
                <a:ea typeface="Calibri" pitchFamily="34" charset="-122"/>
                <a:cs typeface="Calibri" pitchFamily="34" charset="-120"/>
              </a:rPr>
              <a:t>Every warehouse also holds</a:t>
            </a:r>
            <a:endParaRPr lang="en-US" sz="1200" dirty="0"/>
          </a:p>
        </p:txBody>
      </p:sp>
      <p:sp>
        <p:nvSpPr>
          <p:cNvPr id="20" name="Text 18"/>
          <p:cNvSpPr/>
          <p:nvPr/>
        </p:nvSpPr>
        <p:spPr>
          <a:xfrm>
            <a:off x="896112" y="5010912"/>
            <a:ext cx="4882896" cy="86868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A2E20"/>
                </a:solidFill>
                <a:latin typeface="Calibri" pitchFamily="34" charset="0"/>
                <a:ea typeface="Calibri" pitchFamily="34" charset="-122"/>
                <a:cs typeface="Calibri" pitchFamily="34" charset="-120"/>
              </a:rPr>
              <a:t>Refrigerated storage for dairy and other temperature-sensitive items</a:t>
            </a:r>
            <a:endParaRPr lang="en-US" sz="1200" dirty="0"/>
          </a:p>
          <a:p>
            <a:pPr marL="342900" indent="-342900">
              <a:spcAft>
                <a:spcPts val="500"/>
              </a:spcAft>
              <a:buSzPct val="100000"/>
              <a:buChar char="•"/>
            </a:pPr>
            <a:r>
              <a:rPr lang="en-US" sz="1200" dirty="0">
                <a:solidFill>
                  <a:srgbClr val="1A2E20"/>
                </a:solidFill>
                <a:latin typeface="Calibri" pitchFamily="34" charset="0"/>
                <a:ea typeface="Calibri" pitchFamily="34" charset="-122"/>
                <a:cs typeface="Calibri" pitchFamily="34" charset="-120"/>
              </a:rPr>
              <a:t>A small safety stock set aside for emergencies or unexpected spikes in demand</a:t>
            </a:r>
            <a:endParaRPr lang="en-US" sz="1200" dirty="0"/>
          </a:p>
        </p:txBody>
      </p:sp>
      <p:sp>
        <p:nvSpPr>
          <p:cNvPr id="21" name="Text 19"/>
          <p:cNvSpPr/>
          <p:nvPr/>
        </p:nvSpPr>
        <p:spPr>
          <a:xfrm>
            <a:off x="6355080" y="1463040"/>
            <a:ext cx="5303520" cy="310896"/>
          </a:xfrm>
          <a:prstGeom prst="rect">
            <a:avLst/>
          </a:prstGeom>
          <a:noFill/>
          <a:ln/>
        </p:spPr>
        <p:txBody>
          <a:bodyPr wrap="square" lIns="0" tIns="0" rIns="0" bIns="0" rtlCol="0" anchor="ctr"/>
          <a:lstStyle/>
          <a:p>
            <a:pPr marL="0" indent="0">
              <a:buNone/>
            </a:pPr>
            <a:r>
              <a:rPr lang="en-US" sz="1800" b="1" dirty="0">
                <a:solidFill>
                  <a:srgbClr val="163D24"/>
                </a:solidFill>
                <a:latin typeface="Cambria" pitchFamily="34" charset="0"/>
                <a:ea typeface="Cambria" pitchFamily="34" charset="-122"/>
                <a:cs typeface="Cambria" pitchFamily="34" charset="-120"/>
              </a:rPr>
              <a:t>Three warehouse hubs</a:t>
            </a:r>
            <a:endParaRPr lang="en-US" sz="1800" dirty="0"/>
          </a:p>
        </p:txBody>
      </p:sp>
      <p:sp>
        <p:nvSpPr>
          <p:cNvPr id="22" name="Shape 20"/>
          <p:cNvSpPr/>
          <p:nvPr/>
        </p:nvSpPr>
        <p:spPr>
          <a:xfrm>
            <a:off x="6355080" y="1874520"/>
            <a:ext cx="5285232" cy="1207008"/>
          </a:xfrm>
          <a:prstGeom prst="roundRect">
            <a:avLst>
              <a:gd name="adj" fmla="val 6818"/>
            </a:avLst>
          </a:prstGeom>
          <a:solidFill>
            <a:srgbClr val="163D24"/>
          </a:solidFill>
          <a:ln w="12700">
            <a:solidFill>
              <a:srgbClr val="163D24"/>
            </a:solidFill>
            <a:prstDash val="solid"/>
          </a:ln>
        </p:spPr>
      </p:sp>
      <p:sp>
        <p:nvSpPr>
          <p:cNvPr id="23" name="Text 21"/>
          <p:cNvSpPr/>
          <p:nvPr/>
        </p:nvSpPr>
        <p:spPr>
          <a:xfrm>
            <a:off x="6675120" y="2057400"/>
            <a:ext cx="3108960" cy="34747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Scarborough</a:t>
            </a:r>
            <a:endParaRPr lang="en-US" sz="1800" dirty="0"/>
          </a:p>
        </p:txBody>
      </p:sp>
      <p:sp>
        <p:nvSpPr>
          <p:cNvPr id="24" name="Text 22"/>
          <p:cNvSpPr/>
          <p:nvPr/>
        </p:nvSpPr>
        <p:spPr>
          <a:xfrm>
            <a:off x="6675120" y="2478024"/>
            <a:ext cx="3657600" cy="365760"/>
          </a:xfrm>
          <a:prstGeom prst="rect">
            <a:avLst/>
          </a:prstGeom>
          <a:noFill/>
          <a:ln/>
        </p:spPr>
        <p:txBody>
          <a:bodyPr wrap="square" lIns="0" tIns="0" rIns="0" bIns="0" rtlCol="0" anchor="ctr"/>
          <a:lstStyle/>
          <a:p>
            <a:pPr marL="0" indent="0">
              <a:buNone/>
            </a:pPr>
            <a:r>
              <a:rPr lang="en-US" sz="1100" dirty="0">
                <a:solidFill>
                  <a:srgbClr val="A9C09F"/>
                </a:solidFill>
                <a:latin typeface="Calibri" pitchFamily="34" charset="0"/>
                <a:ea typeface="Calibri" pitchFamily="34" charset="-122"/>
                <a:cs typeface="Calibri" pitchFamily="34" charset="-120"/>
              </a:rPr>
              <a:t>Refrigerated storage · safety stock</a:t>
            </a:r>
            <a:endParaRPr lang="en-US" sz="1100" dirty="0"/>
          </a:p>
        </p:txBody>
      </p:sp>
      <p:sp>
        <p:nvSpPr>
          <p:cNvPr id="25" name="Text 23"/>
          <p:cNvSpPr/>
          <p:nvPr/>
        </p:nvSpPr>
        <p:spPr>
          <a:xfrm>
            <a:off x="10058400" y="2130552"/>
            <a:ext cx="1280160" cy="457200"/>
          </a:xfrm>
          <a:prstGeom prst="rect">
            <a:avLst/>
          </a:prstGeom>
          <a:noFill/>
          <a:ln/>
        </p:spPr>
        <p:txBody>
          <a:bodyPr wrap="square" lIns="0" tIns="0" rIns="0" bIns="0" rtlCol="0" anchor="ctr"/>
          <a:lstStyle/>
          <a:p>
            <a:pPr marL="0" indent="0" algn="r">
              <a:buNone/>
            </a:pPr>
            <a:r>
              <a:rPr lang="en-US" sz="2400" b="1" dirty="0">
                <a:solidFill>
                  <a:srgbClr val="97BC62"/>
                </a:solidFill>
                <a:latin typeface="Cambria" pitchFamily="34" charset="0"/>
                <a:ea typeface="Cambria" pitchFamily="34" charset="-122"/>
                <a:cs typeface="Cambria" pitchFamily="34" charset="-120"/>
              </a:rPr>
              <a:t>32.6%</a:t>
            </a:r>
            <a:endParaRPr lang="en-US" sz="2400" dirty="0"/>
          </a:p>
        </p:txBody>
      </p:sp>
      <p:sp>
        <p:nvSpPr>
          <p:cNvPr id="26" name="Text 24"/>
          <p:cNvSpPr/>
          <p:nvPr/>
        </p:nvSpPr>
        <p:spPr>
          <a:xfrm>
            <a:off x="9144000" y="2587752"/>
            <a:ext cx="2194560" cy="274320"/>
          </a:xfrm>
          <a:prstGeom prst="rect">
            <a:avLst/>
          </a:prstGeom>
          <a:noFill/>
          <a:ln/>
        </p:spPr>
        <p:txBody>
          <a:bodyPr wrap="square" lIns="0" tIns="0" rIns="0" bIns="0" rtlCol="0" anchor="ctr"/>
          <a:lstStyle/>
          <a:p>
            <a:pPr marL="0" indent="0" algn="r">
              <a:buNone/>
            </a:pPr>
            <a:r>
              <a:rPr lang="en-US" sz="900" dirty="0">
                <a:solidFill>
                  <a:srgbClr val="8FA487"/>
                </a:solidFill>
                <a:latin typeface="Calibri" pitchFamily="34" charset="0"/>
                <a:ea typeface="Calibri" pitchFamily="34" charset="-122"/>
                <a:cs typeface="Calibri" pitchFamily="34" charset="-120"/>
              </a:rPr>
              <a:t>of families (benchmark)</a:t>
            </a:r>
            <a:endParaRPr lang="en-US" sz="900" dirty="0"/>
          </a:p>
        </p:txBody>
      </p:sp>
      <p:sp>
        <p:nvSpPr>
          <p:cNvPr id="27" name="Shape 25"/>
          <p:cNvSpPr/>
          <p:nvPr/>
        </p:nvSpPr>
        <p:spPr>
          <a:xfrm>
            <a:off x="6355080" y="3291840"/>
            <a:ext cx="5285232" cy="1207008"/>
          </a:xfrm>
          <a:prstGeom prst="roundRect">
            <a:avLst>
              <a:gd name="adj" fmla="val 6818"/>
            </a:avLst>
          </a:prstGeom>
          <a:solidFill>
            <a:srgbClr val="163D24"/>
          </a:solidFill>
          <a:ln w="12700">
            <a:solidFill>
              <a:srgbClr val="163D24"/>
            </a:solidFill>
            <a:prstDash val="solid"/>
          </a:ln>
        </p:spPr>
      </p:sp>
      <p:sp>
        <p:nvSpPr>
          <p:cNvPr id="28" name="Text 26"/>
          <p:cNvSpPr/>
          <p:nvPr/>
        </p:nvSpPr>
        <p:spPr>
          <a:xfrm>
            <a:off x="6675120" y="3474720"/>
            <a:ext cx="3108960" cy="34747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Mississauga</a:t>
            </a:r>
            <a:endParaRPr lang="en-US" sz="1800" dirty="0"/>
          </a:p>
        </p:txBody>
      </p:sp>
      <p:sp>
        <p:nvSpPr>
          <p:cNvPr id="29" name="Text 27"/>
          <p:cNvSpPr/>
          <p:nvPr/>
        </p:nvSpPr>
        <p:spPr>
          <a:xfrm>
            <a:off x="6675120" y="3895344"/>
            <a:ext cx="3657600" cy="365760"/>
          </a:xfrm>
          <a:prstGeom prst="rect">
            <a:avLst/>
          </a:prstGeom>
          <a:noFill/>
          <a:ln/>
        </p:spPr>
        <p:txBody>
          <a:bodyPr wrap="square" lIns="0" tIns="0" rIns="0" bIns="0" rtlCol="0" anchor="ctr"/>
          <a:lstStyle/>
          <a:p>
            <a:pPr marL="0" indent="0">
              <a:buNone/>
            </a:pPr>
            <a:r>
              <a:rPr lang="en-US" sz="1100" dirty="0">
                <a:solidFill>
                  <a:srgbClr val="A9C09F"/>
                </a:solidFill>
                <a:latin typeface="Calibri" pitchFamily="34" charset="0"/>
                <a:ea typeface="Calibri" pitchFamily="34" charset="-122"/>
                <a:cs typeface="Calibri" pitchFamily="34" charset="-120"/>
              </a:rPr>
              <a:t>Refrigerated storage · safety stock</a:t>
            </a:r>
            <a:endParaRPr lang="en-US" sz="1100" dirty="0"/>
          </a:p>
        </p:txBody>
      </p:sp>
      <p:sp>
        <p:nvSpPr>
          <p:cNvPr id="30" name="Text 28"/>
          <p:cNvSpPr/>
          <p:nvPr/>
        </p:nvSpPr>
        <p:spPr>
          <a:xfrm>
            <a:off x="10058400" y="3547872"/>
            <a:ext cx="1280160" cy="457200"/>
          </a:xfrm>
          <a:prstGeom prst="rect">
            <a:avLst/>
          </a:prstGeom>
          <a:noFill/>
          <a:ln/>
        </p:spPr>
        <p:txBody>
          <a:bodyPr wrap="square" lIns="0" tIns="0" rIns="0" bIns="0" rtlCol="0" anchor="ctr"/>
          <a:lstStyle/>
          <a:p>
            <a:pPr marL="0" indent="0" algn="r">
              <a:buNone/>
            </a:pPr>
            <a:r>
              <a:rPr lang="en-US" sz="2400" b="1" dirty="0">
                <a:solidFill>
                  <a:srgbClr val="97BC62"/>
                </a:solidFill>
                <a:latin typeface="Cambria" pitchFamily="34" charset="0"/>
                <a:ea typeface="Cambria" pitchFamily="34" charset="-122"/>
                <a:cs typeface="Cambria" pitchFamily="34" charset="-120"/>
              </a:rPr>
              <a:t>32.2%</a:t>
            </a:r>
            <a:endParaRPr lang="en-US" sz="2400" dirty="0"/>
          </a:p>
        </p:txBody>
      </p:sp>
      <p:sp>
        <p:nvSpPr>
          <p:cNvPr id="31" name="Text 29"/>
          <p:cNvSpPr/>
          <p:nvPr/>
        </p:nvSpPr>
        <p:spPr>
          <a:xfrm>
            <a:off x="9144000" y="4005072"/>
            <a:ext cx="2194560" cy="274320"/>
          </a:xfrm>
          <a:prstGeom prst="rect">
            <a:avLst/>
          </a:prstGeom>
          <a:noFill/>
          <a:ln/>
        </p:spPr>
        <p:txBody>
          <a:bodyPr wrap="square" lIns="0" tIns="0" rIns="0" bIns="0" rtlCol="0" anchor="ctr"/>
          <a:lstStyle/>
          <a:p>
            <a:pPr marL="0" indent="0" algn="r">
              <a:buNone/>
            </a:pPr>
            <a:r>
              <a:rPr lang="en-US" sz="900" dirty="0">
                <a:solidFill>
                  <a:srgbClr val="8FA487"/>
                </a:solidFill>
                <a:latin typeface="Calibri" pitchFamily="34" charset="0"/>
                <a:ea typeface="Calibri" pitchFamily="34" charset="-122"/>
                <a:cs typeface="Calibri" pitchFamily="34" charset="-120"/>
              </a:rPr>
              <a:t>of families (benchmark)</a:t>
            </a:r>
            <a:endParaRPr lang="en-US" sz="900" dirty="0"/>
          </a:p>
        </p:txBody>
      </p:sp>
      <p:sp>
        <p:nvSpPr>
          <p:cNvPr id="32" name="Shape 30"/>
          <p:cNvSpPr/>
          <p:nvPr/>
        </p:nvSpPr>
        <p:spPr>
          <a:xfrm>
            <a:off x="6355080" y="4709160"/>
            <a:ext cx="5285232" cy="1207008"/>
          </a:xfrm>
          <a:prstGeom prst="roundRect">
            <a:avLst>
              <a:gd name="adj" fmla="val 6818"/>
            </a:avLst>
          </a:prstGeom>
          <a:solidFill>
            <a:srgbClr val="163D24"/>
          </a:solidFill>
          <a:ln w="12700">
            <a:solidFill>
              <a:srgbClr val="163D24"/>
            </a:solidFill>
            <a:prstDash val="solid"/>
          </a:ln>
        </p:spPr>
      </p:sp>
      <p:sp>
        <p:nvSpPr>
          <p:cNvPr id="33" name="Text 31"/>
          <p:cNvSpPr/>
          <p:nvPr/>
        </p:nvSpPr>
        <p:spPr>
          <a:xfrm>
            <a:off x="6675120" y="4892040"/>
            <a:ext cx="3108960" cy="347472"/>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North Bay</a:t>
            </a:r>
            <a:endParaRPr lang="en-US" sz="1800" dirty="0"/>
          </a:p>
        </p:txBody>
      </p:sp>
      <p:sp>
        <p:nvSpPr>
          <p:cNvPr id="34" name="Text 32"/>
          <p:cNvSpPr/>
          <p:nvPr/>
        </p:nvSpPr>
        <p:spPr>
          <a:xfrm>
            <a:off x="6675120" y="5312664"/>
            <a:ext cx="3657600" cy="365760"/>
          </a:xfrm>
          <a:prstGeom prst="rect">
            <a:avLst/>
          </a:prstGeom>
          <a:noFill/>
          <a:ln/>
        </p:spPr>
        <p:txBody>
          <a:bodyPr wrap="square" lIns="0" tIns="0" rIns="0" bIns="0" rtlCol="0" anchor="ctr"/>
          <a:lstStyle/>
          <a:p>
            <a:pPr marL="0" indent="0">
              <a:buNone/>
            </a:pPr>
            <a:r>
              <a:rPr lang="en-US" sz="1100" dirty="0">
                <a:solidFill>
                  <a:srgbClr val="A9C09F"/>
                </a:solidFill>
                <a:latin typeface="Calibri" pitchFamily="34" charset="0"/>
                <a:ea typeface="Calibri" pitchFamily="34" charset="-122"/>
                <a:cs typeface="Calibri" pitchFamily="34" charset="-120"/>
              </a:rPr>
              <a:t>Refrigerated storage · safety stock</a:t>
            </a:r>
            <a:endParaRPr lang="en-US" sz="1100" dirty="0"/>
          </a:p>
        </p:txBody>
      </p:sp>
      <p:sp>
        <p:nvSpPr>
          <p:cNvPr id="35" name="Text 33"/>
          <p:cNvSpPr/>
          <p:nvPr/>
        </p:nvSpPr>
        <p:spPr>
          <a:xfrm>
            <a:off x="10058400" y="4965192"/>
            <a:ext cx="1280160" cy="457200"/>
          </a:xfrm>
          <a:prstGeom prst="rect">
            <a:avLst/>
          </a:prstGeom>
          <a:noFill/>
          <a:ln/>
        </p:spPr>
        <p:txBody>
          <a:bodyPr wrap="square" lIns="0" tIns="0" rIns="0" bIns="0" rtlCol="0" anchor="ctr"/>
          <a:lstStyle/>
          <a:p>
            <a:pPr marL="0" indent="0" algn="r">
              <a:buNone/>
            </a:pPr>
            <a:r>
              <a:rPr lang="en-US" sz="2400" b="1" dirty="0">
                <a:solidFill>
                  <a:srgbClr val="97BC62"/>
                </a:solidFill>
                <a:latin typeface="Cambria" pitchFamily="34" charset="0"/>
                <a:ea typeface="Cambria" pitchFamily="34" charset="-122"/>
                <a:cs typeface="Cambria" pitchFamily="34" charset="-120"/>
              </a:rPr>
              <a:t>35.2%</a:t>
            </a:r>
            <a:endParaRPr lang="en-US" sz="2400" dirty="0"/>
          </a:p>
        </p:txBody>
      </p:sp>
      <p:sp>
        <p:nvSpPr>
          <p:cNvPr id="36" name="Text 34"/>
          <p:cNvSpPr/>
          <p:nvPr/>
        </p:nvSpPr>
        <p:spPr>
          <a:xfrm>
            <a:off x="9144000" y="5422392"/>
            <a:ext cx="2194560" cy="274320"/>
          </a:xfrm>
          <a:prstGeom prst="rect">
            <a:avLst/>
          </a:prstGeom>
          <a:noFill/>
          <a:ln/>
        </p:spPr>
        <p:txBody>
          <a:bodyPr wrap="square" lIns="0" tIns="0" rIns="0" bIns="0" rtlCol="0" anchor="ctr"/>
          <a:lstStyle/>
          <a:p>
            <a:pPr marL="0" indent="0" algn="r">
              <a:buNone/>
            </a:pPr>
            <a:r>
              <a:rPr lang="en-US" sz="900" dirty="0">
                <a:solidFill>
                  <a:srgbClr val="8FA487"/>
                </a:solidFill>
                <a:latin typeface="Calibri" pitchFamily="34" charset="0"/>
                <a:ea typeface="Calibri" pitchFamily="34" charset="-122"/>
                <a:cs typeface="Calibri" pitchFamily="34" charset="-120"/>
              </a:rPr>
              <a:t>of families (benchmark)</a:t>
            </a:r>
            <a:endParaRPr lang="en-US" sz="900" dirty="0"/>
          </a:p>
        </p:txBody>
      </p:sp>
      <p:sp>
        <p:nvSpPr>
          <p:cNvPr id="37" name="Text 35"/>
          <p:cNvSpPr/>
          <p:nvPr/>
        </p:nvSpPr>
        <p:spPr>
          <a:xfrm>
            <a:off x="548640" y="6327648"/>
            <a:ext cx="11091672" cy="274320"/>
          </a:xfrm>
          <a:prstGeom prst="rect">
            <a:avLst/>
          </a:prstGeom>
          <a:noFill/>
          <a:ln/>
        </p:spPr>
        <p:txBody>
          <a:bodyPr wrap="square" lIns="0" tIns="0" rIns="0" bIns="0" rtlCol="0" anchor="ctr"/>
          <a:lstStyle/>
          <a:p>
            <a:pPr marL="0" indent="0" algn="l">
              <a:buNone/>
            </a:pPr>
            <a:r>
              <a:rPr lang="en-US" sz="950" dirty="0">
                <a:solidFill>
                  <a:srgbClr val="9AA79C"/>
                </a:solidFill>
                <a:latin typeface="Calibri" pitchFamily="34" charset="0"/>
                <a:ea typeface="Calibri" pitchFamily="34" charset="-122"/>
                <a:cs typeface="Calibri" pitchFamily="34" charset="-120"/>
              </a:rPr>
              <a:t>Hub share figures are Care Shield benchmark values (Section 14.1), used as a planning reference.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Food Distribution Process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9 — First In, First Out, with packages built around each household</a:t>
            </a:r>
            <a:endParaRPr lang="en-US" sz="1400" dirty="0"/>
          </a:p>
        </p:txBody>
      </p:sp>
      <p:sp>
        <p:nvSpPr>
          <p:cNvPr id="4" name="Shape 2"/>
          <p:cNvSpPr/>
          <p:nvPr/>
        </p:nvSpPr>
        <p:spPr>
          <a:xfrm>
            <a:off x="548640" y="1481328"/>
            <a:ext cx="5394960" cy="2103120"/>
          </a:xfrm>
          <a:prstGeom prst="roundRect">
            <a:avLst>
              <a:gd name="adj" fmla="val 3913"/>
            </a:avLst>
          </a:prstGeom>
          <a:solidFill>
            <a:srgbClr val="163D24"/>
          </a:solidFill>
          <a:ln w="12700">
            <a:solidFill>
              <a:srgbClr val="163D24"/>
            </a:solidFill>
            <a:prstDash val="solid"/>
          </a:ln>
        </p:spPr>
      </p:sp>
      <p:sp>
        <p:nvSpPr>
          <p:cNvPr id="5" name="Text 3"/>
          <p:cNvSpPr/>
          <p:nvPr/>
        </p:nvSpPr>
        <p:spPr>
          <a:xfrm>
            <a:off x="868680" y="1691640"/>
            <a:ext cx="1828800" cy="685800"/>
          </a:xfrm>
          <a:prstGeom prst="rect">
            <a:avLst/>
          </a:prstGeom>
          <a:noFill/>
          <a:ln/>
        </p:spPr>
        <p:txBody>
          <a:bodyPr wrap="square" lIns="0" tIns="0" rIns="0" bIns="0" rtlCol="0" anchor="ctr"/>
          <a:lstStyle/>
          <a:p>
            <a:pPr marL="0" indent="0">
              <a:buNone/>
            </a:pPr>
            <a:r>
              <a:rPr lang="en-US" sz="4000" b="1" dirty="0">
                <a:solidFill>
                  <a:srgbClr val="97BC62"/>
                </a:solidFill>
                <a:latin typeface="Cambria" pitchFamily="34" charset="0"/>
                <a:ea typeface="Cambria" pitchFamily="34" charset="-122"/>
                <a:cs typeface="Cambria" pitchFamily="34" charset="-120"/>
              </a:rPr>
              <a:t>FIFO</a:t>
            </a:r>
            <a:endParaRPr lang="en-US" sz="4000" dirty="0"/>
          </a:p>
        </p:txBody>
      </p:sp>
      <p:sp>
        <p:nvSpPr>
          <p:cNvPr id="6" name="Text 4"/>
          <p:cNvSpPr/>
          <p:nvPr/>
        </p:nvSpPr>
        <p:spPr>
          <a:xfrm>
            <a:off x="2606040" y="1810512"/>
            <a:ext cx="310896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First In, First Out</a:t>
            </a:r>
            <a:endParaRPr lang="en-US" sz="1500" dirty="0"/>
          </a:p>
        </p:txBody>
      </p:sp>
      <p:sp>
        <p:nvSpPr>
          <p:cNvPr id="7" name="Text 5"/>
          <p:cNvSpPr/>
          <p:nvPr/>
        </p:nvSpPr>
        <p:spPr>
          <a:xfrm>
            <a:off x="868680" y="2450592"/>
            <a:ext cx="4754880" cy="1005840"/>
          </a:xfrm>
          <a:prstGeom prst="rect">
            <a:avLst/>
          </a:prstGeom>
          <a:noFill/>
          <a:ln/>
        </p:spPr>
        <p:txBody>
          <a:bodyPr wrap="square" lIns="0" tIns="0" rIns="0" bIns="0" rtlCol="0" anchor="ctr"/>
          <a:lstStyle/>
          <a:p>
            <a:pPr marL="0" indent="0">
              <a:lnSpc>
                <a:spcPts val="1900"/>
              </a:lnSpc>
              <a:buNone/>
            </a:pPr>
            <a:r>
              <a:rPr lang="en-US" sz="1250" dirty="0">
                <a:solidFill>
                  <a:srgbClr val="C8D8C4"/>
                </a:solidFill>
                <a:latin typeface="Calibri" pitchFamily="34" charset="0"/>
                <a:ea typeface="Calibri" pitchFamily="34" charset="-122"/>
                <a:cs typeface="Calibri" pitchFamily="34" charset="-120"/>
              </a:rPr>
              <a:t>Whatever comes in first goes out first. That keeps waste down and means families consistently receive fresher food rather than whatever happens to be easiest to reach. Perishable food is always distributed first.</a:t>
            </a:r>
            <a:endParaRPr lang="en-US" sz="1250" dirty="0"/>
          </a:p>
        </p:txBody>
      </p:sp>
      <p:sp>
        <p:nvSpPr>
          <p:cNvPr id="8" name="Shape 6"/>
          <p:cNvSpPr/>
          <p:nvPr/>
        </p:nvSpPr>
        <p:spPr>
          <a:xfrm>
            <a:off x="548640" y="3730752"/>
            <a:ext cx="5394960" cy="2286000"/>
          </a:xfrm>
          <a:prstGeom prst="roundRect">
            <a:avLst>
              <a:gd name="adj" fmla="val 3600"/>
            </a:avLst>
          </a:prstGeom>
          <a:solidFill>
            <a:srgbClr val="EEF3EA"/>
          </a:solidFill>
          <a:ln w="12700">
            <a:solidFill>
              <a:srgbClr val="EEF3EA"/>
            </a:solidFill>
            <a:prstDash val="solid"/>
          </a:ln>
        </p:spPr>
      </p:sp>
      <p:sp>
        <p:nvSpPr>
          <p:cNvPr id="9" name="Text 7"/>
          <p:cNvSpPr/>
          <p:nvPr/>
        </p:nvSpPr>
        <p:spPr>
          <a:xfrm>
            <a:off x="868680" y="3931920"/>
            <a:ext cx="4754880" cy="292608"/>
          </a:xfrm>
          <a:prstGeom prst="rect">
            <a:avLst/>
          </a:prstGeom>
          <a:noFill/>
          <a:ln/>
        </p:spPr>
        <p:txBody>
          <a:bodyPr wrap="square" lIns="0" tIns="0" rIns="0" bIns="0" rtlCol="0" anchor="ctr"/>
          <a:lstStyle/>
          <a:p>
            <a:pPr marL="0" indent="0">
              <a:buNone/>
            </a:pPr>
            <a:r>
              <a:rPr lang="en-US" sz="1700" b="1" dirty="0">
                <a:solidFill>
                  <a:srgbClr val="163D24"/>
                </a:solidFill>
                <a:latin typeface="Cambria" pitchFamily="34" charset="0"/>
                <a:ea typeface="Cambria" pitchFamily="34" charset="-122"/>
                <a:cs typeface="Cambria" pitchFamily="34" charset="-120"/>
              </a:rPr>
              <a:t>Package assembly</a:t>
            </a:r>
            <a:endParaRPr lang="en-US" sz="1700" dirty="0"/>
          </a:p>
        </p:txBody>
      </p:sp>
      <p:sp>
        <p:nvSpPr>
          <p:cNvPr id="10" name="Text 8"/>
          <p:cNvSpPr/>
          <p:nvPr/>
        </p:nvSpPr>
        <p:spPr>
          <a:xfrm>
            <a:off x="914400" y="4315968"/>
            <a:ext cx="4709160" cy="15544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2E20"/>
                </a:solidFill>
                <a:latin typeface="Calibri" pitchFamily="34" charset="0"/>
                <a:ea typeface="Calibri" pitchFamily="34" charset="-122"/>
                <a:cs typeface="Calibri" pitchFamily="34" charset="-120"/>
              </a:rPr>
              <a:t>Families are registered before they receive anything</a:t>
            </a:r>
            <a:endParaRPr lang="en-US" sz="1250" dirty="0"/>
          </a:p>
          <a:p>
            <a:pPr marL="342900" indent="-342900">
              <a:spcAft>
                <a:spcPts val="800"/>
              </a:spcAft>
              <a:buSzPct val="100000"/>
              <a:buChar char="•"/>
            </a:pPr>
            <a:r>
              <a:rPr lang="en-US" sz="1250" dirty="0">
                <a:solidFill>
                  <a:srgbClr val="1A2E20"/>
                </a:solidFill>
                <a:latin typeface="Calibri" pitchFamily="34" charset="0"/>
                <a:ea typeface="Calibri" pitchFamily="34" charset="-122"/>
                <a:cs typeface="Calibri" pitchFamily="34" charset="-120"/>
              </a:rPr>
              <a:t>Packages are put together based on family size and monthly need</a:t>
            </a:r>
            <a:endParaRPr lang="en-US" sz="1250" dirty="0"/>
          </a:p>
          <a:p>
            <a:pPr marL="342900" indent="-342900">
              <a:spcAft>
                <a:spcPts val="800"/>
              </a:spcAft>
              <a:buSzPct val="100000"/>
              <a:buChar char="•"/>
            </a:pPr>
            <a:r>
              <a:rPr lang="en-US" sz="1250" dirty="0">
                <a:solidFill>
                  <a:srgbClr val="1A2E20"/>
                </a:solidFill>
                <a:latin typeface="Calibri" pitchFamily="34" charset="0"/>
                <a:ea typeface="Calibri" pitchFamily="34" charset="-122"/>
                <a:cs typeface="Calibri" pitchFamily="34" charset="-120"/>
              </a:rPr>
              <a:t>Food is distributed once every month to registered families</a:t>
            </a:r>
            <a:endParaRPr lang="en-US" sz="1250" dirty="0"/>
          </a:p>
        </p:txBody>
      </p:sp>
      <p:sp>
        <p:nvSpPr>
          <p:cNvPr id="11" name="Text 9"/>
          <p:cNvSpPr/>
          <p:nvPr/>
        </p:nvSpPr>
        <p:spPr>
          <a:xfrm>
            <a:off x="6355080" y="1481328"/>
            <a:ext cx="5303520" cy="310896"/>
          </a:xfrm>
          <a:prstGeom prst="rect">
            <a:avLst/>
          </a:prstGeom>
          <a:noFill/>
          <a:ln/>
        </p:spPr>
        <p:txBody>
          <a:bodyPr wrap="square" lIns="0" tIns="0" rIns="0" bIns="0" rtlCol="0" anchor="ctr"/>
          <a:lstStyle/>
          <a:p>
            <a:pPr marL="0" indent="0">
              <a:buNone/>
            </a:pPr>
            <a:r>
              <a:rPr lang="en-US" sz="1800" b="1" dirty="0">
                <a:solidFill>
                  <a:srgbClr val="163D24"/>
                </a:solidFill>
                <a:latin typeface="Cambria" pitchFamily="34" charset="0"/>
                <a:ea typeface="Cambria" pitchFamily="34" charset="-122"/>
                <a:cs typeface="Cambria" pitchFamily="34" charset="-120"/>
              </a:rPr>
              <a:t>What a family record holds</a:t>
            </a:r>
            <a:endParaRPr lang="en-US" sz="1800" dirty="0"/>
          </a:p>
        </p:txBody>
      </p:sp>
      <p:sp>
        <p:nvSpPr>
          <p:cNvPr id="12" name="Shape 10"/>
          <p:cNvSpPr/>
          <p:nvPr/>
        </p:nvSpPr>
        <p:spPr>
          <a:xfrm>
            <a:off x="6355080" y="1901952"/>
            <a:ext cx="5285232" cy="804672"/>
          </a:xfrm>
          <a:prstGeom prst="roundRect">
            <a:avLst>
              <a:gd name="adj" fmla="val 10227"/>
            </a:avLst>
          </a:prstGeom>
          <a:solidFill>
            <a:srgbClr val="EEF3EA"/>
          </a:solidFill>
          <a:ln w="12700">
            <a:solidFill>
              <a:srgbClr val="EEF3EA"/>
            </a:solidFill>
            <a:prstDash val="solid"/>
          </a:ln>
        </p:spPr>
      </p:sp>
      <p:sp>
        <p:nvSpPr>
          <p:cNvPr id="13" name="Shape 11"/>
          <p:cNvSpPr/>
          <p:nvPr/>
        </p:nvSpPr>
        <p:spPr>
          <a:xfrm>
            <a:off x="6601968" y="2194560"/>
            <a:ext cx="219456" cy="219456"/>
          </a:xfrm>
          <a:prstGeom prst="ellipse">
            <a:avLst/>
          </a:prstGeom>
          <a:solidFill>
            <a:srgbClr val="D97A26"/>
          </a:solidFill>
          <a:ln w="12700">
            <a:solidFill>
              <a:srgbClr val="D97A26"/>
            </a:solidFill>
            <a:prstDash val="solid"/>
          </a:ln>
        </p:spPr>
      </p:sp>
      <p:sp>
        <p:nvSpPr>
          <p:cNvPr id="14" name="Text 12"/>
          <p:cNvSpPr/>
          <p:nvPr/>
        </p:nvSpPr>
        <p:spPr>
          <a:xfrm>
            <a:off x="6967728" y="2011680"/>
            <a:ext cx="2103120" cy="292608"/>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Family ID</a:t>
            </a:r>
            <a:endParaRPr lang="en-US" sz="1300" dirty="0"/>
          </a:p>
        </p:txBody>
      </p:sp>
      <p:sp>
        <p:nvSpPr>
          <p:cNvPr id="15" name="Text 13"/>
          <p:cNvSpPr/>
          <p:nvPr/>
        </p:nvSpPr>
        <p:spPr>
          <a:xfrm>
            <a:off x="6967728" y="2304288"/>
            <a:ext cx="4480560" cy="27432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Unique identifier for the household</a:t>
            </a:r>
            <a:endParaRPr lang="en-US" sz="1050" dirty="0"/>
          </a:p>
        </p:txBody>
      </p:sp>
      <p:sp>
        <p:nvSpPr>
          <p:cNvPr id="16" name="Shape 14"/>
          <p:cNvSpPr/>
          <p:nvPr/>
        </p:nvSpPr>
        <p:spPr>
          <a:xfrm>
            <a:off x="6355080" y="2779776"/>
            <a:ext cx="5285232" cy="804672"/>
          </a:xfrm>
          <a:prstGeom prst="roundRect">
            <a:avLst>
              <a:gd name="adj" fmla="val 10227"/>
            </a:avLst>
          </a:prstGeom>
          <a:solidFill>
            <a:srgbClr val="F3F6F0"/>
          </a:solidFill>
          <a:ln w="12700">
            <a:solidFill>
              <a:srgbClr val="F3F6F0"/>
            </a:solidFill>
            <a:prstDash val="solid"/>
          </a:ln>
        </p:spPr>
      </p:sp>
      <p:sp>
        <p:nvSpPr>
          <p:cNvPr id="17" name="Shape 15"/>
          <p:cNvSpPr/>
          <p:nvPr/>
        </p:nvSpPr>
        <p:spPr>
          <a:xfrm>
            <a:off x="6601968" y="3072384"/>
            <a:ext cx="219456" cy="219456"/>
          </a:xfrm>
          <a:prstGeom prst="ellipse">
            <a:avLst/>
          </a:prstGeom>
          <a:solidFill>
            <a:srgbClr val="D97A26"/>
          </a:solidFill>
          <a:ln w="12700">
            <a:solidFill>
              <a:srgbClr val="D97A26"/>
            </a:solidFill>
            <a:prstDash val="solid"/>
          </a:ln>
        </p:spPr>
      </p:sp>
      <p:sp>
        <p:nvSpPr>
          <p:cNvPr id="18" name="Text 16"/>
          <p:cNvSpPr/>
          <p:nvPr/>
        </p:nvSpPr>
        <p:spPr>
          <a:xfrm>
            <a:off x="6967728" y="2889504"/>
            <a:ext cx="2103120" cy="292608"/>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Address</a:t>
            </a:r>
            <a:endParaRPr lang="en-US" sz="1300" dirty="0"/>
          </a:p>
        </p:txBody>
      </p:sp>
      <p:sp>
        <p:nvSpPr>
          <p:cNvPr id="19" name="Text 17"/>
          <p:cNvSpPr/>
          <p:nvPr/>
        </p:nvSpPr>
        <p:spPr>
          <a:xfrm>
            <a:off x="6967728" y="3182112"/>
            <a:ext cx="4480560" cy="27432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Hub assignment and delivery routing</a:t>
            </a:r>
            <a:endParaRPr lang="en-US" sz="1050" dirty="0"/>
          </a:p>
        </p:txBody>
      </p:sp>
      <p:sp>
        <p:nvSpPr>
          <p:cNvPr id="20" name="Shape 18"/>
          <p:cNvSpPr/>
          <p:nvPr/>
        </p:nvSpPr>
        <p:spPr>
          <a:xfrm>
            <a:off x="6355080" y="3657600"/>
            <a:ext cx="5285232" cy="804672"/>
          </a:xfrm>
          <a:prstGeom prst="roundRect">
            <a:avLst>
              <a:gd name="adj" fmla="val 10227"/>
            </a:avLst>
          </a:prstGeom>
          <a:solidFill>
            <a:srgbClr val="EEF3EA"/>
          </a:solidFill>
          <a:ln w="12700">
            <a:solidFill>
              <a:srgbClr val="EEF3EA"/>
            </a:solidFill>
            <a:prstDash val="solid"/>
          </a:ln>
        </p:spPr>
      </p:sp>
      <p:sp>
        <p:nvSpPr>
          <p:cNvPr id="21" name="Shape 19"/>
          <p:cNvSpPr/>
          <p:nvPr/>
        </p:nvSpPr>
        <p:spPr>
          <a:xfrm>
            <a:off x="6601968" y="3950208"/>
            <a:ext cx="219456" cy="219456"/>
          </a:xfrm>
          <a:prstGeom prst="ellipse">
            <a:avLst/>
          </a:prstGeom>
          <a:solidFill>
            <a:srgbClr val="D97A26"/>
          </a:solidFill>
          <a:ln w="12700">
            <a:solidFill>
              <a:srgbClr val="D97A26"/>
            </a:solidFill>
            <a:prstDash val="solid"/>
          </a:ln>
        </p:spPr>
      </p:sp>
      <p:sp>
        <p:nvSpPr>
          <p:cNvPr id="22" name="Text 20"/>
          <p:cNvSpPr/>
          <p:nvPr/>
        </p:nvSpPr>
        <p:spPr>
          <a:xfrm>
            <a:off x="6967728" y="3767328"/>
            <a:ext cx="2103120" cy="292608"/>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Household size</a:t>
            </a:r>
            <a:endParaRPr lang="en-US" sz="1300" dirty="0"/>
          </a:p>
        </p:txBody>
      </p:sp>
      <p:sp>
        <p:nvSpPr>
          <p:cNvPr id="23" name="Text 21"/>
          <p:cNvSpPr/>
          <p:nvPr/>
        </p:nvSpPr>
        <p:spPr>
          <a:xfrm>
            <a:off x="6967728" y="4059936"/>
            <a:ext cx="4480560" cy="27432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Drives package size and contents</a:t>
            </a:r>
            <a:endParaRPr lang="en-US" sz="1050" dirty="0"/>
          </a:p>
        </p:txBody>
      </p:sp>
      <p:sp>
        <p:nvSpPr>
          <p:cNvPr id="24" name="Shape 22"/>
          <p:cNvSpPr/>
          <p:nvPr/>
        </p:nvSpPr>
        <p:spPr>
          <a:xfrm>
            <a:off x="6355080" y="4535424"/>
            <a:ext cx="5285232" cy="804672"/>
          </a:xfrm>
          <a:prstGeom prst="roundRect">
            <a:avLst>
              <a:gd name="adj" fmla="val 10227"/>
            </a:avLst>
          </a:prstGeom>
          <a:solidFill>
            <a:srgbClr val="F3F6F0"/>
          </a:solidFill>
          <a:ln w="12700">
            <a:solidFill>
              <a:srgbClr val="F3F6F0"/>
            </a:solidFill>
            <a:prstDash val="solid"/>
          </a:ln>
        </p:spPr>
      </p:sp>
      <p:sp>
        <p:nvSpPr>
          <p:cNvPr id="25" name="Shape 23"/>
          <p:cNvSpPr/>
          <p:nvPr/>
        </p:nvSpPr>
        <p:spPr>
          <a:xfrm>
            <a:off x="6601968" y="4828032"/>
            <a:ext cx="219456" cy="219456"/>
          </a:xfrm>
          <a:prstGeom prst="ellipse">
            <a:avLst/>
          </a:prstGeom>
          <a:solidFill>
            <a:srgbClr val="D97A26"/>
          </a:solidFill>
          <a:ln w="12700">
            <a:solidFill>
              <a:srgbClr val="D97A26"/>
            </a:solidFill>
            <a:prstDash val="solid"/>
          </a:ln>
        </p:spPr>
      </p:sp>
      <p:sp>
        <p:nvSpPr>
          <p:cNvPr id="26" name="Text 24"/>
          <p:cNvSpPr/>
          <p:nvPr/>
        </p:nvSpPr>
        <p:spPr>
          <a:xfrm>
            <a:off x="6967728" y="4645152"/>
            <a:ext cx="2103120" cy="292608"/>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Ages</a:t>
            </a:r>
            <a:endParaRPr lang="en-US" sz="1300" dirty="0"/>
          </a:p>
        </p:txBody>
      </p:sp>
      <p:sp>
        <p:nvSpPr>
          <p:cNvPr id="27" name="Text 25"/>
          <p:cNvSpPr/>
          <p:nvPr/>
        </p:nvSpPr>
        <p:spPr>
          <a:xfrm>
            <a:off x="6967728" y="4937760"/>
            <a:ext cx="4480560" cy="27432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Adults, children and seniors in the household</a:t>
            </a:r>
            <a:endParaRPr lang="en-US" sz="1050" dirty="0"/>
          </a:p>
        </p:txBody>
      </p:sp>
      <p:sp>
        <p:nvSpPr>
          <p:cNvPr id="28" name="Shape 26"/>
          <p:cNvSpPr/>
          <p:nvPr/>
        </p:nvSpPr>
        <p:spPr>
          <a:xfrm>
            <a:off x="6355080" y="5413248"/>
            <a:ext cx="5285232" cy="804672"/>
          </a:xfrm>
          <a:prstGeom prst="roundRect">
            <a:avLst>
              <a:gd name="adj" fmla="val 10227"/>
            </a:avLst>
          </a:prstGeom>
          <a:solidFill>
            <a:srgbClr val="EEF3EA"/>
          </a:solidFill>
          <a:ln w="12700">
            <a:solidFill>
              <a:srgbClr val="EEF3EA"/>
            </a:solidFill>
            <a:prstDash val="solid"/>
          </a:ln>
        </p:spPr>
      </p:sp>
      <p:sp>
        <p:nvSpPr>
          <p:cNvPr id="29" name="Shape 27"/>
          <p:cNvSpPr/>
          <p:nvPr/>
        </p:nvSpPr>
        <p:spPr>
          <a:xfrm>
            <a:off x="6601968" y="5705856"/>
            <a:ext cx="219456" cy="219456"/>
          </a:xfrm>
          <a:prstGeom prst="ellipse">
            <a:avLst/>
          </a:prstGeom>
          <a:solidFill>
            <a:srgbClr val="D97A26"/>
          </a:solidFill>
          <a:ln w="12700">
            <a:solidFill>
              <a:srgbClr val="D97A26"/>
            </a:solidFill>
            <a:prstDash val="solid"/>
          </a:ln>
        </p:spPr>
      </p:sp>
      <p:sp>
        <p:nvSpPr>
          <p:cNvPr id="30" name="Text 28"/>
          <p:cNvSpPr/>
          <p:nvPr/>
        </p:nvSpPr>
        <p:spPr>
          <a:xfrm>
            <a:off x="6967728" y="5522976"/>
            <a:ext cx="2103120" cy="292608"/>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Food allergies</a:t>
            </a:r>
            <a:endParaRPr lang="en-US" sz="1300" dirty="0"/>
          </a:p>
        </p:txBody>
      </p:sp>
      <p:sp>
        <p:nvSpPr>
          <p:cNvPr id="31" name="Text 29"/>
          <p:cNvSpPr/>
          <p:nvPr/>
        </p:nvSpPr>
        <p:spPr>
          <a:xfrm>
            <a:off x="6967728" y="5815584"/>
            <a:ext cx="4480560" cy="274320"/>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Excluded items flagged at packing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Transportation</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10 — two trucks doing three jobs</a:t>
            </a:r>
            <a:endParaRPr lang="en-US" sz="1400" dirty="0"/>
          </a:p>
        </p:txBody>
      </p:sp>
      <p:sp>
        <p:nvSpPr>
          <p:cNvPr id="4" name="Shape 2"/>
          <p:cNvSpPr/>
          <p:nvPr/>
        </p:nvSpPr>
        <p:spPr>
          <a:xfrm>
            <a:off x="548640" y="1481328"/>
            <a:ext cx="3566160" cy="2194560"/>
          </a:xfrm>
          <a:prstGeom prst="roundRect">
            <a:avLst>
              <a:gd name="adj" fmla="val 3750"/>
            </a:avLst>
          </a:prstGeom>
          <a:solidFill>
            <a:srgbClr val="EEF3EA"/>
          </a:solidFill>
          <a:ln w="12700">
            <a:solidFill>
              <a:srgbClr val="EEF3EA"/>
            </a:solidFill>
            <a:prstDash val="solid"/>
          </a:ln>
        </p:spPr>
      </p:sp>
      <p:sp>
        <p:nvSpPr>
          <p:cNvPr id="5" name="Shape 3"/>
          <p:cNvSpPr/>
          <p:nvPr/>
        </p:nvSpPr>
        <p:spPr>
          <a:xfrm>
            <a:off x="841248" y="1755648"/>
            <a:ext cx="548640" cy="548640"/>
          </a:xfrm>
          <a:prstGeom prst="ellipse">
            <a:avLst/>
          </a:prstGeom>
          <a:solidFill>
            <a:srgbClr val="2C5F2D"/>
          </a:solidFill>
          <a:ln w="12700">
            <a:solidFill>
              <a:srgbClr val="2C5F2D"/>
            </a:solidFill>
            <a:prstDash val="solid"/>
          </a:ln>
        </p:spPr>
      </p:sp>
      <p:sp>
        <p:nvSpPr>
          <p:cNvPr id="6" name="Text 4"/>
          <p:cNvSpPr/>
          <p:nvPr/>
        </p:nvSpPr>
        <p:spPr>
          <a:xfrm>
            <a:off x="841248" y="17556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41248" y="2423160"/>
            <a:ext cx="2980944" cy="548640"/>
          </a:xfrm>
          <a:prstGeom prst="rect">
            <a:avLst/>
          </a:prstGeom>
          <a:noFill/>
          <a:ln/>
        </p:spPr>
        <p:txBody>
          <a:bodyPr wrap="square" lIns="0" tIns="0" rIns="0" bIns="0" rtlCol="0" anchor="ctr"/>
          <a:lstStyle/>
          <a:p>
            <a:pPr marL="0" indent="0">
              <a:buNone/>
            </a:pPr>
            <a:r>
              <a:rPr lang="en-US" sz="1450" b="1" dirty="0">
                <a:solidFill>
                  <a:srgbClr val="163D24"/>
                </a:solidFill>
                <a:latin typeface="Calibri" pitchFamily="34" charset="0"/>
                <a:ea typeface="Calibri" pitchFamily="34" charset="-122"/>
                <a:cs typeface="Calibri" pitchFamily="34" charset="-120"/>
              </a:rPr>
              <a:t>Pick up donations</a:t>
            </a:r>
            <a:endParaRPr lang="en-US" sz="1450" dirty="0"/>
          </a:p>
        </p:txBody>
      </p:sp>
      <p:sp>
        <p:nvSpPr>
          <p:cNvPr id="8" name="Text 6"/>
          <p:cNvSpPr/>
          <p:nvPr/>
        </p:nvSpPr>
        <p:spPr>
          <a:xfrm>
            <a:off x="841248" y="2944368"/>
            <a:ext cx="2980944" cy="621792"/>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Collect from partner grocery stores, restaurants, farms and community organizations on the pickup schedule</a:t>
            </a:r>
            <a:endParaRPr lang="en-US" sz="1100" dirty="0"/>
          </a:p>
        </p:txBody>
      </p:sp>
      <p:sp>
        <p:nvSpPr>
          <p:cNvPr id="9" name="Shape 7"/>
          <p:cNvSpPr/>
          <p:nvPr/>
        </p:nvSpPr>
        <p:spPr>
          <a:xfrm>
            <a:off x="4325112" y="1481328"/>
            <a:ext cx="3566160" cy="2194560"/>
          </a:xfrm>
          <a:prstGeom prst="roundRect">
            <a:avLst>
              <a:gd name="adj" fmla="val 3750"/>
            </a:avLst>
          </a:prstGeom>
          <a:solidFill>
            <a:srgbClr val="EEF3EA"/>
          </a:solidFill>
          <a:ln w="12700">
            <a:solidFill>
              <a:srgbClr val="EEF3EA"/>
            </a:solidFill>
            <a:prstDash val="solid"/>
          </a:ln>
        </p:spPr>
      </p:sp>
      <p:sp>
        <p:nvSpPr>
          <p:cNvPr id="10" name="Shape 8"/>
          <p:cNvSpPr/>
          <p:nvPr/>
        </p:nvSpPr>
        <p:spPr>
          <a:xfrm>
            <a:off x="4617720" y="1755648"/>
            <a:ext cx="548640" cy="548640"/>
          </a:xfrm>
          <a:prstGeom prst="ellipse">
            <a:avLst/>
          </a:prstGeom>
          <a:solidFill>
            <a:srgbClr val="2C5F2D"/>
          </a:solidFill>
          <a:ln w="12700">
            <a:solidFill>
              <a:srgbClr val="2C5F2D"/>
            </a:solidFill>
            <a:prstDash val="solid"/>
          </a:ln>
        </p:spPr>
      </p:sp>
      <p:sp>
        <p:nvSpPr>
          <p:cNvPr id="11" name="Text 9"/>
          <p:cNvSpPr/>
          <p:nvPr/>
        </p:nvSpPr>
        <p:spPr>
          <a:xfrm>
            <a:off x="4617720" y="17556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617720" y="2423160"/>
            <a:ext cx="2980944" cy="548640"/>
          </a:xfrm>
          <a:prstGeom prst="rect">
            <a:avLst/>
          </a:prstGeom>
          <a:noFill/>
          <a:ln/>
        </p:spPr>
        <p:txBody>
          <a:bodyPr wrap="square" lIns="0" tIns="0" rIns="0" bIns="0" rtlCol="0" anchor="ctr"/>
          <a:lstStyle/>
          <a:p>
            <a:pPr marL="0" indent="0">
              <a:buNone/>
            </a:pPr>
            <a:r>
              <a:rPr lang="en-US" sz="1450" b="1" dirty="0">
                <a:solidFill>
                  <a:srgbClr val="163D24"/>
                </a:solidFill>
                <a:latin typeface="Calibri" pitchFamily="34" charset="0"/>
                <a:ea typeface="Calibri" pitchFamily="34" charset="-122"/>
                <a:cs typeface="Calibri" pitchFamily="34" charset="-120"/>
              </a:rPr>
              <a:t>Move food between warehouses</a:t>
            </a:r>
            <a:endParaRPr lang="en-US" sz="1450" dirty="0"/>
          </a:p>
        </p:txBody>
      </p:sp>
      <p:sp>
        <p:nvSpPr>
          <p:cNvPr id="13" name="Text 11"/>
          <p:cNvSpPr/>
          <p:nvPr/>
        </p:nvSpPr>
        <p:spPr>
          <a:xfrm>
            <a:off x="4617720" y="2944368"/>
            <a:ext cx="2980944" cy="621792"/>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Rebalance stock across the three hubs when one runs full or short</a:t>
            </a:r>
            <a:endParaRPr lang="en-US" sz="1100" dirty="0"/>
          </a:p>
        </p:txBody>
      </p:sp>
      <p:sp>
        <p:nvSpPr>
          <p:cNvPr id="14" name="Shape 12"/>
          <p:cNvSpPr/>
          <p:nvPr/>
        </p:nvSpPr>
        <p:spPr>
          <a:xfrm>
            <a:off x="8101584" y="1481328"/>
            <a:ext cx="3566160" cy="2194560"/>
          </a:xfrm>
          <a:prstGeom prst="roundRect">
            <a:avLst>
              <a:gd name="adj" fmla="val 3750"/>
            </a:avLst>
          </a:prstGeom>
          <a:solidFill>
            <a:srgbClr val="EEF3EA"/>
          </a:solidFill>
          <a:ln w="12700">
            <a:solidFill>
              <a:srgbClr val="EEF3EA"/>
            </a:solidFill>
            <a:prstDash val="solid"/>
          </a:ln>
        </p:spPr>
      </p:sp>
      <p:sp>
        <p:nvSpPr>
          <p:cNvPr id="15" name="Shape 13"/>
          <p:cNvSpPr/>
          <p:nvPr/>
        </p:nvSpPr>
        <p:spPr>
          <a:xfrm>
            <a:off x="8394192" y="1755648"/>
            <a:ext cx="548640" cy="548640"/>
          </a:xfrm>
          <a:prstGeom prst="ellipse">
            <a:avLst/>
          </a:prstGeom>
          <a:solidFill>
            <a:srgbClr val="2C5F2D"/>
          </a:solidFill>
          <a:ln w="12700">
            <a:solidFill>
              <a:srgbClr val="2C5F2D"/>
            </a:solidFill>
            <a:prstDash val="solid"/>
          </a:ln>
        </p:spPr>
      </p:sp>
      <p:sp>
        <p:nvSpPr>
          <p:cNvPr id="16" name="Text 14"/>
          <p:cNvSpPr/>
          <p:nvPr/>
        </p:nvSpPr>
        <p:spPr>
          <a:xfrm>
            <a:off x="8394192" y="17556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394192" y="2423160"/>
            <a:ext cx="2980944" cy="548640"/>
          </a:xfrm>
          <a:prstGeom prst="rect">
            <a:avLst/>
          </a:prstGeom>
          <a:noFill/>
          <a:ln/>
        </p:spPr>
        <p:txBody>
          <a:bodyPr wrap="square" lIns="0" tIns="0" rIns="0" bIns="0" rtlCol="0" anchor="ctr"/>
          <a:lstStyle/>
          <a:p>
            <a:pPr marL="0" indent="0">
              <a:buNone/>
            </a:pPr>
            <a:r>
              <a:rPr lang="en-US" sz="1450" b="1" dirty="0">
                <a:solidFill>
                  <a:srgbClr val="163D24"/>
                </a:solidFill>
                <a:latin typeface="Calibri" pitchFamily="34" charset="0"/>
                <a:ea typeface="Calibri" pitchFamily="34" charset="-122"/>
                <a:cs typeface="Calibri" pitchFamily="34" charset="-120"/>
              </a:rPr>
              <a:t>Support distribution runs</a:t>
            </a:r>
            <a:endParaRPr lang="en-US" sz="1450" dirty="0"/>
          </a:p>
        </p:txBody>
      </p:sp>
      <p:sp>
        <p:nvSpPr>
          <p:cNvPr id="18" name="Text 16"/>
          <p:cNvSpPr/>
          <p:nvPr/>
        </p:nvSpPr>
        <p:spPr>
          <a:xfrm>
            <a:off x="8394192" y="2944368"/>
            <a:ext cx="2980944" cy="621792"/>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Deliver assembled monthly packages to registered families</a:t>
            </a:r>
            <a:endParaRPr lang="en-US" sz="1100" dirty="0"/>
          </a:p>
        </p:txBody>
      </p:sp>
      <p:sp>
        <p:nvSpPr>
          <p:cNvPr id="19" name="Shape 17"/>
          <p:cNvSpPr/>
          <p:nvPr/>
        </p:nvSpPr>
        <p:spPr>
          <a:xfrm>
            <a:off x="548640" y="3913632"/>
            <a:ext cx="5394960" cy="2103120"/>
          </a:xfrm>
          <a:prstGeom prst="roundRect">
            <a:avLst>
              <a:gd name="adj" fmla="val 3913"/>
            </a:avLst>
          </a:prstGeom>
          <a:solidFill>
            <a:srgbClr val="163D24"/>
          </a:solidFill>
          <a:ln w="12700">
            <a:solidFill>
              <a:srgbClr val="163D24"/>
            </a:solidFill>
            <a:prstDash val="solid"/>
          </a:ln>
        </p:spPr>
      </p:sp>
      <p:sp>
        <p:nvSpPr>
          <p:cNvPr id="20" name="Text 18"/>
          <p:cNvSpPr/>
          <p:nvPr/>
        </p:nvSpPr>
        <p:spPr>
          <a:xfrm>
            <a:off x="868680" y="4114800"/>
            <a:ext cx="4754880" cy="310896"/>
          </a:xfrm>
          <a:prstGeom prst="rect">
            <a:avLst/>
          </a:prstGeom>
          <a:noFill/>
          <a:ln/>
        </p:spPr>
        <p:txBody>
          <a:bodyPr wrap="square" lIns="0" tIns="0" rIns="0" bIns="0" rtlCol="0" anchor="ctr"/>
          <a:lstStyle/>
          <a:p>
            <a:pPr marL="0" indent="0">
              <a:buNone/>
            </a:pPr>
            <a:r>
              <a:rPr lang="en-US" sz="1700" b="1" dirty="0">
                <a:solidFill>
                  <a:srgbClr val="97BC62"/>
                </a:solidFill>
                <a:latin typeface="Cambria" pitchFamily="34" charset="0"/>
                <a:ea typeface="Cambria" pitchFamily="34" charset="-122"/>
                <a:cs typeface="Cambria" pitchFamily="34" charset="-120"/>
              </a:rPr>
              <a:t>Route classification</a:t>
            </a:r>
            <a:endParaRPr lang="en-US" sz="1700" dirty="0"/>
          </a:p>
        </p:txBody>
      </p:sp>
      <p:sp>
        <p:nvSpPr>
          <p:cNvPr id="21" name="Text 19"/>
          <p:cNvSpPr/>
          <p:nvPr/>
        </p:nvSpPr>
        <p:spPr>
          <a:xfrm>
            <a:off x="868680" y="4553712"/>
            <a:ext cx="21945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&lt; 50 km</a:t>
            </a:r>
            <a:endParaRPr lang="en-US" sz="3000" dirty="0"/>
          </a:p>
        </p:txBody>
      </p:sp>
      <p:sp>
        <p:nvSpPr>
          <p:cNvPr id="22" name="Text 20"/>
          <p:cNvSpPr/>
          <p:nvPr/>
        </p:nvSpPr>
        <p:spPr>
          <a:xfrm>
            <a:off x="868680" y="5102352"/>
            <a:ext cx="2194560" cy="274320"/>
          </a:xfrm>
          <a:prstGeom prst="rect">
            <a:avLst/>
          </a:prstGeom>
          <a:noFill/>
          <a:ln/>
        </p:spPr>
        <p:txBody>
          <a:bodyPr wrap="square" lIns="0" tIns="0" rIns="0" bIns="0" rtlCol="0" anchor="ctr"/>
          <a:lstStyle/>
          <a:p>
            <a:pPr marL="0" indent="0">
              <a:buNone/>
            </a:pPr>
            <a:r>
              <a:rPr lang="en-US" sz="1100" b="1" kern="0" spc="140" dirty="0">
                <a:solidFill>
                  <a:srgbClr val="D97A26"/>
                </a:solidFill>
                <a:latin typeface="Calibri" pitchFamily="34" charset="0"/>
                <a:ea typeface="Calibri" pitchFamily="34" charset="-122"/>
                <a:cs typeface="Calibri" pitchFamily="34" charset="-120"/>
              </a:rPr>
              <a:t>SHORT HAUL</a:t>
            </a:r>
            <a:endParaRPr lang="en-US" sz="1100" dirty="0"/>
          </a:p>
        </p:txBody>
      </p:sp>
      <p:sp>
        <p:nvSpPr>
          <p:cNvPr id="23" name="Shape 21"/>
          <p:cNvSpPr/>
          <p:nvPr/>
        </p:nvSpPr>
        <p:spPr>
          <a:xfrm>
            <a:off x="3246120" y="4553712"/>
            <a:ext cx="18288" cy="1097280"/>
          </a:xfrm>
          <a:prstGeom prst="rect">
            <a:avLst/>
          </a:prstGeom>
          <a:solidFill>
            <a:srgbClr val="3D6B4B"/>
          </a:solidFill>
          <a:ln w="12700">
            <a:solidFill>
              <a:srgbClr val="3D6B4B"/>
            </a:solidFill>
            <a:prstDash val="solid"/>
          </a:ln>
        </p:spPr>
      </p:sp>
      <p:sp>
        <p:nvSpPr>
          <p:cNvPr id="24" name="Text 22"/>
          <p:cNvSpPr/>
          <p:nvPr/>
        </p:nvSpPr>
        <p:spPr>
          <a:xfrm>
            <a:off x="3566160" y="4553712"/>
            <a:ext cx="21945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50 km +</a:t>
            </a:r>
            <a:endParaRPr lang="en-US" sz="3000" dirty="0"/>
          </a:p>
        </p:txBody>
      </p:sp>
      <p:sp>
        <p:nvSpPr>
          <p:cNvPr id="25" name="Text 23"/>
          <p:cNvSpPr/>
          <p:nvPr/>
        </p:nvSpPr>
        <p:spPr>
          <a:xfrm>
            <a:off x="3566160" y="5102352"/>
            <a:ext cx="2194560" cy="274320"/>
          </a:xfrm>
          <a:prstGeom prst="rect">
            <a:avLst/>
          </a:prstGeom>
          <a:noFill/>
          <a:ln/>
        </p:spPr>
        <p:txBody>
          <a:bodyPr wrap="square" lIns="0" tIns="0" rIns="0" bIns="0" rtlCol="0" anchor="ctr"/>
          <a:lstStyle/>
          <a:p>
            <a:pPr marL="0" indent="0">
              <a:buNone/>
            </a:pPr>
            <a:r>
              <a:rPr lang="en-US" sz="1100" b="1" kern="0" spc="140" dirty="0">
                <a:solidFill>
                  <a:srgbClr val="D97A26"/>
                </a:solidFill>
                <a:latin typeface="Calibri" pitchFamily="34" charset="0"/>
                <a:ea typeface="Calibri" pitchFamily="34" charset="-122"/>
                <a:cs typeface="Calibri" pitchFamily="34" charset="-120"/>
              </a:rPr>
              <a:t>LONG HAUL</a:t>
            </a:r>
            <a:endParaRPr lang="en-US" sz="1100" dirty="0"/>
          </a:p>
        </p:txBody>
      </p:sp>
      <p:sp>
        <p:nvSpPr>
          <p:cNvPr id="26" name="Shape 24"/>
          <p:cNvSpPr/>
          <p:nvPr/>
        </p:nvSpPr>
        <p:spPr>
          <a:xfrm>
            <a:off x="6355080" y="3913632"/>
            <a:ext cx="5285232" cy="2103120"/>
          </a:xfrm>
          <a:prstGeom prst="roundRect">
            <a:avLst>
              <a:gd name="adj" fmla="val 3913"/>
            </a:avLst>
          </a:prstGeom>
          <a:solidFill>
            <a:srgbClr val="F7F9F5"/>
          </a:solidFill>
          <a:ln w="12700">
            <a:solidFill>
              <a:srgbClr val="F7F9F5"/>
            </a:solidFill>
            <a:prstDash val="solid"/>
          </a:ln>
        </p:spPr>
      </p:sp>
      <p:sp>
        <p:nvSpPr>
          <p:cNvPr id="27" name="Text 25"/>
          <p:cNvSpPr/>
          <p:nvPr/>
        </p:nvSpPr>
        <p:spPr>
          <a:xfrm>
            <a:off x="6675120" y="4114800"/>
            <a:ext cx="4663440" cy="310896"/>
          </a:xfrm>
          <a:prstGeom prst="rect">
            <a:avLst/>
          </a:prstGeom>
          <a:noFill/>
          <a:ln/>
        </p:spPr>
        <p:txBody>
          <a:bodyPr wrap="square" lIns="0" tIns="0" rIns="0" bIns="0" rtlCol="0" anchor="ctr"/>
          <a:lstStyle/>
          <a:p>
            <a:pPr marL="0" indent="0">
              <a:buNone/>
            </a:pPr>
            <a:r>
              <a:rPr lang="en-US" sz="1700" b="1" dirty="0">
                <a:solidFill>
                  <a:srgbClr val="163D24"/>
                </a:solidFill>
                <a:latin typeface="Cambria" pitchFamily="34" charset="0"/>
                <a:ea typeface="Cambria" pitchFamily="34" charset="-122"/>
                <a:cs typeface="Cambria" pitchFamily="34" charset="-120"/>
              </a:rPr>
              <a:t>Fleet constraint</a:t>
            </a:r>
            <a:endParaRPr lang="en-US" sz="1700" dirty="0"/>
          </a:p>
        </p:txBody>
      </p:sp>
      <p:sp>
        <p:nvSpPr>
          <p:cNvPr id="28" name="Text 26"/>
          <p:cNvSpPr/>
          <p:nvPr/>
        </p:nvSpPr>
        <p:spPr>
          <a:xfrm>
            <a:off x="6675120" y="4480560"/>
            <a:ext cx="4663440" cy="1371600"/>
          </a:xfrm>
          <a:prstGeom prst="rect">
            <a:avLst/>
          </a:prstGeom>
          <a:noFill/>
          <a:ln/>
        </p:spPr>
        <p:txBody>
          <a:bodyPr wrap="square" lIns="0" tIns="0" rIns="0" bIns="0" rtlCol="0" anchor="ctr"/>
          <a:lstStyle/>
          <a:p>
            <a:pPr marL="0" indent="0">
              <a:lnSpc>
                <a:spcPts val="1900"/>
              </a:lnSpc>
              <a:buNone/>
            </a:pPr>
            <a:r>
              <a:rPr lang="en-US" sz="1200" dirty="0">
                <a:solidFill>
                  <a:srgbClr val="1A2E20"/>
                </a:solidFill>
                <a:latin typeface="Calibri" pitchFamily="34" charset="0"/>
                <a:ea typeface="Calibri" pitchFamily="34" charset="-122"/>
                <a:cs typeface="Calibri" pitchFamily="34" charset="-120"/>
              </a:rPr>
              <a:t>FoodShare currently runs two delivery trucks, and the plan assumes both remain available throughout the project. That is a real ceiling on how much can be collected and delivered in a week — which is why route balance across the three hubs is treated as a design question now rather than an operational surprise later.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Stakeholders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12 — nine groups with a stake in the outcome</a:t>
            </a:r>
            <a:endParaRPr lang="en-US" sz="1400" dirty="0"/>
          </a:p>
        </p:txBody>
      </p:sp>
      <p:sp>
        <p:nvSpPr>
          <p:cNvPr id="4" name="Shape 2"/>
          <p:cNvSpPr/>
          <p:nvPr/>
        </p:nvSpPr>
        <p:spPr>
          <a:xfrm>
            <a:off x="548640" y="1517904"/>
            <a:ext cx="3566160" cy="1371600"/>
          </a:xfrm>
          <a:prstGeom prst="roundRect">
            <a:avLst>
              <a:gd name="adj" fmla="val 6000"/>
            </a:avLst>
          </a:prstGeom>
          <a:solidFill>
            <a:srgbClr val="EEF3EA"/>
          </a:solidFill>
          <a:ln w="12700">
            <a:solidFill>
              <a:srgbClr val="EEF3EA"/>
            </a:solidFill>
            <a:prstDash val="solid"/>
          </a:ln>
        </p:spPr>
      </p:sp>
      <p:sp>
        <p:nvSpPr>
          <p:cNvPr id="5" name="Shape 3"/>
          <p:cNvSpPr/>
          <p:nvPr/>
        </p:nvSpPr>
        <p:spPr>
          <a:xfrm>
            <a:off x="822960" y="1773936"/>
            <a:ext cx="384048" cy="384048"/>
          </a:xfrm>
          <a:prstGeom prst="ellipse">
            <a:avLst/>
          </a:prstGeom>
          <a:solidFill>
            <a:srgbClr val="2C5F2D"/>
          </a:solidFill>
          <a:ln w="12700">
            <a:solidFill>
              <a:srgbClr val="2C5F2D"/>
            </a:solidFill>
            <a:prstDash val="solid"/>
          </a:ln>
        </p:spPr>
      </p:sp>
      <p:sp>
        <p:nvSpPr>
          <p:cNvPr id="6" name="Text 4"/>
          <p:cNvSpPr/>
          <p:nvPr/>
        </p:nvSpPr>
        <p:spPr>
          <a:xfrm>
            <a:off x="1335024" y="1755648"/>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Project Sponsor</a:t>
            </a:r>
            <a:endParaRPr lang="en-US" sz="1400" dirty="0"/>
          </a:p>
        </p:txBody>
      </p:sp>
      <p:sp>
        <p:nvSpPr>
          <p:cNvPr id="7" name="Text 5"/>
          <p:cNvSpPr/>
          <p:nvPr/>
        </p:nvSpPr>
        <p:spPr>
          <a:xfrm>
            <a:off x="822960" y="2267712"/>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Approves and supports the project</a:t>
            </a:r>
            <a:endParaRPr lang="en-US" sz="1100" dirty="0"/>
          </a:p>
        </p:txBody>
      </p:sp>
      <p:sp>
        <p:nvSpPr>
          <p:cNvPr id="8" name="Shape 6"/>
          <p:cNvSpPr/>
          <p:nvPr/>
        </p:nvSpPr>
        <p:spPr>
          <a:xfrm>
            <a:off x="4325112" y="1517904"/>
            <a:ext cx="3566160" cy="1371600"/>
          </a:xfrm>
          <a:prstGeom prst="roundRect">
            <a:avLst>
              <a:gd name="adj" fmla="val 6000"/>
            </a:avLst>
          </a:prstGeom>
          <a:solidFill>
            <a:srgbClr val="EEF3EA"/>
          </a:solidFill>
          <a:ln w="12700">
            <a:solidFill>
              <a:srgbClr val="EEF3EA"/>
            </a:solidFill>
            <a:prstDash val="solid"/>
          </a:ln>
        </p:spPr>
      </p:sp>
      <p:sp>
        <p:nvSpPr>
          <p:cNvPr id="9" name="Shape 7"/>
          <p:cNvSpPr/>
          <p:nvPr/>
        </p:nvSpPr>
        <p:spPr>
          <a:xfrm>
            <a:off x="4599432" y="1773936"/>
            <a:ext cx="384048" cy="384048"/>
          </a:xfrm>
          <a:prstGeom prst="ellipse">
            <a:avLst/>
          </a:prstGeom>
          <a:solidFill>
            <a:srgbClr val="2C5F2D"/>
          </a:solidFill>
          <a:ln w="12700">
            <a:solidFill>
              <a:srgbClr val="2C5F2D"/>
            </a:solidFill>
            <a:prstDash val="solid"/>
          </a:ln>
        </p:spPr>
      </p:sp>
      <p:sp>
        <p:nvSpPr>
          <p:cNvPr id="10" name="Text 8"/>
          <p:cNvSpPr/>
          <p:nvPr/>
        </p:nvSpPr>
        <p:spPr>
          <a:xfrm>
            <a:off x="5111496" y="1755648"/>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Project Manager</a:t>
            </a:r>
            <a:endParaRPr lang="en-US" sz="1400" dirty="0"/>
          </a:p>
        </p:txBody>
      </p:sp>
      <p:sp>
        <p:nvSpPr>
          <p:cNvPr id="11" name="Text 9"/>
          <p:cNvSpPr/>
          <p:nvPr/>
        </p:nvSpPr>
        <p:spPr>
          <a:xfrm>
            <a:off x="4599432" y="2267712"/>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Plans and manages the project</a:t>
            </a:r>
            <a:endParaRPr lang="en-US" sz="1100" dirty="0"/>
          </a:p>
        </p:txBody>
      </p:sp>
      <p:sp>
        <p:nvSpPr>
          <p:cNvPr id="12" name="Shape 10"/>
          <p:cNvSpPr/>
          <p:nvPr/>
        </p:nvSpPr>
        <p:spPr>
          <a:xfrm>
            <a:off x="8101584" y="1517904"/>
            <a:ext cx="3566160" cy="1371600"/>
          </a:xfrm>
          <a:prstGeom prst="roundRect">
            <a:avLst>
              <a:gd name="adj" fmla="val 6000"/>
            </a:avLst>
          </a:prstGeom>
          <a:solidFill>
            <a:srgbClr val="EEF3EA"/>
          </a:solidFill>
          <a:ln w="12700">
            <a:solidFill>
              <a:srgbClr val="EEF3EA"/>
            </a:solidFill>
            <a:prstDash val="solid"/>
          </a:ln>
        </p:spPr>
      </p:sp>
      <p:sp>
        <p:nvSpPr>
          <p:cNvPr id="13" name="Shape 11"/>
          <p:cNvSpPr/>
          <p:nvPr/>
        </p:nvSpPr>
        <p:spPr>
          <a:xfrm>
            <a:off x="8375904" y="1773936"/>
            <a:ext cx="384048" cy="384048"/>
          </a:xfrm>
          <a:prstGeom prst="ellipse">
            <a:avLst/>
          </a:prstGeom>
          <a:solidFill>
            <a:srgbClr val="2C5F2D"/>
          </a:solidFill>
          <a:ln w="12700">
            <a:solidFill>
              <a:srgbClr val="2C5F2D"/>
            </a:solidFill>
            <a:prstDash val="solid"/>
          </a:ln>
        </p:spPr>
      </p:sp>
      <p:sp>
        <p:nvSpPr>
          <p:cNvPr id="14" name="Text 12"/>
          <p:cNvSpPr/>
          <p:nvPr/>
        </p:nvSpPr>
        <p:spPr>
          <a:xfrm>
            <a:off x="8887968" y="1755648"/>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Warehouse Manager</a:t>
            </a:r>
            <a:endParaRPr lang="en-US" sz="1400" dirty="0"/>
          </a:p>
        </p:txBody>
      </p:sp>
      <p:sp>
        <p:nvSpPr>
          <p:cNvPr id="15" name="Text 13"/>
          <p:cNvSpPr/>
          <p:nvPr/>
        </p:nvSpPr>
        <p:spPr>
          <a:xfrm>
            <a:off x="8375904" y="2267712"/>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Manages warehouse operations</a:t>
            </a:r>
            <a:endParaRPr lang="en-US" sz="1100" dirty="0"/>
          </a:p>
        </p:txBody>
      </p:sp>
      <p:sp>
        <p:nvSpPr>
          <p:cNvPr id="16" name="Shape 14"/>
          <p:cNvSpPr/>
          <p:nvPr/>
        </p:nvSpPr>
        <p:spPr>
          <a:xfrm>
            <a:off x="548640" y="3090672"/>
            <a:ext cx="3566160" cy="1371600"/>
          </a:xfrm>
          <a:prstGeom prst="roundRect">
            <a:avLst>
              <a:gd name="adj" fmla="val 6000"/>
            </a:avLst>
          </a:prstGeom>
          <a:solidFill>
            <a:srgbClr val="F3F6F0"/>
          </a:solidFill>
          <a:ln w="12700">
            <a:solidFill>
              <a:srgbClr val="F3F6F0"/>
            </a:solidFill>
            <a:prstDash val="solid"/>
          </a:ln>
        </p:spPr>
      </p:sp>
      <p:sp>
        <p:nvSpPr>
          <p:cNvPr id="17" name="Shape 15"/>
          <p:cNvSpPr/>
          <p:nvPr/>
        </p:nvSpPr>
        <p:spPr>
          <a:xfrm>
            <a:off x="822960" y="3346704"/>
            <a:ext cx="384048" cy="384048"/>
          </a:xfrm>
          <a:prstGeom prst="ellipse">
            <a:avLst/>
          </a:prstGeom>
          <a:solidFill>
            <a:srgbClr val="D97A26"/>
          </a:solidFill>
          <a:ln w="12700">
            <a:solidFill>
              <a:srgbClr val="D97A26"/>
            </a:solidFill>
            <a:prstDash val="solid"/>
          </a:ln>
        </p:spPr>
      </p:sp>
      <p:sp>
        <p:nvSpPr>
          <p:cNvPr id="18" name="Text 16"/>
          <p:cNvSpPr/>
          <p:nvPr/>
        </p:nvSpPr>
        <p:spPr>
          <a:xfrm>
            <a:off x="1335024" y="3328416"/>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Warehouse Staff</a:t>
            </a:r>
            <a:endParaRPr lang="en-US" sz="1400" dirty="0"/>
          </a:p>
        </p:txBody>
      </p:sp>
      <p:sp>
        <p:nvSpPr>
          <p:cNvPr id="19" name="Text 17"/>
          <p:cNvSpPr/>
          <p:nvPr/>
        </p:nvSpPr>
        <p:spPr>
          <a:xfrm>
            <a:off x="822960" y="3840480"/>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Inspect and store donations</a:t>
            </a:r>
            <a:endParaRPr lang="en-US" sz="1100" dirty="0"/>
          </a:p>
        </p:txBody>
      </p:sp>
      <p:sp>
        <p:nvSpPr>
          <p:cNvPr id="20" name="Shape 18"/>
          <p:cNvSpPr/>
          <p:nvPr/>
        </p:nvSpPr>
        <p:spPr>
          <a:xfrm>
            <a:off x="4325112" y="3090672"/>
            <a:ext cx="3566160" cy="1371600"/>
          </a:xfrm>
          <a:prstGeom prst="roundRect">
            <a:avLst>
              <a:gd name="adj" fmla="val 6000"/>
            </a:avLst>
          </a:prstGeom>
          <a:solidFill>
            <a:srgbClr val="F3F6F0"/>
          </a:solidFill>
          <a:ln w="12700">
            <a:solidFill>
              <a:srgbClr val="F3F6F0"/>
            </a:solidFill>
            <a:prstDash val="solid"/>
          </a:ln>
        </p:spPr>
      </p:sp>
      <p:sp>
        <p:nvSpPr>
          <p:cNvPr id="21" name="Shape 19"/>
          <p:cNvSpPr/>
          <p:nvPr/>
        </p:nvSpPr>
        <p:spPr>
          <a:xfrm>
            <a:off x="4599432" y="3346704"/>
            <a:ext cx="384048" cy="384048"/>
          </a:xfrm>
          <a:prstGeom prst="ellipse">
            <a:avLst/>
          </a:prstGeom>
          <a:solidFill>
            <a:srgbClr val="D97A26"/>
          </a:solidFill>
          <a:ln w="12700">
            <a:solidFill>
              <a:srgbClr val="D97A26"/>
            </a:solidFill>
            <a:prstDash val="solid"/>
          </a:ln>
        </p:spPr>
      </p:sp>
      <p:sp>
        <p:nvSpPr>
          <p:cNvPr id="22" name="Text 20"/>
          <p:cNvSpPr/>
          <p:nvPr/>
        </p:nvSpPr>
        <p:spPr>
          <a:xfrm>
            <a:off x="5111496" y="3328416"/>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Delivery Drivers</a:t>
            </a:r>
            <a:endParaRPr lang="en-US" sz="1400" dirty="0"/>
          </a:p>
        </p:txBody>
      </p:sp>
      <p:sp>
        <p:nvSpPr>
          <p:cNvPr id="23" name="Text 21"/>
          <p:cNvSpPr/>
          <p:nvPr/>
        </p:nvSpPr>
        <p:spPr>
          <a:xfrm>
            <a:off x="4599432" y="3840480"/>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Collect donated food</a:t>
            </a:r>
            <a:endParaRPr lang="en-US" sz="1100" dirty="0"/>
          </a:p>
        </p:txBody>
      </p:sp>
      <p:sp>
        <p:nvSpPr>
          <p:cNvPr id="24" name="Shape 22"/>
          <p:cNvSpPr/>
          <p:nvPr/>
        </p:nvSpPr>
        <p:spPr>
          <a:xfrm>
            <a:off x="8101584" y="3090672"/>
            <a:ext cx="3566160" cy="1371600"/>
          </a:xfrm>
          <a:prstGeom prst="roundRect">
            <a:avLst>
              <a:gd name="adj" fmla="val 6000"/>
            </a:avLst>
          </a:prstGeom>
          <a:solidFill>
            <a:srgbClr val="F3F6F0"/>
          </a:solidFill>
          <a:ln w="12700">
            <a:solidFill>
              <a:srgbClr val="F3F6F0"/>
            </a:solidFill>
            <a:prstDash val="solid"/>
          </a:ln>
        </p:spPr>
      </p:sp>
      <p:sp>
        <p:nvSpPr>
          <p:cNvPr id="25" name="Shape 23"/>
          <p:cNvSpPr/>
          <p:nvPr/>
        </p:nvSpPr>
        <p:spPr>
          <a:xfrm>
            <a:off x="8375904" y="3346704"/>
            <a:ext cx="384048" cy="384048"/>
          </a:xfrm>
          <a:prstGeom prst="ellipse">
            <a:avLst/>
          </a:prstGeom>
          <a:solidFill>
            <a:srgbClr val="D97A26"/>
          </a:solidFill>
          <a:ln w="12700">
            <a:solidFill>
              <a:srgbClr val="D97A26"/>
            </a:solidFill>
            <a:prstDash val="solid"/>
          </a:ln>
        </p:spPr>
      </p:sp>
      <p:sp>
        <p:nvSpPr>
          <p:cNvPr id="26" name="Text 24"/>
          <p:cNvSpPr/>
          <p:nvPr/>
        </p:nvSpPr>
        <p:spPr>
          <a:xfrm>
            <a:off x="8887968" y="3328416"/>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Volunteers</a:t>
            </a:r>
            <a:endParaRPr lang="en-US" sz="1400" dirty="0"/>
          </a:p>
        </p:txBody>
      </p:sp>
      <p:sp>
        <p:nvSpPr>
          <p:cNvPr id="27" name="Text 25"/>
          <p:cNvSpPr/>
          <p:nvPr/>
        </p:nvSpPr>
        <p:spPr>
          <a:xfrm>
            <a:off x="8375904" y="3840480"/>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Help with sorting and packaging</a:t>
            </a:r>
            <a:endParaRPr lang="en-US" sz="1100" dirty="0"/>
          </a:p>
        </p:txBody>
      </p:sp>
      <p:sp>
        <p:nvSpPr>
          <p:cNvPr id="28" name="Shape 26"/>
          <p:cNvSpPr/>
          <p:nvPr/>
        </p:nvSpPr>
        <p:spPr>
          <a:xfrm>
            <a:off x="548640" y="4663440"/>
            <a:ext cx="3566160" cy="1371600"/>
          </a:xfrm>
          <a:prstGeom prst="roundRect">
            <a:avLst>
              <a:gd name="adj" fmla="val 6000"/>
            </a:avLst>
          </a:prstGeom>
          <a:solidFill>
            <a:srgbClr val="EEF3EA"/>
          </a:solidFill>
          <a:ln w="12700">
            <a:solidFill>
              <a:srgbClr val="EEF3EA"/>
            </a:solidFill>
            <a:prstDash val="solid"/>
          </a:ln>
        </p:spPr>
      </p:sp>
      <p:sp>
        <p:nvSpPr>
          <p:cNvPr id="29" name="Shape 27"/>
          <p:cNvSpPr/>
          <p:nvPr/>
        </p:nvSpPr>
        <p:spPr>
          <a:xfrm>
            <a:off x="822960" y="4919472"/>
            <a:ext cx="384048" cy="384048"/>
          </a:xfrm>
          <a:prstGeom prst="ellipse">
            <a:avLst/>
          </a:prstGeom>
          <a:solidFill>
            <a:srgbClr val="163D24"/>
          </a:solidFill>
          <a:ln w="12700">
            <a:solidFill>
              <a:srgbClr val="163D24"/>
            </a:solidFill>
            <a:prstDash val="solid"/>
          </a:ln>
        </p:spPr>
      </p:sp>
      <p:sp>
        <p:nvSpPr>
          <p:cNvPr id="30" name="Text 28"/>
          <p:cNvSpPr/>
          <p:nvPr/>
        </p:nvSpPr>
        <p:spPr>
          <a:xfrm>
            <a:off x="1335024" y="4901184"/>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Donors</a:t>
            </a:r>
            <a:endParaRPr lang="en-US" sz="1400" dirty="0"/>
          </a:p>
        </p:txBody>
      </p:sp>
      <p:sp>
        <p:nvSpPr>
          <p:cNvPr id="31" name="Text 29"/>
          <p:cNvSpPr/>
          <p:nvPr/>
        </p:nvSpPr>
        <p:spPr>
          <a:xfrm>
            <a:off x="822960" y="5413248"/>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Donate food items</a:t>
            </a:r>
            <a:endParaRPr lang="en-US" sz="1100" dirty="0"/>
          </a:p>
        </p:txBody>
      </p:sp>
      <p:sp>
        <p:nvSpPr>
          <p:cNvPr id="32" name="Shape 30"/>
          <p:cNvSpPr/>
          <p:nvPr/>
        </p:nvSpPr>
        <p:spPr>
          <a:xfrm>
            <a:off x="4325112" y="4663440"/>
            <a:ext cx="3566160" cy="1371600"/>
          </a:xfrm>
          <a:prstGeom prst="roundRect">
            <a:avLst>
              <a:gd name="adj" fmla="val 6000"/>
            </a:avLst>
          </a:prstGeom>
          <a:solidFill>
            <a:srgbClr val="EEF3EA"/>
          </a:solidFill>
          <a:ln w="12700">
            <a:solidFill>
              <a:srgbClr val="EEF3EA"/>
            </a:solidFill>
            <a:prstDash val="solid"/>
          </a:ln>
        </p:spPr>
      </p:sp>
      <p:sp>
        <p:nvSpPr>
          <p:cNvPr id="33" name="Shape 31"/>
          <p:cNvSpPr/>
          <p:nvPr/>
        </p:nvSpPr>
        <p:spPr>
          <a:xfrm>
            <a:off x="4599432" y="4919472"/>
            <a:ext cx="384048" cy="384048"/>
          </a:xfrm>
          <a:prstGeom prst="ellipse">
            <a:avLst/>
          </a:prstGeom>
          <a:solidFill>
            <a:srgbClr val="163D24"/>
          </a:solidFill>
          <a:ln w="12700">
            <a:solidFill>
              <a:srgbClr val="163D24"/>
            </a:solidFill>
            <a:prstDash val="solid"/>
          </a:ln>
        </p:spPr>
      </p:sp>
      <p:sp>
        <p:nvSpPr>
          <p:cNvPr id="34" name="Text 32"/>
          <p:cNvSpPr/>
          <p:nvPr/>
        </p:nvSpPr>
        <p:spPr>
          <a:xfrm>
            <a:off x="5111496" y="4901184"/>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Registered Families</a:t>
            </a:r>
            <a:endParaRPr lang="en-US" sz="1400" dirty="0"/>
          </a:p>
        </p:txBody>
      </p:sp>
      <p:sp>
        <p:nvSpPr>
          <p:cNvPr id="35" name="Text 33"/>
          <p:cNvSpPr/>
          <p:nvPr/>
        </p:nvSpPr>
        <p:spPr>
          <a:xfrm>
            <a:off x="4599432" y="5413248"/>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Receive food assistance</a:t>
            </a:r>
            <a:endParaRPr lang="en-US" sz="1100" dirty="0"/>
          </a:p>
        </p:txBody>
      </p:sp>
      <p:sp>
        <p:nvSpPr>
          <p:cNvPr id="36" name="Shape 34"/>
          <p:cNvSpPr/>
          <p:nvPr/>
        </p:nvSpPr>
        <p:spPr>
          <a:xfrm>
            <a:off x="8101584" y="4663440"/>
            <a:ext cx="3566160" cy="1371600"/>
          </a:xfrm>
          <a:prstGeom prst="roundRect">
            <a:avLst>
              <a:gd name="adj" fmla="val 6000"/>
            </a:avLst>
          </a:prstGeom>
          <a:solidFill>
            <a:srgbClr val="EEF3EA"/>
          </a:solidFill>
          <a:ln w="12700">
            <a:solidFill>
              <a:srgbClr val="EEF3EA"/>
            </a:solidFill>
            <a:prstDash val="solid"/>
          </a:ln>
        </p:spPr>
      </p:sp>
      <p:sp>
        <p:nvSpPr>
          <p:cNvPr id="37" name="Shape 35"/>
          <p:cNvSpPr/>
          <p:nvPr/>
        </p:nvSpPr>
        <p:spPr>
          <a:xfrm>
            <a:off x="8375904" y="4919472"/>
            <a:ext cx="384048" cy="384048"/>
          </a:xfrm>
          <a:prstGeom prst="ellipse">
            <a:avLst/>
          </a:prstGeom>
          <a:solidFill>
            <a:srgbClr val="163D24"/>
          </a:solidFill>
          <a:ln w="12700">
            <a:solidFill>
              <a:srgbClr val="163D24"/>
            </a:solidFill>
            <a:prstDash val="solid"/>
          </a:ln>
        </p:spPr>
      </p:sp>
      <p:sp>
        <p:nvSpPr>
          <p:cNvPr id="38" name="Text 36"/>
          <p:cNvSpPr/>
          <p:nvPr/>
        </p:nvSpPr>
        <p:spPr>
          <a:xfrm>
            <a:off x="8887968" y="4901184"/>
            <a:ext cx="2560320" cy="42062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Community Partners</a:t>
            </a:r>
            <a:endParaRPr lang="en-US" sz="1400" dirty="0"/>
          </a:p>
        </p:txBody>
      </p:sp>
      <p:sp>
        <p:nvSpPr>
          <p:cNvPr id="39" name="Text 37"/>
          <p:cNvSpPr/>
          <p:nvPr/>
        </p:nvSpPr>
        <p:spPr>
          <a:xfrm>
            <a:off x="8375904" y="5413248"/>
            <a:ext cx="3017520" cy="47548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Provide food donations and collection points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Team Structure &amp; Roles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13.1 — a named lead per area keeps ownership clear</a:t>
            </a:r>
            <a:endParaRPr lang="en-US" sz="1400" dirty="0"/>
          </a:p>
        </p:txBody>
      </p:sp>
      <p:sp>
        <p:nvSpPr>
          <p:cNvPr id="4" name="Shape 2"/>
          <p:cNvSpPr/>
          <p:nvPr/>
        </p:nvSpPr>
        <p:spPr>
          <a:xfrm>
            <a:off x="548640" y="1517904"/>
            <a:ext cx="2624328" cy="1901952"/>
          </a:xfrm>
          <a:prstGeom prst="roundRect">
            <a:avLst>
              <a:gd name="adj" fmla="val 4327"/>
            </a:avLst>
          </a:prstGeom>
          <a:solidFill>
            <a:srgbClr val="EEF3EA"/>
          </a:solidFill>
          <a:ln w="12700">
            <a:solidFill>
              <a:srgbClr val="EEF3EA"/>
            </a:solidFill>
            <a:prstDash val="solid"/>
          </a:ln>
        </p:spPr>
      </p:sp>
      <p:sp>
        <p:nvSpPr>
          <p:cNvPr id="5" name="Shape 3"/>
          <p:cNvSpPr/>
          <p:nvPr/>
        </p:nvSpPr>
        <p:spPr>
          <a:xfrm>
            <a:off x="804672" y="1755648"/>
            <a:ext cx="566928" cy="566928"/>
          </a:xfrm>
          <a:prstGeom prst="ellipse">
            <a:avLst/>
          </a:prstGeom>
          <a:solidFill>
            <a:srgbClr val="2C5F2D"/>
          </a:solidFill>
          <a:ln w="12700">
            <a:solidFill>
              <a:srgbClr val="2C5F2D"/>
            </a:solidFill>
            <a:prstDash val="solid"/>
          </a:ln>
        </p:spPr>
      </p:sp>
      <p:sp>
        <p:nvSpPr>
          <p:cNvPr id="6" name="Text 4"/>
          <p:cNvSpPr/>
          <p:nvPr/>
        </p:nvSpPr>
        <p:spPr>
          <a:xfrm>
            <a:off x="804672" y="175564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DP</a:t>
            </a:r>
            <a:endParaRPr lang="en-US" sz="1500" dirty="0"/>
          </a:p>
        </p:txBody>
      </p:sp>
      <p:sp>
        <p:nvSpPr>
          <p:cNvPr id="7" name="Text 5"/>
          <p:cNvSpPr/>
          <p:nvPr/>
        </p:nvSpPr>
        <p:spPr>
          <a:xfrm>
            <a:off x="804672" y="2395728"/>
            <a:ext cx="2148840" cy="292608"/>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Dev Patel</a:t>
            </a:r>
            <a:endParaRPr lang="en-US" sz="1400" dirty="0"/>
          </a:p>
        </p:txBody>
      </p:sp>
      <p:sp>
        <p:nvSpPr>
          <p:cNvPr id="8" name="Text 6"/>
          <p:cNvSpPr/>
          <p:nvPr/>
        </p:nvSpPr>
        <p:spPr>
          <a:xfrm>
            <a:off x="804672" y="2688336"/>
            <a:ext cx="2148840" cy="256032"/>
          </a:xfrm>
          <a:prstGeom prst="rect">
            <a:avLst/>
          </a:prstGeom>
          <a:noFill/>
          <a:ln/>
        </p:spPr>
        <p:txBody>
          <a:bodyPr wrap="square" lIns="0" tIns="0" rIns="0" bIns="0" rtlCol="0" anchor="ctr"/>
          <a:lstStyle/>
          <a:p>
            <a:pPr marL="0" indent="0">
              <a:buNone/>
            </a:pPr>
            <a:r>
              <a:rPr lang="en-US" sz="1150" b="1" dirty="0">
                <a:solidFill>
                  <a:srgbClr val="D97A26"/>
                </a:solidFill>
                <a:latin typeface="Calibri" pitchFamily="34" charset="0"/>
                <a:ea typeface="Calibri" pitchFamily="34" charset="-122"/>
                <a:cs typeface="Calibri" pitchFamily="34" charset="-120"/>
              </a:rPr>
              <a:t>Project Manager</a:t>
            </a:r>
            <a:endParaRPr lang="en-US" sz="1150" dirty="0"/>
          </a:p>
        </p:txBody>
      </p:sp>
      <p:sp>
        <p:nvSpPr>
          <p:cNvPr id="9" name="Text 7"/>
          <p:cNvSpPr/>
          <p:nvPr/>
        </p:nvSpPr>
        <p:spPr>
          <a:xfrm>
            <a:off x="804672" y="2944368"/>
            <a:ext cx="2148840" cy="420624"/>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Overall coordination, schedule, and sponsor liaison</a:t>
            </a:r>
            <a:endParaRPr lang="en-US" sz="1000" dirty="0"/>
          </a:p>
        </p:txBody>
      </p:sp>
      <p:sp>
        <p:nvSpPr>
          <p:cNvPr id="10" name="Shape 8"/>
          <p:cNvSpPr/>
          <p:nvPr/>
        </p:nvSpPr>
        <p:spPr>
          <a:xfrm>
            <a:off x="3374136" y="1517904"/>
            <a:ext cx="2624328" cy="1901952"/>
          </a:xfrm>
          <a:prstGeom prst="roundRect">
            <a:avLst>
              <a:gd name="adj" fmla="val 4327"/>
            </a:avLst>
          </a:prstGeom>
          <a:solidFill>
            <a:srgbClr val="EEF3EA"/>
          </a:solidFill>
          <a:ln w="12700">
            <a:solidFill>
              <a:srgbClr val="EEF3EA"/>
            </a:solidFill>
            <a:prstDash val="solid"/>
          </a:ln>
        </p:spPr>
      </p:sp>
      <p:sp>
        <p:nvSpPr>
          <p:cNvPr id="11" name="Shape 9"/>
          <p:cNvSpPr/>
          <p:nvPr/>
        </p:nvSpPr>
        <p:spPr>
          <a:xfrm>
            <a:off x="3630168" y="1755648"/>
            <a:ext cx="566928" cy="566928"/>
          </a:xfrm>
          <a:prstGeom prst="ellipse">
            <a:avLst/>
          </a:prstGeom>
          <a:solidFill>
            <a:srgbClr val="163D24"/>
          </a:solidFill>
          <a:ln w="12700">
            <a:solidFill>
              <a:srgbClr val="163D24"/>
            </a:solidFill>
            <a:prstDash val="solid"/>
          </a:ln>
        </p:spPr>
      </p:sp>
      <p:sp>
        <p:nvSpPr>
          <p:cNvPr id="12" name="Text 10"/>
          <p:cNvSpPr/>
          <p:nvPr/>
        </p:nvSpPr>
        <p:spPr>
          <a:xfrm>
            <a:off x="3630168" y="175564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a:t>
            </a:r>
            <a:endParaRPr lang="en-US" sz="1500" dirty="0"/>
          </a:p>
        </p:txBody>
      </p:sp>
      <p:sp>
        <p:nvSpPr>
          <p:cNvPr id="13" name="Text 11"/>
          <p:cNvSpPr/>
          <p:nvPr/>
        </p:nvSpPr>
        <p:spPr>
          <a:xfrm>
            <a:off x="3630168" y="2395728"/>
            <a:ext cx="2148840" cy="292608"/>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Ebuka</a:t>
            </a:r>
            <a:endParaRPr lang="en-US" sz="1400" dirty="0"/>
          </a:p>
        </p:txBody>
      </p:sp>
      <p:sp>
        <p:nvSpPr>
          <p:cNvPr id="14" name="Text 12"/>
          <p:cNvSpPr/>
          <p:nvPr/>
        </p:nvSpPr>
        <p:spPr>
          <a:xfrm>
            <a:off x="3630168" y="2688336"/>
            <a:ext cx="2148840" cy="256032"/>
          </a:xfrm>
          <a:prstGeom prst="rect">
            <a:avLst/>
          </a:prstGeom>
          <a:noFill/>
          <a:ln/>
        </p:spPr>
        <p:txBody>
          <a:bodyPr wrap="square" lIns="0" tIns="0" rIns="0" bIns="0" rtlCol="0" anchor="ctr"/>
          <a:lstStyle/>
          <a:p>
            <a:pPr marL="0" indent="0">
              <a:buNone/>
            </a:pPr>
            <a:r>
              <a:rPr lang="en-US" sz="1150" b="1" dirty="0">
                <a:solidFill>
                  <a:srgbClr val="D97A26"/>
                </a:solidFill>
                <a:latin typeface="Calibri" pitchFamily="34" charset="0"/>
                <a:ea typeface="Calibri" pitchFamily="34" charset="-122"/>
                <a:cs typeface="Calibri" pitchFamily="34" charset="-120"/>
              </a:rPr>
              <a:t>Systems Analyst</a:t>
            </a:r>
            <a:endParaRPr lang="en-US" sz="1150" dirty="0"/>
          </a:p>
        </p:txBody>
      </p:sp>
      <p:sp>
        <p:nvSpPr>
          <p:cNvPr id="15" name="Text 13"/>
          <p:cNvSpPr/>
          <p:nvPr/>
        </p:nvSpPr>
        <p:spPr>
          <a:xfrm>
            <a:off x="3630168" y="2944368"/>
            <a:ext cx="2148840" cy="420624"/>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Requirements gathering and process mapping</a:t>
            </a:r>
            <a:endParaRPr lang="en-US" sz="1000" dirty="0"/>
          </a:p>
        </p:txBody>
      </p:sp>
      <p:sp>
        <p:nvSpPr>
          <p:cNvPr id="16" name="Shape 14"/>
          <p:cNvSpPr/>
          <p:nvPr/>
        </p:nvSpPr>
        <p:spPr>
          <a:xfrm>
            <a:off x="6199632" y="1517904"/>
            <a:ext cx="2624328" cy="1901952"/>
          </a:xfrm>
          <a:prstGeom prst="roundRect">
            <a:avLst>
              <a:gd name="adj" fmla="val 4327"/>
            </a:avLst>
          </a:prstGeom>
          <a:solidFill>
            <a:srgbClr val="EEF3EA"/>
          </a:solidFill>
          <a:ln w="12700">
            <a:solidFill>
              <a:srgbClr val="EEF3EA"/>
            </a:solidFill>
            <a:prstDash val="solid"/>
          </a:ln>
        </p:spPr>
      </p:sp>
      <p:sp>
        <p:nvSpPr>
          <p:cNvPr id="17" name="Shape 15"/>
          <p:cNvSpPr/>
          <p:nvPr/>
        </p:nvSpPr>
        <p:spPr>
          <a:xfrm>
            <a:off x="6455664" y="1755648"/>
            <a:ext cx="566928" cy="566928"/>
          </a:xfrm>
          <a:prstGeom prst="ellipse">
            <a:avLst/>
          </a:prstGeom>
          <a:solidFill>
            <a:srgbClr val="2C5F2D"/>
          </a:solidFill>
          <a:ln w="12700">
            <a:solidFill>
              <a:srgbClr val="2C5F2D"/>
            </a:solidFill>
            <a:prstDash val="solid"/>
          </a:ln>
        </p:spPr>
      </p:sp>
      <p:sp>
        <p:nvSpPr>
          <p:cNvPr id="18" name="Text 16"/>
          <p:cNvSpPr/>
          <p:nvPr/>
        </p:nvSpPr>
        <p:spPr>
          <a:xfrm>
            <a:off x="6455664" y="175564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V</a:t>
            </a:r>
            <a:endParaRPr lang="en-US" sz="1500" dirty="0"/>
          </a:p>
        </p:txBody>
      </p:sp>
      <p:sp>
        <p:nvSpPr>
          <p:cNvPr id="19" name="Text 17"/>
          <p:cNvSpPr/>
          <p:nvPr/>
        </p:nvSpPr>
        <p:spPr>
          <a:xfrm>
            <a:off x="6455664" y="2395728"/>
            <a:ext cx="2148840" cy="292608"/>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Vishal</a:t>
            </a:r>
            <a:endParaRPr lang="en-US" sz="1400" dirty="0"/>
          </a:p>
        </p:txBody>
      </p:sp>
      <p:sp>
        <p:nvSpPr>
          <p:cNvPr id="20" name="Text 18"/>
          <p:cNvSpPr/>
          <p:nvPr/>
        </p:nvSpPr>
        <p:spPr>
          <a:xfrm>
            <a:off x="6455664" y="2688336"/>
            <a:ext cx="2148840" cy="256032"/>
          </a:xfrm>
          <a:prstGeom prst="rect">
            <a:avLst/>
          </a:prstGeom>
          <a:noFill/>
          <a:ln/>
        </p:spPr>
        <p:txBody>
          <a:bodyPr wrap="square" lIns="0" tIns="0" rIns="0" bIns="0" rtlCol="0" anchor="ctr"/>
          <a:lstStyle/>
          <a:p>
            <a:pPr marL="0" indent="0">
              <a:buNone/>
            </a:pPr>
            <a:r>
              <a:rPr lang="en-US" sz="1150" b="1" dirty="0">
                <a:solidFill>
                  <a:srgbClr val="D97A26"/>
                </a:solidFill>
                <a:latin typeface="Calibri" pitchFamily="34" charset="0"/>
                <a:ea typeface="Calibri" pitchFamily="34" charset="-122"/>
                <a:cs typeface="Calibri" pitchFamily="34" charset="-120"/>
              </a:rPr>
              <a:t>Database Developer</a:t>
            </a:r>
            <a:endParaRPr lang="en-US" sz="1150" dirty="0"/>
          </a:p>
        </p:txBody>
      </p:sp>
      <p:sp>
        <p:nvSpPr>
          <p:cNvPr id="21" name="Text 19"/>
          <p:cNvSpPr/>
          <p:nvPr/>
        </p:nvSpPr>
        <p:spPr>
          <a:xfrm>
            <a:off x="6455664" y="2944368"/>
            <a:ext cx="2148840" cy="420624"/>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Database design for donations, inventory, and family records</a:t>
            </a:r>
            <a:endParaRPr lang="en-US" sz="1000" dirty="0"/>
          </a:p>
        </p:txBody>
      </p:sp>
      <p:sp>
        <p:nvSpPr>
          <p:cNvPr id="22" name="Shape 20"/>
          <p:cNvSpPr/>
          <p:nvPr/>
        </p:nvSpPr>
        <p:spPr>
          <a:xfrm>
            <a:off x="9025128" y="1517904"/>
            <a:ext cx="2624328" cy="1901952"/>
          </a:xfrm>
          <a:prstGeom prst="roundRect">
            <a:avLst>
              <a:gd name="adj" fmla="val 4327"/>
            </a:avLst>
          </a:prstGeom>
          <a:solidFill>
            <a:srgbClr val="EEF3EA"/>
          </a:solidFill>
          <a:ln w="12700">
            <a:solidFill>
              <a:srgbClr val="EEF3EA"/>
            </a:solidFill>
            <a:prstDash val="solid"/>
          </a:ln>
        </p:spPr>
      </p:sp>
      <p:sp>
        <p:nvSpPr>
          <p:cNvPr id="23" name="Shape 21"/>
          <p:cNvSpPr/>
          <p:nvPr/>
        </p:nvSpPr>
        <p:spPr>
          <a:xfrm>
            <a:off x="9281160" y="1755648"/>
            <a:ext cx="566928" cy="566928"/>
          </a:xfrm>
          <a:prstGeom prst="ellipse">
            <a:avLst/>
          </a:prstGeom>
          <a:solidFill>
            <a:srgbClr val="163D24"/>
          </a:solidFill>
          <a:ln w="12700">
            <a:solidFill>
              <a:srgbClr val="163D24"/>
            </a:solidFill>
            <a:prstDash val="solid"/>
          </a:ln>
        </p:spPr>
      </p:sp>
      <p:sp>
        <p:nvSpPr>
          <p:cNvPr id="24" name="Text 22"/>
          <p:cNvSpPr/>
          <p:nvPr/>
        </p:nvSpPr>
        <p:spPr>
          <a:xfrm>
            <a:off x="9281160" y="175564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OS</a:t>
            </a:r>
            <a:endParaRPr lang="en-US" sz="1500" dirty="0"/>
          </a:p>
        </p:txBody>
      </p:sp>
      <p:sp>
        <p:nvSpPr>
          <p:cNvPr id="25" name="Text 23"/>
          <p:cNvSpPr/>
          <p:nvPr/>
        </p:nvSpPr>
        <p:spPr>
          <a:xfrm>
            <a:off x="9281160" y="2395728"/>
            <a:ext cx="2148840" cy="292608"/>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Om Surani</a:t>
            </a:r>
            <a:endParaRPr lang="en-US" sz="1400" dirty="0"/>
          </a:p>
        </p:txBody>
      </p:sp>
      <p:sp>
        <p:nvSpPr>
          <p:cNvPr id="26" name="Text 24"/>
          <p:cNvSpPr/>
          <p:nvPr/>
        </p:nvSpPr>
        <p:spPr>
          <a:xfrm>
            <a:off x="9281160" y="2688336"/>
            <a:ext cx="2148840" cy="256032"/>
          </a:xfrm>
          <a:prstGeom prst="rect">
            <a:avLst/>
          </a:prstGeom>
          <a:noFill/>
          <a:ln/>
        </p:spPr>
        <p:txBody>
          <a:bodyPr wrap="square" lIns="0" tIns="0" rIns="0" bIns="0" rtlCol="0" anchor="ctr"/>
          <a:lstStyle/>
          <a:p>
            <a:pPr marL="0" indent="0">
              <a:buNone/>
            </a:pPr>
            <a:r>
              <a:rPr lang="en-US" sz="1150" b="1" dirty="0">
                <a:solidFill>
                  <a:srgbClr val="D97A26"/>
                </a:solidFill>
                <a:latin typeface="Calibri" pitchFamily="34" charset="0"/>
                <a:ea typeface="Calibri" pitchFamily="34" charset="-122"/>
                <a:cs typeface="Calibri" pitchFamily="34" charset="-120"/>
              </a:rPr>
              <a:t>QA &amp; Testing Lead</a:t>
            </a:r>
            <a:endParaRPr lang="en-US" sz="1150" dirty="0"/>
          </a:p>
        </p:txBody>
      </p:sp>
      <p:sp>
        <p:nvSpPr>
          <p:cNvPr id="27" name="Text 25"/>
          <p:cNvSpPr/>
          <p:nvPr/>
        </p:nvSpPr>
        <p:spPr>
          <a:xfrm>
            <a:off x="9281160" y="2944368"/>
            <a:ext cx="2148840" cy="420624"/>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Test planning and defect tracking</a:t>
            </a:r>
            <a:endParaRPr lang="en-US" sz="1000" dirty="0"/>
          </a:p>
        </p:txBody>
      </p:sp>
      <p:sp>
        <p:nvSpPr>
          <p:cNvPr id="28" name="Shape 26"/>
          <p:cNvSpPr/>
          <p:nvPr/>
        </p:nvSpPr>
        <p:spPr>
          <a:xfrm>
            <a:off x="548640" y="3602736"/>
            <a:ext cx="2624328" cy="1901952"/>
          </a:xfrm>
          <a:prstGeom prst="roundRect">
            <a:avLst>
              <a:gd name="adj" fmla="val 4327"/>
            </a:avLst>
          </a:prstGeom>
          <a:solidFill>
            <a:srgbClr val="F3F6F0"/>
          </a:solidFill>
          <a:ln w="12700">
            <a:solidFill>
              <a:srgbClr val="F3F6F0"/>
            </a:solidFill>
            <a:prstDash val="solid"/>
          </a:ln>
        </p:spPr>
      </p:sp>
      <p:sp>
        <p:nvSpPr>
          <p:cNvPr id="29" name="Shape 27"/>
          <p:cNvSpPr/>
          <p:nvPr/>
        </p:nvSpPr>
        <p:spPr>
          <a:xfrm>
            <a:off x="804672" y="3840480"/>
            <a:ext cx="566928" cy="566928"/>
          </a:xfrm>
          <a:prstGeom prst="ellipse">
            <a:avLst/>
          </a:prstGeom>
          <a:solidFill>
            <a:srgbClr val="2C5F2D"/>
          </a:solidFill>
          <a:ln w="12700">
            <a:solidFill>
              <a:srgbClr val="2C5F2D"/>
            </a:solidFill>
            <a:prstDash val="solid"/>
          </a:ln>
        </p:spPr>
      </p:sp>
      <p:sp>
        <p:nvSpPr>
          <p:cNvPr id="30" name="Text 28"/>
          <p:cNvSpPr/>
          <p:nvPr/>
        </p:nvSpPr>
        <p:spPr>
          <a:xfrm>
            <a:off x="804672" y="384048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MD</a:t>
            </a:r>
            <a:endParaRPr lang="en-US" sz="1500" dirty="0"/>
          </a:p>
        </p:txBody>
      </p:sp>
      <p:sp>
        <p:nvSpPr>
          <p:cNvPr id="31" name="Text 29"/>
          <p:cNvSpPr/>
          <p:nvPr/>
        </p:nvSpPr>
        <p:spPr>
          <a:xfrm>
            <a:off x="804672" y="4480560"/>
            <a:ext cx="2148840" cy="292608"/>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Maharshi Darji</a:t>
            </a:r>
            <a:endParaRPr lang="en-US" sz="1400" dirty="0"/>
          </a:p>
        </p:txBody>
      </p:sp>
      <p:sp>
        <p:nvSpPr>
          <p:cNvPr id="32" name="Text 30"/>
          <p:cNvSpPr/>
          <p:nvPr/>
        </p:nvSpPr>
        <p:spPr>
          <a:xfrm>
            <a:off x="804672" y="4773168"/>
            <a:ext cx="2148840" cy="256032"/>
          </a:xfrm>
          <a:prstGeom prst="rect">
            <a:avLst/>
          </a:prstGeom>
          <a:noFill/>
          <a:ln/>
        </p:spPr>
        <p:txBody>
          <a:bodyPr wrap="square" lIns="0" tIns="0" rIns="0" bIns="0" rtlCol="0" anchor="ctr"/>
          <a:lstStyle/>
          <a:p>
            <a:pPr marL="0" indent="0">
              <a:buNone/>
            </a:pPr>
            <a:r>
              <a:rPr lang="en-US" sz="1150" b="1" dirty="0">
                <a:solidFill>
                  <a:srgbClr val="D97A26"/>
                </a:solidFill>
                <a:latin typeface="Calibri" pitchFamily="34" charset="0"/>
                <a:ea typeface="Calibri" pitchFamily="34" charset="-122"/>
                <a:cs typeface="Calibri" pitchFamily="34" charset="-120"/>
              </a:rPr>
              <a:t>Business Analyst</a:t>
            </a:r>
            <a:endParaRPr lang="en-US" sz="1150" dirty="0"/>
          </a:p>
        </p:txBody>
      </p:sp>
      <p:sp>
        <p:nvSpPr>
          <p:cNvPr id="33" name="Text 31"/>
          <p:cNvSpPr/>
          <p:nvPr/>
        </p:nvSpPr>
        <p:spPr>
          <a:xfrm>
            <a:off x="804672" y="5029200"/>
            <a:ext cx="2148840" cy="420624"/>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Business case, benchmarking, and reporting</a:t>
            </a:r>
            <a:endParaRPr lang="en-US" sz="1000" dirty="0"/>
          </a:p>
        </p:txBody>
      </p:sp>
      <p:sp>
        <p:nvSpPr>
          <p:cNvPr id="34" name="Shape 32"/>
          <p:cNvSpPr/>
          <p:nvPr/>
        </p:nvSpPr>
        <p:spPr>
          <a:xfrm>
            <a:off x="3374136" y="3602736"/>
            <a:ext cx="2624328" cy="1901952"/>
          </a:xfrm>
          <a:prstGeom prst="roundRect">
            <a:avLst>
              <a:gd name="adj" fmla="val 4327"/>
            </a:avLst>
          </a:prstGeom>
          <a:solidFill>
            <a:srgbClr val="F3F6F0"/>
          </a:solidFill>
          <a:ln w="12700">
            <a:solidFill>
              <a:srgbClr val="F3F6F0"/>
            </a:solidFill>
            <a:prstDash val="solid"/>
          </a:ln>
        </p:spPr>
      </p:sp>
      <p:sp>
        <p:nvSpPr>
          <p:cNvPr id="35" name="Shape 33"/>
          <p:cNvSpPr/>
          <p:nvPr/>
        </p:nvSpPr>
        <p:spPr>
          <a:xfrm>
            <a:off x="3630168" y="3840480"/>
            <a:ext cx="566928" cy="566928"/>
          </a:xfrm>
          <a:prstGeom prst="ellipse">
            <a:avLst/>
          </a:prstGeom>
          <a:solidFill>
            <a:srgbClr val="163D24"/>
          </a:solidFill>
          <a:ln w="12700">
            <a:solidFill>
              <a:srgbClr val="163D24"/>
            </a:solidFill>
            <a:prstDash val="solid"/>
          </a:ln>
        </p:spPr>
      </p:sp>
      <p:sp>
        <p:nvSpPr>
          <p:cNvPr id="36" name="Text 34"/>
          <p:cNvSpPr/>
          <p:nvPr/>
        </p:nvSpPr>
        <p:spPr>
          <a:xfrm>
            <a:off x="3630168" y="384048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RS</a:t>
            </a:r>
            <a:endParaRPr lang="en-US" sz="1500" dirty="0"/>
          </a:p>
        </p:txBody>
      </p:sp>
      <p:sp>
        <p:nvSpPr>
          <p:cNvPr id="37" name="Text 35"/>
          <p:cNvSpPr/>
          <p:nvPr/>
        </p:nvSpPr>
        <p:spPr>
          <a:xfrm>
            <a:off x="3630168" y="4480560"/>
            <a:ext cx="2148840" cy="292608"/>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Rui Song</a:t>
            </a:r>
            <a:endParaRPr lang="en-US" sz="1400" dirty="0"/>
          </a:p>
        </p:txBody>
      </p:sp>
      <p:sp>
        <p:nvSpPr>
          <p:cNvPr id="38" name="Text 36"/>
          <p:cNvSpPr/>
          <p:nvPr/>
        </p:nvSpPr>
        <p:spPr>
          <a:xfrm>
            <a:off x="3630168" y="4773168"/>
            <a:ext cx="2148840" cy="256032"/>
          </a:xfrm>
          <a:prstGeom prst="rect">
            <a:avLst/>
          </a:prstGeom>
          <a:noFill/>
          <a:ln/>
        </p:spPr>
        <p:txBody>
          <a:bodyPr wrap="square" lIns="0" tIns="0" rIns="0" bIns="0" rtlCol="0" anchor="ctr"/>
          <a:lstStyle/>
          <a:p>
            <a:pPr marL="0" indent="0">
              <a:buNone/>
            </a:pPr>
            <a:r>
              <a:rPr lang="en-US" sz="1150" b="1" dirty="0">
                <a:solidFill>
                  <a:srgbClr val="D97A26"/>
                </a:solidFill>
                <a:latin typeface="Calibri" pitchFamily="34" charset="0"/>
                <a:ea typeface="Calibri" pitchFamily="34" charset="-122"/>
                <a:cs typeface="Calibri" pitchFamily="34" charset="-120"/>
              </a:rPr>
              <a:t>UI/UX Designer</a:t>
            </a:r>
            <a:endParaRPr lang="en-US" sz="1150" dirty="0"/>
          </a:p>
        </p:txBody>
      </p:sp>
      <p:sp>
        <p:nvSpPr>
          <p:cNvPr id="39" name="Text 37"/>
          <p:cNvSpPr/>
          <p:nvPr/>
        </p:nvSpPr>
        <p:spPr>
          <a:xfrm>
            <a:off x="3630168" y="5029200"/>
            <a:ext cx="2148840" cy="420624"/>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Portal and dashboard screens for staff and partners</a:t>
            </a:r>
            <a:endParaRPr lang="en-US" sz="1000" dirty="0"/>
          </a:p>
        </p:txBody>
      </p:sp>
      <p:sp>
        <p:nvSpPr>
          <p:cNvPr id="40" name="Shape 38"/>
          <p:cNvSpPr/>
          <p:nvPr/>
        </p:nvSpPr>
        <p:spPr>
          <a:xfrm>
            <a:off x="6199632" y="3602736"/>
            <a:ext cx="2624328" cy="1901952"/>
          </a:xfrm>
          <a:prstGeom prst="roundRect">
            <a:avLst>
              <a:gd name="adj" fmla="val 4327"/>
            </a:avLst>
          </a:prstGeom>
          <a:solidFill>
            <a:srgbClr val="F3F6F0"/>
          </a:solidFill>
          <a:ln w="12700">
            <a:solidFill>
              <a:srgbClr val="F3F6F0"/>
            </a:solidFill>
            <a:prstDash val="solid"/>
          </a:ln>
        </p:spPr>
      </p:sp>
      <p:sp>
        <p:nvSpPr>
          <p:cNvPr id="41" name="Shape 39"/>
          <p:cNvSpPr/>
          <p:nvPr/>
        </p:nvSpPr>
        <p:spPr>
          <a:xfrm>
            <a:off x="6455664" y="3840480"/>
            <a:ext cx="566928" cy="566928"/>
          </a:xfrm>
          <a:prstGeom prst="ellipse">
            <a:avLst/>
          </a:prstGeom>
          <a:solidFill>
            <a:srgbClr val="2C5F2D"/>
          </a:solidFill>
          <a:ln w="12700">
            <a:solidFill>
              <a:srgbClr val="2C5F2D"/>
            </a:solidFill>
            <a:prstDash val="solid"/>
          </a:ln>
        </p:spPr>
      </p:sp>
      <p:sp>
        <p:nvSpPr>
          <p:cNvPr id="42" name="Text 40"/>
          <p:cNvSpPr/>
          <p:nvPr/>
        </p:nvSpPr>
        <p:spPr>
          <a:xfrm>
            <a:off x="6455664" y="384048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43" name="Text 41"/>
          <p:cNvSpPr/>
          <p:nvPr/>
        </p:nvSpPr>
        <p:spPr>
          <a:xfrm>
            <a:off x="6455664" y="4480560"/>
            <a:ext cx="2148840" cy="292608"/>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Hirva</a:t>
            </a:r>
            <a:endParaRPr lang="en-US" sz="1400" dirty="0"/>
          </a:p>
        </p:txBody>
      </p:sp>
      <p:sp>
        <p:nvSpPr>
          <p:cNvPr id="44" name="Text 42"/>
          <p:cNvSpPr/>
          <p:nvPr/>
        </p:nvSpPr>
        <p:spPr>
          <a:xfrm>
            <a:off x="6455664" y="4773168"/>
            <a:ext cx="2148840" cy="256032"/>
          </a:xfrm>
          <a:prstGeom prst="rect">
            <a:avLst/>
          </a:prstGeom>
          <a:noFill/>
          <a:ln/>
        </p:spPr>
        <p:txBody>
          <a:bodyPr wrap="square" lIns="0" tIns="0" rIns="0" bIns="0" rtlCol="0" anchor="ctr"/>
          <a:lstStyle/>
          <a:p>
            <a:pPr marL="0" indent="0">
              <a:buNone/>
            </a:pPr>
            <a:r>
              <a:rPr lang="en-US" sz="1150" b="1" dirty="0">
                <a:solidFill>
                  <a:srgbClr val="D97A26"/>
                </a:solidFill>
                <a:latin typeface="Calibri" pitchFamily="34" charset="0"/>
                <a:ea typeface="Calibri" pitchFamily="34" charset="-122"/>
                <a:cs typeface="Calibri" pitchFamily="34" charset="-120"/>
              </a:rPr>
              <a:t>Documentation Lead</a:t>
            </a:r>
            <a:endParaRPr lang="en-US" sz="1150" dirty="0"/>
          </a:p>
        </p:txBody>
      </p:sp>
      <p:sp>
        <p:nvSpPr>
          <p:cNvPr id="45" name="Text 43"/>
          <p:cNvSpPr/>
          <p:nvPr/>
        </p:nvSpPr>
        <p:spPr>
          <a:xfrm>
            <a:off x="6455664" y="5029200"/>
            <a:ext cx="2148840" cy="420624"/>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Charter, user guides, and meeting records</a:t>
            </a:r>
            <a:endParaRPr lang="en-US" sz="1000" dirty="0"/>
          </a:p>
        </p:txBody>
      </p:sp>
      <p:sp>
        <p:nvSpPr>
          <p:cNvPr id="46" name="Shape 44"/>
          <p:cNvSpPr/>
          <p:nvPr/>
        </p:nvSpPr>
        <p:spPr>
          <a:xfrm>
            <a:off x="9025128" y="3602736"/>
            <a:ext cx="2624328" cy="1901952"/>
          </a:xfrm>
          <a:prstGeom prst="roundRect">
            <a:avLst>
              <a:gd name="adj" fmla="val 4327"/>
            </a:avLst>
          </a:prstGeom>
          <a:solidFill>
            <a:srgbClr val="163D24"/>
          </a:solidFill>
          <a:ln w="12700">
            <a:solidFill>
              <a:srgbClr val="163D24"/>
            </a:solidFill>
            <a:prstDash val="solid"/>
          </a:ln>
        </p:spPr>
      </p:sp>
      <p:sp>
        <p:nvSpPr>
          <p:cNvPr id="47" name="Text 45"/>
          <p:cNvSpPr/>
          <p:nvPr/>
        </p:nvSpPr>
        <p:spPr>
          <a:xfrm>
            <a:off x="9281160" y="3840480"/>
            <a:ext cx="2148840" cy="1463040"/>
          </a:xfrm>
          <a:prstGeom prst="rect">
            <a:avLst/>
          </a:prstGeom>
          <a:noFill/>
          <a:ln/>
        </p:spPr>
        <p:txBody>
          <a:bodyPr wrap="square" lIns="0" tIns="0" rIns="0" bIns="0" rtlCol="0" anchor="ctr"/>
          <a:lstStyle/>
          <a:p>
            <a:pPr marL="0" indent="0">
              <a:lnSpc>
                <a:spcPts val="1900"/>
              </a:lnSpc>
              <a:buNone/>
            </a:pPr>
            <a:r>
              <a:rPr lang="en-US" sz="1200" i="1" dirty="0">
                <a:solidFill>
                  <a:srgbClr val="C8D8C4"/>
                </a:solidFill>
                <a:latin typeface="Calibri" pitchFamily="34" charset="0"/>
                <a:ea typeface="Calibri" pitchFamily="34" charset="-122"/>
                <a:cs typeface="Calibri" pitchFamily="34" charset="-120"/>
              </a:rPr>
              <a:t>In practice everyone contributes across areas — this is a seven-person team building a full system in one semester.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Timeline &amp; Milestones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13.2 — five phases running Q3 2026 through Q3 2027</a:t>
            </a:r>
            <a:endParaRPr lang="en-US" sz="1400" dirty="0"/>
          </a:p>
        </p:txBody>
      </p:sp>
      <p:sp>
        <p:nvSpPr>
          <p:cNvPr id="4" name="Shape 2"/>
          <p:cNvSpPr/>
          <p:nvPr/>
        </p:nvSpPr>
        <p:spPr>
          <a:xfrm>
            <a:off x="777240" y="2084832"/>
            <a:ext cx="10607040" cy="45720"/>
          </a:xfrm>
          <a:prstGeom prst="rect">
            <a:avLst/>
          </a:prstGeom>
          <a:solidFill>
            <a:srgbClr val="DDE6D8"/>
          </a:solidFill>
          <a:ln w="12700">
            <a:solidFill>
              <a:srgbClr val="DDE6D8"/>
            </a:solidFill>
            <a:prstDash val="solid"/>
          </a:ln>
        </p:spPr>
      </p:sp>
      <p:sp>
        <p:nvSpPr>
          <p:cNvPr id="5" name="Shape 3"/>
          <p:cNvSpPr/>
          <p:nvPr/>
        </p:nvSpPr>
        <p:spPr>
          <a:xfrm>
            <a:off x="1325880" y="1883664"/>
            <a:ext cx="457200" cy="457200"/>
          </a:xfrm>
          <a:prstGeom prst="ellipse">
            <a:avLst/>
          </a:prstGeom>
          <a:solidFill>
            <a:srgbClr val="2C5F2D"/>
          </a:solidFill>
          <a:ln w="12700">
            <a:solidFill>
              <a:srgbClr val="2C5F2D"/>
            </a:solidFill>
            <a:prstDash val="solid"/>
          </a:ln>
        </p:spPr>
      </p:sp>
      <p:sp>
        <p:nvSpPr>
          <p:cNvPr id="6" name="Text 4"/>
          <p:cNvSpPr/>
          <p:nvPr/>
        </p:nvSpPr>
        <p:spPr>
          <a:xfrm>
            <a:off x="1325880" y="188366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548640" y="1463040"/>
            <a:ext cx="2011680" cy="310896"/>
          </a:xfrm>
          <a:prstGeom prst="rect">
            <a:avLst/>
          </a:prstGeom>
          <a:noFill/>
          <a:ln/>
        </p:spPr>
        <p:txBody>
          <a:bodyPr wrap="square" lIns="0" tIns="0" rIns="0" bIns="0" rtlCol="0" anchor="ctr"/>
          <a:lstStyle/>
          <a:p>
            <a:pPr marL="0" indent="0" algn="ctr">
              <a:buNone/>
            </a:pPr>
            <a:r>
              <a:rPr lang="en-US" sz="1150" b="1" dirty="0">
                <a:solidFill>
                  <a:srgbClr val="5F6F62"/>
                </a:solidFill>
                <a:latin typeface="Calibri" pitchFamily="34" charset="0"/>
                <a:ea typeface="Calibri" pitchFamily="34" charset="-122"/>
                <a:cs typeface="Calibri" pitchFamily="34" charset="-120"/>
              </a:rPr>
              <a:t>Q3 2026</a:t>
            </a:r>
            <a:endParaRPr lang="en-US" sz="1150" dirty="0"/>
          </a:p>
        </p:txBody>
      </p:sp>
      <p:sp>
        <p:nvSpPr>
          <p:cNvPr id="8" name="Shape 6"/>
          <p:cNvSpPr/>
          <p:nvPr/>
        </p:nvSpPr>
        <p:spPr>
          <a:xfrm>
            <a:off x="548640" y="2542032"/>
            <a:ext cx="2011680" cy="3291840"/>
          </a:xfrm>
          <a:prstGeom prst="roundRect">
            <a:avLst>
              <a:gd name="adj" fmla="val 4091"/>
            </a:avLst>
          </a:prstGeom>
          <a:solidFill>
            <a:srgbClr val="EEF3EA"/>
          </a:solidFill>
          <a:ln w="12700">
            <a:solidFill>
              <a:srgbClr val="EEF3EA"/>
            </a:solidFill>
            <a:prstDash val="solid"/>
          </a:ln>
        </p:spPr>
      </p:sp>
      <p:sp>
        <p:nvSpPr>
          <p:cNvPr id="9" name="Text 7"/>
          <p:cNvSpPr/>
          <p:nvPr/>
        </p:nvSpPr>
        <p:spPr>
          <a:xfrm>
            <a:off x="713232" y="2724912"/>
            <a:ext cx="1682496" cy="822960"/>
          </a:xfrm>
          <a:prstGeom prst="rect">
            <a:avLst/>
          </a:prstGeom>
          <a:noFill/>
          <a:ln/>
        </p:spPr>
        <p:txBody>
          <a:bodyPr wrap="square" lIns="0" tIns="0" rIns="0" bIns="0" rtlCol="0" anchor="ctr"/>
          <a:lstStyle/>
          <a:p>
            <a:pPr marL="0" indent="0">
              <a:buNone/>
            </a:pPr>
            <a:r>
              <a:rPr lang="en-US" sz="1500" b="1" dirty="0">
                <a:solidFill>
                  <a:srgbClr val="163D24"/>
                </a:solidFill>
                <a:latin typeface="Cambria" pitchFamily="34" charset="0"/>
                <a:ea typeface="Cambria" pitchFamily="34" charset="-122"/>
                <a:cs typeface="Cambria" pitchFamily="34" charset="-120"/>
              </a:rPr>
              <a:t>Requirements</a:t>
            </a:r>
            <a:endParaRPr lang="en-US" sz="1500" dirty="0"/>
          </a:p>
          <a:p>
            <a:pPr marL="0" indent="0">
              <a:buNone/>
            </a:pPr>
            <a:r>
              <a:rPr lang="en-US" sz="1500" b="1" dirty="0">
                <a:solidFill>
                  <a:srgbClr val="163D24"/>
                </a:solidFill>
                <a:latin typeface="Cambria" pitchFamily="34" charset="0"/>
                <a:ea typeface="Cambria" pitchFamily="34" charset="-122"/>
                <a:cs typeface="Cambria" pitchFamily="34" charset="-120"/>
              </a:rPr>
              <a:t>&amp; Planning</a:t>
            </a:r>
            <a:endParaRPr lang="en-US" sz="1500" dirty="0"/>
          </a:p>
        </p:txBody>
      </p:sp>
      <p:sp>
        <p:nvSpPr>
          <p:cNvPr id="10" name="Text 8"/>
          <p:cNvSpPr/>
          <p:nvPr/>
        </p:nvSpPr>
        <p:spPr>
          <a:xfrm>
            <a:off x="713232" y="3602736"/>
            <a:ext cx="1682496" cy="2103120"/>
          </a:xfrm>
          <a:prstGeom prst="rect">
            <a:avLst/>
          </a:prstGeom>
          <a:noFill/>
          <a:ln/>
        </p:spPr>
        <p:txBody>
          <a:bodyPr wrap="square" lIns="0" tIns="0" rIns="0" bIns="0" rtlCol="0" anchor="ctr"/>
          <a:lstStyle/>
          <a:p>
            <a:pPr marL="0" indent="0">
              <a:lnSpc>
                <a:spcPts val="1500"/>
              </a:lnSpc>
              <a:buNone/>
            </a:pPr>
            <a:r>
              <a:rPr lang="en-US" sz="1050" dirty="0">
                <a:solidFill>
                  <a:srgbClr val="5F6F62"/>
                </a:solidFill>
                <a:latin typeface="Calibri" pitchFamily="34" charset="0"/>
                <a:ea typeface="Calibri" pitchFamily="34" charset="-122"/>
                <a:cs typeface="Calibri" pitchFamily="34" charset="-120"/>
              </a:rPr>
              <a:t>Confirm scope with FoodShare staff; finalize the database schema for donations, inventory and family records; validate assumptions against warehouse and truck data.</a:t>
            </a:r>
            <a:endParaRPr lang="en-US" sz="1050" dirty="0"/>
          </a:p>
        </p:txBody>
      </p:sp>
      <p:sp>
        <p:nvSpPr>
          <p:cNvPr id="11" name="Shape 9"/>
          <p:cNvSpPr/>
          <p:nvPr/>
        </p:nvSpPr>
        <p:spPr>
          <a:xfrm>
            <a:off x="3593592" y="1883664"/>
            <a:ext cx="457200" cy="457200"/>
          </a:xfrm>
          <a:prstGeom prst="ellipse">
            <a:avLst/>
          </a:prstGeom>
          <a:solidFill>
            <a:srgbClr val="2C5F2D"/>
          </a:solidFill>
          <a:ln w="12700">
            <a:solidFill>
              <a:srgbClr val="2C5F2D"/>
            </a:solidFill>
            <a:prstDash val="solid"/>
          </a:ln>
        </p:spPr>
      </p:sp>
      <p:sp>
        <p:nvSpPr>
          <p:cNvPr id="12" name="Text 10"/>
          <p:cNvSpPr/>
          <p:nvPr/>
        </p:nvSpPr>
        <p:spPr>
          <a:xfrm>
            <a:off x="3593592" y="188366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816352" y="1463040"/>
            <a:ext cx="2011680" cy="310896"/>
          </a:xfrm>
          <a:prstGeom prst="rect">
            <a:avLst/>
          </a:prstGeom>
          <a:noFill/>
          <a:ln/>
        </p:spPr>
        <p:txBody>
          <a:bodyPr wrap="square" lIns="0" tIns="0" rIns="0" bIns="0" rtlCol="0" anchor="ctr"/>
          <a:lstStyle/>
          <a:p>
            <a:pPr marL="0" indent="0" algn="ctr">
              <a:buNone/>
            </a:pPr>
            <a:r>
              <a:rPr lang="en-US" sz="1150" b="1" dirty="0">
                <a:solidFill>
                  <a:srgbClr val="5F6F62"/>
                </a:solidFill>
                <a:latin typeface="Calibri" pitchFamily="34" charset="0"/>
                <a:ea typeface="Calibri" pitchFamily="34" charset="-122"/>
                <a:cs typeface="Calibri" pitchFamily="34" charset="-120"/>
              </a:rPr>
              <a:t>Q3–Q4 2026</a:t>
            </a:r>
            <a:endParaRPr lang="en-US" sz="1150" dirty="0"/>
          </a:p>
        </p:txBody>
      </p:sp>
      <p:sp>
        <p:nvSpPr>
          <p:cNvPr id="14" name="Shape 12"/>
          <p:cNvSpPr/>
          <p:nvPr/>
        </p:nvSpPr>
        <p:spPr>
          <a:xfrm>
            <a:off x="2816352" y="2542032"/>
            <a:ext cx="2011680" cy="3291840"/>
          </a:xfrm>
          <a:prstGeom prst="roundRect">
            <a:avLst>
              <a:gd name="adj" fmla="val 4091"/>
            </a:avLst>
          </a:prstGeom>
          <a:solidFill>
            <a:srgbClr val="F3F6F0"/>
          </a:solidFill>
          <a:ln w="12700">
            <a:solidFill>
              <a:srgbClr val="F3F6F0"/>
            </a:solidFill>
            <a:prstDash val="solid"/>
          </a:ln>
        </p:spPr>
      </p:sp>
      <p:sp>
        <p:nvSpPr>
          <p:cNvPr id="15" name="Text 13"/>
          <p:cNvSpPr/>
          <p:nvPr/>
        </p:nvSpPr>
        <p:spPr>
          <a:xfrm>
            <a:off x="2980944" y="2724912"/>
            <a:ext cx="1682496" cy="822960"/>
          </a:xfrm>
          <a:prstGeom prst="rect">
            <a:avLst/>
          </a:prstGeom>
          <a:noFill/>
          <a:ln/>
        </p:spPr>
        <p:txBody>
          <a:bodyPr wrap="square" lIns="0" tIns="0" rIns="0" bIns="0" rtlCol="0" anchor="ctr"/>
          <a:lstStyle/>
          <a:p>
            <a:pPr marL="0" indent="0">
              <a:buNone/>
            </a:pPr>
            <a:r>
              <a:rPr lang="en-US" sz="1500" b="1" dirty="0">
                <a:solidFill>
                  <a:srgbClr val="163D24"/>
                </a:solidFill>
                <a:latin typeface="Cambria" pitchFamily="34" charset="0"/>
                <a:ea typeface="Cambria" pitchFamily="34" charset="-122"/>
                <a:cs typeface="Cambria" pitchFamily="34" charset="-120"/>
              </a:rPr>
              <a:t>Design &amp;</a:t>
            </a:r>
            <a:endParaRPr lang="en-US" sz="1500" dirty="0"/>
          </a:p>
          <a:p>
            <a:pPr marL="0" indent="0">
              <a:buNone/>
            </a:pPr>
            <a:r>
              <a:rPr lang="en-US" sz="1500" b="1" dirty="0">
                <a:solidFill>
                  <a:srgbClr val="163D24"/>
                </a:solidFill>
                <a:latin typeface="Cambria" pitchFamily="34" charset="0"/>
                <a:ea typeface="Cambria" pitchFamily="34" charset="-122"/>
                <a:cs typeface="Cambria" pitchFamily="34" charset="-120"/>
              </a:rPr>
              <a:t>Core Database</a:t>
            </a:r>
            <a:endParaRPr lang="en-US" sz="1500" dirty="0"/>
          </a:p>
        </p:txBody>
      </p:sp>
      <p:sp>
        <p:nvSpPr>
          <p:cNvPr id="16" name="Text 14"/>
          <p:cNvSpPr/>
          <p:nvPr/>
        </p:nvSpPr>
        <p:spPr>
          <a:xfrm>
            <a:off x="2980944" y="3602736"/>
            <a:ext cx="1682496" cy="2103120"/>
          </a:xfrm>
          <a:prstGeom prst="rect">
            <a:avLst/>
          </a:prstGeom>
          <a:noFill/>
          <a:ln/>
        </p:spPr>
        <p:txBody>
          <a:bodyPr wrap="square" lIns="0" tIns="0" rIns="0" bIns="0" rtlCol="0" anchor="ctr"/>
          <a:lstStyle/>
          <a:p>
            <a:pPr marL="0" indent="0">
              <a:lnSpc>
                <a:spcPts val="1500"/>
              </a:lnSpc>
              <a:buNone/>
            </a:pPr>
            <a:r>
              <a:rPr lang="en-US" sz="1050" dirty="0">
                <a:solidFill>
                  <a:srgbClr val="5F6F62"/>
                </a:solidFill>
                <a:latin typeface="Calibri" pitchFamily="34" charset="0"/>
                <a:ea typeface="Calibri" pitchFamily="34" charset="-122"/>
                <a:cs typeface="Calibri" pitchFamily="34" charset="-120"/>
              </a:rPr>
              <a:t>Build the central database; design the donor and family registration modules; set up warehouse and inventory data structures.</a:t>
            </a:r>
            <a:endParaRPr lang="en-US" sz="1050" dirty="0"/>
          </a:p>
        </p:txBody>
      </p:sp>
      <p:sp>
        <p:nvSpPr>
          <p:cNvPr id="17" name="Shape 15"/>
          <p:cNvSpPr/>
          <p:nvPr/>
        </p:nvSpPr>
        <p:spPr>
          <a:xfrm>
            <a:off x="5861304" y="1883664"/>
            <a:ext cx="457200" cy="457200"/>
          </a:xfrm>
          <a:prstGeom prst="ellipse">
            <a:avLst/>
          </a:prstGeom>
          <a:solidFill>
            <a:srgbClr val="D97A26"/>
          </a:solidFill>
          <a:ln w="12700">
            <a:solidFill>
              <a:srgbClr val="D97A26"/>
            </a:solidFill>
            <a:prstDash val="solid"/>
          </a:ln>
        </p:spPr>
      </p:sp>
      <p:sp>
        <p:nvSpPr>
          <p:cNvPr id="18" name="Text 16"/>
          <p:cNvSpPr/>
          <p:nvPr/>
        </p:nvSpPr>
        <p:spPr>
          <a:xfrm>
            <a:off x="5861304" y="188366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5084064" y="1463040"/>
            <a:ext cx="2011680" cy="310896"/>
          </a:xfrm>
          <a:prstGeom prst="rect">
            <a:avLst/>
          </a:prstGeom>
          <a:noFill/>
          <a:ln/>
        </p:spPr>
        <p:txBody>
          <a:bodyPr wrap="square" lIns="0" tIns="0" rIns="0" bIns="0" rtlCol="0" anchor="ctr"/>
          <a:lstStyle/>
          <a:p>
            <a:pPr marL="0" indent="0" algn="ctr">
              <a:buNone/>
            </a:pPr>
            <a:r>
              <a:rPr lang="en-US" sz="1150" b="1" dirty="0">
                <a:solidFill>
                  <a:srgbClr val="5F6F62"/>
                </a:solidFill>
                <a:latin typeface="Calibri" pitchFamily="34" charset="0"/>
                <a:ea typeface="Calibri" pitchFamily="34" charset="-122"/>
                <a:cs typeface="Calibri" pitchFamily="34" charset="-120"/>
              </a:rPr>
              <a:t>Q4 2026–Q1 2027</a:t>
            </a:r>
            <a:endParaRPr lang="en-US" sz="1150" dirty="0"/>
          </a:p>
        </p:txBody>
      </p:sp>
      <p:sp>
        <p:nvSpPr>
          <p:cNvPr id="20" name="Shape 18"/>
          <p:cNvSpPr/>
          <p:nvPr/>
        </p:nvSpPr>
        <p:spPr>
          <a:xfrm>
            <a:off x="5084064" y="2542032"/>
            <a:ext cx="2011680" cy="3291840"/>
          </a:xfrm>
          <a:prstGeom prst="roundRect">
            <a:avLst>
              <a:gd name="adj" fmla="val 4091"/>
            </a:avLst>
          </a:prstGeom>
          <a:solidFill>
            <a:srgbClr val="EEF3EA"/>
          </a:solidFill>
          <a:ln w="12700">
            <a:solidFill>
              <a:srgbClr val="EEF3EA"/>
            </a:solidFill>
            <a:prstDash val="solid"/>
          </a:ln>
        </p:spPr>
      </p:sp>
      <p:sp>
        <p:nvSpPr>
          <p:cNvPr id="21" name="Text 19"/>
          <p:cNvSpPr/>
          <p:nvPr/>
        </p:nvSpPr>
        <p:spPr>
          <a:xfrm>
            <a:off x="5248656" y="2724912"/>
            <a:ext cx="1682496" cy="822960"/>
          </a:xfrm>
          <a:prstGeom prst="rect">
            <a:avLst/>
          </a:prstGeom>
          <a:noFill/>
          <a:ln/>
        </p:spPr>
        <p:txBody>
          <a:bodyPr wrap="square" lIns="0" tIns="0" rIns="0" bIns="0" rtlCol="0" anchor="ctr"/>
          <a:lstStyle/>
          <a:p>
            <a:pPr marL="0" indent="0">
              <a:buNone/>
            </a:pPr>
            <a:r>
              <a:rPr lang="en-US" sz="1500" b="1" dirty="0">
                <a:solidFill>
                  <a:srgbClr val="163D24"/>
                </a:solidFill>
                <a:latin typeface="Cambria" pitchFamily="34" charset="0"/>
                <a:ea typeface="Cambria" pitchFamily="34" charset="-122"/>
                <a:cs typeface="Cambria" pitchFamily="34" charset="-120"/>
              </a:rPr>
              <a:t>Module</a:t>
            </a:r>
            <a:endParaRPr lang="en-US" sz="1500" dirty="0"/>
          </a:p>
          <a:p>
            <a:pPr marL="0" indent="0">
              <a:buNone/>
            </a:pPr>
            <a:r>
              <a:rPr lang="en-US" sz="1500" b="1" dirty="0">
                <a:solidFill>
                  <a:srgbClr val="163D24"/>
                </a:solidFill>
                <a:latin typeface="Cambria" pitchFamily="34" charset="0"/>
                <a:ea typeface="Cambria" pitchFamily="34" charset="-122"/>
                <a:cs typeface="Cambria" pitchFamily="34" charset="-120"/>
              </a:rPr>
              <a:t>Development</a:t>
            </a:r>
            <a:endParaRPr lang="en-US" sz="1500" dirty="0"/>
          </a:p>
        </p:txBody>
      </p:sp>
      <p:sp>
        <p:nvSpPr>
          <p:cNvPr id="22" name="Text 20"/>
          <p:cNvSpPr/>
          <p:nvPr/>
        </p:nvSpPr>
        <p:spPr>
          <a:xfrm>
            <a:off x="5248656" y="3602736"/>
            <a:ext cx="1682496" cy="2103120"/>
          </a:xfrm>
          <a:prstGeom prst="rect">
            <a:avLst/>
          </a:prstGeom>
          <a:noFill/>
          <a:ln/>
        </p:spPr>
        <p:txBody>
          <a:bodyPr wrap="square" lIns="0" tIns="0" rIns="0" bIns="0" rtlCol="0" anchor="ctr"/>
          <a:lstStyle/>
          <a:p>
            <a:pPr marL="0" indent="0">
              <a:lnSpc>
                <a:spcPts val="1500"/>
              </a:lnSpc>
              <a:buNone/>
            </a:pPr>
            <a:r>
              <a:rPr lang="en-US" sz="1050" dirty="0">
                <a:solidFill>
                  <a:srgbClr val="5F6F62"/>
                </a:solidFill>
                <a:latin typeface="Calibri" pitchFamily="34" charset="0"/>
                <a:ea typeface="Calibri" pitchFamily="34" charset="-122"/>
                <a:cs typeface="Calibri" pitchFamily="34" charset="-120"/>
              </a:rPr>
              <a:t>Develop the donation portal, inventory management, transportation scheduling and FIFO-based distribution logic.</a:t>
            </a:r>
            <a:endParaRPr lang="en-US" sz="1050" dirty="0"/>
          </a:p>
        </p:txBody>
      </p:sp>
      <p:sp>
        <p:nvSpPr>
          <p:cNvPr id="23" name="Shape 21"/>
          <p:cNvSpPr/>
          <p:nvPr/>
        </p:nvSpPr>
        <p:spPr>
          <a:xfrm>
            <a:off x="8129016" y="1883664"/>
            <a:ext cx="457200" cy="457200"/>
          </a:xfrm>
          <a:prstGeom prst="ellipse">
            <a:avLst/>
          </a:prstGeom>
          <a:solidFill>
            <a:srgbClr val="D97A26"/>
          </a:solidFill>
          <a:ln w="12700">
            <a:solidFill>
              <a:srgbClr val="D97A26"/>
            </a:solidFill>
            <a:prstDash val="solid"/>
          </a:ln>
        </p:spPr>
      </p:sp>
      <p:sp>
        <p:nvSpPr>
          <p:cNvPr id="24" name="Text 22"/>
          <p:cNvSpPr/>
          <p:nvPr/>
        </p:nvSpPr>
        <p:spPr>
          <a:xfrm>
            <a:off x="8129016" y="188366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7351776" y="1463040"/>
            <a:ext cx="2011680" cy="310896"/>
          </a:xfrm>
          <a:prstGeom prst="rect">
            <a:avLst/>
          </a:prstGeom>
          <a:noFill/>
          <a:ln/>
        </p:spPr>
        <p:txBody>
          <a:bodyPr wrap="square" lIns="0" tIns="0" rIns="0" bIns="0" rtlCol="0" anchor="ctr"/>
          <a:lstStyle/>
          <a:p>
            <a:pPr marL="0" indent="0" algn="ctr">
              <a:buNone/>
            </a:pPr>
            <a:r>
              <a:rPr lang="en-US" sz="1150" b="1" dirty="0">
                <a:solidFill>
                  <a:srgbClr val="5F6F62"/>
                </a:solidFill>
                <a:latin typeface="Calibri" pitchFamily="34" charset="0"/>
                <a:ea typeface="Calibri" pitchFamily="34" charset="-122"/>
                <a:cs typeface="Calibri" pitchFamily="34" charset="-120"/>
              </a:rPr>
              <a:t>Q1–Q2 2027</a:t>
            </a:r>
            <a:endParaRPr lang="en-US" sz="1150" dirty="0"/>
          </a:p>
        </p:txBody>
      </p:sp>
      <p:sp>
        <p:nvSpPr>
          <p:cNvPr id="26" name="Shape 24"/>
          <p:cNvSpPr/>
          <p:nvPr/>
        </p:nvSpPr>
        <p:spPr>
          <a:xfrm>
            <a:off x="7351776" y="2542032"/>
            <a:ext cx="2011680" cy="3291840"/>
          </a:xfrm>
          <a:prstGeom prst="roundRect">
            <a:avLst>
              <a:gd name="adj" fmla="val 4091"/>
            </a:avLst>
          </a:prstGeom>
          <a:solidFill>
            <a:srgbClr val="F3F6F0"/>
          </a:solidFill>
          <a:ln w="12700">
            <a:solidFill>
              <a:srgbClr val="F3F6F0"/>
            </a:solidFill>
            <a:prstDash val="solid"/>
          </a:ln>
        </p:spPr>
      </p:sp>
      <p:sp>
        <p:nvSpPr>
          <p:cNvPr id="27" name="Text 25"/>
          <p:cNvSpPr/>
          <p:nvPr/>
        </p:nvSpPr>
        <p:spPr>
          <a:xfrm>
            <a:off x="7516368" y="2724912"/>
            <a:ext cx="1682496" cy="822960"/>
          </a:xfrm>
          <a:prstGeom prst="rect">
            <a:avLst/>
          </a:prstGeom>
          <a:noFill/>
          <a:ln/>
        </p:spPr>
        <p:txBody>
          <a:bodyPr wrap="square" lIns="0" tIns="0" rIns="0" bIns="0" rtlCol="0" anchor="ctr"/>
          <a:lstStyle/>
          <a:p>
            <a:pPr marL="0" indent="0">
              <a:buNone/>
            </a:pPr>
            <a:r>
              <a:rPr lang="en-US" sz="1500" b="1" dirty="0">
                <a:solidFill>
                  <a:srgbClr val="163D24"/>
                </a:solidFill>
                <a:latin typeface="Cambria" pitchFamily="34" charset="0"/>
                <a:ea typeface="Cambria" pitchFamily="34" charset="-122"/>
                <a:cs typeface="Cambria" pitchFamily="34" charset="-120"/>
              </a:rPr>
              <a:t>Testing</a:t>
            </a:r>
            <a:endParaRPr lang="en-US" sz="1500" dirty="0"/>
          </a:p>
          <a:p>
            <a:pPr marL="0" indent="0">
              <a:buNone/>
            </a:pPr>
            <a:r>
              <a:rPr lang="en-US" sz="1500" b="1" dirty="0">
                <a:solidFill>
                  <a:srgbClr val="163D24"/>
                </a:solidFill>
                <a:latin typeface="Cambria" pitchFamily="34" charset="0"/>
                <a:ea typeface="Cambria" pitchFamily="34" charset="-122"/>
                <a:cs typeface="Cambria" pitchFamily="34" charset="-120"/>
              </a:rPr>
              <a:t>&amp; Pilot</a:t>
            </a:r>
            <a:endParaRPr lang="en-US" sz="1500" dirty="0"/>
          </a:p>
        </p:txBody>
      </p:sp>
      <p:sp>
        <p:nvSpPr>
          <p:cNvPr id="28" name="Text 26"/>
          <p:cNvSpPr/>
          <p:nvPr/>
        </p:nvSpPr>
        <p:spPr>
          <a:xfrm>
            <a:off x="7516368" y="3602736"/>
            <a:ext cx="1682496" cy="2103120"/>
          </a:xfrm>
          <a:prstGeom prst="rect">
            <a:avLst/>
          </a:prstGeom>
          <a:noFill/>
          <a:ln/>
        </p:spPr>
        <p:txBody>
          <a:bodyPr wrap="square" lIns="0" tIns="0" rIns="0" bIns="0" rtlCol="0" anchor="ctr"/>
          <a:lstStyle/>
          <a:p>
            <a:pPr marL="0" indent="0">
              <a:lnSpc>
                <a:spcPts val="1500"/>
              </a:lnSpc>
              <a:buNone/>
            </a:pPr>
            <a:r>
              <a:rPr lang="en-US" sz="1050" dirty="0">
                <a:solidFill>
                  <a:srgbClr val="5F6F62"/>
                </a:solidFill>
                <a:latin typeface="Calibri" pitchFamily="34" charset="0"/>
                <a:ea typeface="Calibri" pitchFamily="34" charset="-122"/>
                <a:cs typeface="Calibri" pitchFamily="34" charset="-120"/>
              </a:rPr>
              <a:t>Run integration and user-acceptance testing; pilot the system at one warehouse before network-wide rollout.</a:t>
            </a:r>
            <a:endParaRPr lang="en-US" sz="1050" dirty="0"/>
          </a:p>
        </p:txBody>
      </p:sp>
      <p:sp>
        <p:nvSpPr>
          <p:cNvPr id="29" name="Shape 27"/>
          <p:cNvSpPr/>
          <p:nvPr/>
        </p:nvSpPr>
        <p:spPr>
          <a:xfrm>
            <a:off x="10396728" y="1883664"/>
            <a:ext cx="457200" cy="457200"/>
          </a:xfrm>
          <a:prstGeom prst="ellipse">
            <a:avLst/>
          </a:prstGeom>
          <a:solidFill>
            <a:srgbClr val="163D24"/>
          </a:solidFill>
          <a:ln w="12700">
            <a:solidFill>
              <a:srgbClr val="163D24"/>
            </a:solidFill>
            <a:prstDash val="solid"/>
          </a:ln>
        </p:spPr>
      </p:sp>
      <p:sp>
        <p:nvSpPr>
          <p:cNvPr id="30" name="Text 28"/>
          <p:cNvSpPr/>
          <p:nvPr/>
        </p:nvSpPr>
        <p:spPr>
          <a:xfrm>
            <a:off x="10396728" y="188366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9619488" y="1463040"/>
            <a:ext cx="2011680" cy="310896"/>
          </a:xfrm>
          <a:prstGeom prst="rect">
            <a:avLst/>
          </a:prstGeom>
          <a:noFill/>
          <a:ln/>
        </p:spPr>
        <p:txBody>
          <a:bodyPr wrap="square" lIns="0" tIns="0" rIns="0" bIns="0" rtlCol="0" anchor="ctr"/>
          <a:lstStyle/>
          <a:p>
            <a:pPr marL="0" indent="0" algn="ctr">
              <a:buNone/>
            </a:pPr>
            <a:r>
              <a:rPr lang="en-US" sz="1150" b="1" dirty="0">
                <a:solidFill>
                  <a:srgbClr val="5F6F62"/>
                </a:solidFill>
                <a:latin typeface="Calibri" pitchFamily="34" charset="0"/>
                <a:ea typeface="Calibri" pitchFamily="34" charset="-122"/>
                <a:cs typeface="Calibri" pitchFamily="34" charset="-120"/>
              </a:rPr>
              <a:t>Q2–Q3 2027</a:t>
            </a:r>
            <a:endParaRPr lang="en-US" sz="1150" dirty="0"/>
          </a:p>
        </p:txBody>
      </p:sp>
      <p:sp>
        <p:nvSpPr>
          <p:cNvPr id="32" name="Shape 30"/>
          <p:cNvSpPr/>
          <p:nvPr/>
        </p:nvSpPr>
        <p:spPr>
          <a:xfrm>
            <a:off x="9619488" y="2542032"/>
            <a:ext cx="2011680" cy="3291840"/>
          </a:xfrm>
          <a:prstGeom prst="roundRect">
            <a:avLst>
              <a:gd name="adj" fmla="val 4091"/>
            </a:avLst>
          </a:prstGeom>
          <a:solidFill>
            <a:srgbClr val="EEF3EA"/>
          </a:solidFill>
          <a:ln w="12700">
            <a:solidFill>
              <a:srgbClr val="EEF3EA"/>
            </a:solidFill>
            <a:prstDash val="solid"/>
          </a:ln>
        </p:spPr>
      </p:sp>
      <p:sp>
        <p:nvSpPr>
          <p:cNvPr id="33" name="Text 31"/>
          <p:cNvSpPr/>
          <p:nvPr/>
        </p:nvSpPr>
        <p:spPr>
          <a:xfrm>
            <a:off x="9784080" y="2724912"/>
            <a:ext cx="1682496" cy="822960"/>
          </a:xfrm>
          <a:prstGeom prst="rect">
            <a:avLst/>
          </a:prstGeom>
          <a:noFill/>
          <a:ln/>
        </p:spPr>
        <p:txBody>
          <a:bodyPr wrap="square" lIns="0" tIns="0" rIns="0" bIns="0" rtlCol="0" anchor="ctr"/>
          <a:lstStyle/>
          <a:p>
            <a:pPr marL="0" indent="0">
              <a:buNone/>
            </a:pPr>
            <a:r>
              <a:rPr lang="en-US" sz="1500" b="1" dirty="0">
                <a:solidFill>
                  <a:srgbClr val="163D24"/>
                </a:solidFill>
                <a:latin typeface="Cambria" pitchFamily="34" charset="0"/>
                <a:ea typeface="Cambria" pitchFamily="34" charset="-122"/>
                <a:cs typeface="Cambria" pitchFamily="34" charset="-120"/>
              </a:rPr>
              <a:t>Rollout, Training</a:t>
            </a:r>
            <a:endParaRPr lang="en-US" sz="1500" dirty="0"/>
          </a:p>
          <a:p>
            <a:pPr marL="0" indent="0">
              <a:buNone/>
            </a:pPr>
            <a:r>
              <a:rPr lang="en-US" sz="1500" b="1" dirty="0">
                <a:solidFill>
                  <a:srgbClr val="163D24"/>
                </a:solidFill>
                <a:latin typeface="Cambria" pitchFamily="34" charset="0"/>
                <a:ea typeface="Cambria" pitchFamily="34" charset="-122"/>
                <a:cs typeface="Cambria" pitchFamily="34" charset="-120"/>
              </a:rPr>
              <a:t>&amp; Evaluation</a:t>
            </a:r>
            <a:endParaRPr lang="en-US" sz="1500" dirty="0"/>
          </a:p>
        </p:txBody>
      </p:sp>
      <p:sp>
        <p:nvSpPr>
          <p:cNvPr id="34" name="Text 32"/>
          <p:cNvSpPr/>
          <p:nvPr/>
        </p:nvSpPr>
        <p:spPr>
          <a:xfrm>
            <a:off x="9784080" y="3602736"/>
            <a:ext cx="1682496" cy="2103120"/>
          </a:xfrm>
          <a:prstGeom prst="rect">
            <a:avLst/>
          </a:prstGeom>
          <a:noFill/>
          <a:ln/>
        </p:spPr>
        <p:txBody>
          <a:bodyPr wrap="square" lIns="0" tIns="0" rIns="0" bIns="0" rtlCol="0" anchor="ctr"/>
          <a:lstStyle/>
          <a:p>
            <a:pPr marL="0" indent="0">
              <a:lnSpc>
                <a:spcPts val="1500"/>
              </a:lnSpc>
              <a:buNone/>
            </a:pPr>
            <a:r>
              <a:rPr lang="en-US" sz="1050" dirty="0">
                <a:solidFill>
                  <a:srgbClr val="5F6F62"/>
                </a:solidFill>
                <a:latin typeface="Calibri" pitchFamily="34" charset="0"/>
                <a:ea typeface="Calibri" pitchFamily="34" charset="-122"/>
                <a:cs typeface="Calibri" pitchFamily="34" charset="-120"/>
              </a:rPr>
              <a:t>Roll out to all three hubs; train staff and volunteers; deliver reports and dashboard; compile a Year 1 evaluation.</a:t>
            </a:r>
            <a:endParaRPr lang="en-US" sz="1050" dirty="0"/>
          </a:p>
        </p:txBody>
      </p:sp>
      <p:sp>
        <p:nvSpPr>
          <p:cNvPr id="35" name="Text 33"/>
          <p:cNvSpPr/>
          <p:nvPr/>
        </p:nvSpPr>
        <p:spPr>
          <a:xfrm>
            <a:off x="548640" y="6327648"/>
            <a:ext cx="11091672" cy="274320"/>
          </a:xfrm>
          <a:prstGeom prst="rect">
            <a:avLst/>
          </a:prstGeom>
          <a:noFill/>
          <a:ln/>
        </p:spPr>
        <p:txBody>
          <a:bodyPr wrap="square" lIns="0" tIns="0" rIns="0" bIns="0" rtlCol="0" anchor="ctr"/>
          <a:lstStyle/>
          <a:p>
            <a:pPr marL="0" indent="0" algn="l">
              <a:buNone/>
            </a:pPr>
            <a:r>
              <a:rPr lang="en-US" sz="950" dirty="0">
                <a:solidFill>
                  <a:srgbClr val="9AA79C"/>
                </a:solidFill>
                <a:latin typeface="Calibri" pitchFamily="34" charset="0"/>
                <a:ea typeface="Calibri" pitchFamily="34" charset="-122"/>
                <a:cs typeface="Calibri" pitchFamily="34" charset="-120"/>
              </a:rPr>
              <a:t>Phased rollout mirrors the approach used by comparable food bank technology projects. A detailed working schedule is baselined in MS Project — see Section 5 of this deck.</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Major Deliverables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13.3 — nine artefacts handed over to FoodShare</a:t>
            </a:r>
            <a:endParaRPr lang="en-US" sz="1400" dirty="0"/>
          </a:p>
        </p:txBody>
      </p:sp>
      <p:sp>
        <p:nvSpPr>
          <p:cNvPr id="4" name="Shape 2"/>
          <p:cNvSpPr/>
          <p:nvPr/>
        </p:nvSpPr>
        <p:spPr>
          <a:xfrm>
            <a:off x="548640" y="1517904"/>
            <a:ext cx="3566160" cy="1371600"/>
          </a:xfrm>
          <a:prstGeom prst="roundRect">
            <a:avLst>
              <a:gd name="adj" fmla="val 6000"/>
            </a:avLst>
          </a:prstGeom>
          <a:solidFill>
            <a:srgbClr val="EEF3EA"/>
          </a:solidFill>
          <a:ln w="12700">
            <a:solidFill>
              <a:srgbClr val="EEF3EA"/>
            </a:solidFill>
            <a:prstDash val="solid"/>
          </a:ln>
        </p:spPr>
      </p:sp>
      <p:sp>
        <p:nvSpPr>
          <p:cNvPr id="5" name="Shape 3"/>
          <p:cNvSpPr/>
          <p:nvPr/>
        </p:nvSpPr>
        <p:spPr>
          <a:xfrm>
            <a:off x="804672" y="1755648"/>
            <a:ext cx="420624" cy="420624"/>
          </a:xfrm>
          <a:prstGeom prst="roundRect">
            <a:avLst>
              <a:gd name="adj" fmla="val 17391"/>
            </a:avLst>
          </a:prstGeom>
          <a:solidFill>
            <a:srgbClr val="2C5F2D"/>
          </a:solidFill>
          <a:ln w="12700">
            <a:solidFill>
              <a:srgbClr val="2C5F2D"/>
            </a:solidFill>
            <a:prstDash val="solid"/>
          </a:ln>
        </p:spPr>
      </p:sp>
      <p:sp>
        <p:nvSpPr>
          <p:cNvPr id="6" name="Text 4"/>
          <p:cNvSpPr/>
          <p:nvPr/>
        </p:nvSpPr>
        <p:spPr>
          <a:xfrm>
            <a:off x="804672" y="1755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53312" y="1719072"/>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FoodShare central database</a:t>
            </a:r>
            <a:endParaRPr lang="en-US" sz="1300" dirty="0"/>
          </a:p>
        </p:txBody>
      </p:sp>
      <p:sp>
        <p:nvSpPr>
          <p:cNvPr id="8" name="Text 6"/>
          <p:cNvSpPr/>
          <p:nvPr/>
        </p:nvSpPr>
        <p:spPr>
          <a:xfrm>
            <a:off x="804672" y="2304288"/>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One store for donations, inventory, donors and families</a:t>
            </a:r>
            <a:endParaRPr lang="en-US" sz="1050" dirty="0"/>
          </a:p>
        </p:txBody>
      </p:sp>
      <p:sp>
        <p:nvSpPr>
          <p:cNvPr id="9" name="Shape 7"/>
          <p:cNvSpPr/>
          <p:nvPr/>
        </p:nvSpPr>
        <p:spPr>
          <a:xfrm>
            <a:off x="4325112" y="1517904"/>
            <a:ext cx="3566160" cy="1371600"/>
          </a:xfrm>
          <a:prstGeom prst="roundRect">
            <a:avLst>
              <a:gd name="adj" fmla="val 6000"/>
            </a:avLst>
          </a:prstGeom>
          <a:solidFill>
            <a:srgbClr val="EEF3EA"/>
          </a:solidFill>
          <a:ln w="12700">
            <a:solidFill>
              <a:srgbClr val="EEF3EA"/>
            </a:solidFill>
            <a:prstDash val="solid"/>
          </a:ln>
        </p:spPr>
      </p:sp>
      <p:sp>
        <p:nvSpPr>
          <p:cNvPr id="10" name="Shape 8"/>
          <p:cNvSpPr/>
          <p:nvPr/>
        </p:nvSpPr>
        <p:spPr>
          <a:xfrm>
            <a:off x="4581144" y="1755648"/>
            <a:ext cx="420624" cy="420624"/>
          </a:xfrm>
          <a:prstGeom prst="roundRect">
            <a:avLst>
              <a:gd name="adj" fmla="val 17391"/>
            </a:avLst>
          </a:prstGeom>
          <a:solidFill>
            <a:srgbClr val="2C5F2D"/>
          </a:solidFill>
          <a:ln w="12700">
            <a:solidFill>
              <a:srgbClr val="2C5F2D"/>
            </a:solidFill>
            <a:prstDash val="solid"/>
          </a:ln>
        </p:spPr>
      </p:sp>
      <p:sp>
        <p:nvSpPr>
          <p:cNvPr id="11" name="Text 9"/>
          <p:cNvSpPr/>
          <p:nvPr/>
        </p:nvSpPr>
        <p:spPr>
          <a:xfrm>
            <a:off x="4581144" y="1755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129784" y="1719072"/>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Donor management module</a:t>
            </a:r>
            <a:endParaRPr lang="en-US" sz="1300" dirty="0"/>
          </a:p>
        </p:txBody>
      </p:sp>
      <p:sp>
        <p:nvSpPr>
          <p:cNvPr id="13" name="Text 11"/>
          <p:cNvSpPr/>
          <p:nvPr/>
        </p:nvSpPr>
        <p:spPr>
          <a:xfrm>
            <a:off x="4581144" y="2304288"/>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Registration and partner records</a:t>
            </a:r>
            <a:endParaRPr lang="en-US" sz="1050" dirty="0"/>
          </a:p>
        </p:txBody>
      </p:sp>
      <p:sp>
        <p:nvSpPr>
          <p:cNvPr id="14" name="Shape 12"/>
          <p:cNvSpPr/>
          <p:nvPr/>
        </p:nvSpPr>
        <p:spPr>
          <a:xfrm>
            <a:off x="8101584" y="1517904"/>
            <a:ext cx="3566160" cy="1371600"/>
          </a:xfrm>
          <a:prstGeom prst="roundRect">
            <a:avLst>
              <a:gd name="adj" fmla="val 6000"/>
            </a:avLst>
          </a:prstGeom>
          <a:solidFill>
            <a:srgbClr val="EEF3EA"/>
          </a:solidFill>
          <a:ln w="12700">
            <a:solidFill>
              <a:srgbClr val="EEF3EA"/>
            </a:solidFill>
            <a:prstDash val="solid"/>
          </a:ln>
        </p:spPr>
      </p:sp>
      <p:sp>
        <p:nvSpPr>
          <p:cNvPr id="15" name="Shape 13"/>
          <p:cNvSpPr/>
          <p:nvPr/>
        </p:nvSpPr>
        <p:spPr>
          <a:xfrm>
            <a:off x="8357616" y="1755648"/>
            <a:ext cx="420624" cy="420624"/>
          </a:xfrm>
          <a:prstGeom prst="roundRect">
            <a:avLst>
              <a:gd name="adj" fmla="val 17391"/>
            </a:avLst>
          </a:prstGeom>
          <a:solidFill>
            <a:srgbClr val="2C5F2D"/>
          </a:solidFill>
          <a:ln w="12700">
            <a:solidFill>
              <a:srgbClr val="2C5F2D"/>
            </a:solidFill>
            <a:prstDash val="solid"/>
          </a:ln>
        </p:spPr>
      </p:sp>
      <p:sp>
        <p:nvSpPr>
          <p:cNvPr id="16" name="Text 14"/>
          <p:cNvSpPr/>
          <p:nvPr/>
        </p:nvSpPr>
        <p:spPr>
          <a:xfrm>
            <a:off x="8357616" y="1755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906256" y="1719072"/>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Family registration module</a:t>
            </a:r>
            <a:endParaRPr lang="en-US" sz="1300" dirty="0"/>
          </a:p>
        </p:txBody>
      </p:sp>
      <p:sp>
        <p:nvSpPr>
          <p:cNvPr id="18" name="Text 16"/>
          <p:cNvSpPr/>
          <p:nvPr/>
        </p:nvSpPr>
        <p:spPr>
          <a:xfrm>
            <a:off x="8357616" y="2304288"/>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Household records, size, ages, allergies</a:t>
            </a:r>
            <a:endParaRPr lang="en-US" sz="1050" dirty="0"/>
          </a:p>
        </p:txBody>
      </p:sp>
      <p:sp>
        <p:nvSpPr>
          <p:cNvPr id="19" name="Shape 17"/>
          <p:cNvSpPr/>
          <p:nvPr/>
        </p:nvSpPr>
        <p:spPr>
          <a:xfrm>
            <a:off x="548640" y="3090672"/>
            <a:ext cx="3566160" cy="1371600"/>
          </a:xfrm>
          <a:prstGeom prst="roundRect">
            <a:avLst>
              <a:gd name="adj" fmla="val 6000"/>
            </a:avLst>
          </a:prstGeom>
          <a:solidFill>
            <a:srgbClr val="EEF3EA"/>
          </a:solidFill>
          <a:ln w="12700">
            <a:solidFill>
              <a:srgbClr val="EEF3EA"/>
            </a:solidFill>
            <a:prstDash val="solid"/>
          </a:ln>
        </p:spPr>
      </p:sp>
      <p:sp>
        <p:nvSpPr>
          <p:cNvPr id="20" name="Shape 18"/>
          <p:cNvSpPr/>
          <p:nvPr/>
        </p:nvSpPr>
        <p:spPr>
          <a:xfrm>
            <a:off x="804672" y="3328416"/>
            <a:ext cx="420624" cy="420624"/>
          </a:xfrm>
          <a:prstGeom prst="roundRect">
            <a:avLst>
              <a:gd name="adj" fmla="val 17391"/>
            </a:avLst>
          </a:prstGeom>
          <a:solidFill>
            <a:srgbClr val="D97A26"/>
          </a:solidFill>
          <a:ln w="12700">
            <a:solidFill>
              <a:srgbClr val="D97A26"/>
            </a:solidFill>
            <a:prstDash val="solid"/>
          </a:ln>
        </p:spPr>
      </p:sp>
      <p:sp>
        <p:nvSpPr>
          <p:cNvPr id="21" name="Text 19"/>
          <p:cNvSpPr/>
          <p:nvPr/>
        </p:nvSpPr>
        <p:spPr>
          <a:xfrm>
            <a:off x="804672" y="332841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353312" y="3291840"/>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Warehouse management module</a:t>
            </a:r>
            <a:endParaRPr lang="en-US" sz="1300" dirty="0"/>
          </a:p>
        </p:txBody>
      </p:sp>
      <p:sp>
        <p:nvSpPr>
          <p:cNvPr id="23" name="Text 21"/>
          <p:cNvSpPr/>
          <p:nvPr/>
        </p:nvSpPr>
        <p:spPr>
          <a:xfrm>
            <a:off x="804672" y="3877056"/>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Hub-level operations and storage</a:t>
            </a:r>
            <a:endParaRPr lang="en-US" sz="1050" dirty="0"/>
          </a:p>
        </p:txBody>
      </p:sp>
      <p:sp>
        <p:nvSpPr>
          <p:cNvPr id="24" name="Shape 22"/>
          <p:cNvSpPr/>
          <p:nvPr/>
        </p:nvSpPr>
        <p:spPr>
          <a:xfrm>
            <a:off x="4325112" y="3090672"/>
            <a:ext cx="3566160" cy="1371600"/>
          </a:xfrm>
          <a:prstGeom prst="roundRect">
            <a:avLst>
              <a:gd name="adj" fmla="val 6000"/>
            </a:avLst>
          </a:prstGeom>
          <a:solidFill>
            <a:srgbClr val="EEF3EA"/>
          </a:solidFill>
          <a:ln w="12700">
            <a:solidFill>
              <a:srgbClr val="EEF3EA"/>
            </a:solidFill>
            <a:prstDash val="solid"/>
          </a:ln>
        </p:spPr>
      </p:sp>
      <p:sp>
        <p:nvSpPr>
          <p:cNvPr id="25" name="Shape 23"/>
          <p:cNvSpPr/>
          <p:nvPr/>
        </p:nvSpPr>
        <p:spPr>
          <a:xfrm>
            <a:off x="4581144" y="3328416"/>
            <a:ext cx="420624" cy="420624"/>
          </a:xfrm>
          <a:prstGeom prst="roundRect">
            <a:avLst>
              <a:gd name="adj" fmla="val 17391"/>
            </a:avLst>
          </a:prstGeom>
          <a:solidFill>
            <a:srgbClr val="D97A26"/>
          </a:solidFill>
          <a:ln w="12700">
            <a:solidFill>
              <a:srgbClr val="D97A26"/>
            </a:solidFill>
            <a:prstDash val="solid"/>
          </a:ln>
        </p:spPr>
      </p:sp>
      <p:sp>
        <p:nvSpPr>
          <p:cNvPr id="26" name="Text 24"/>
          <p:cNvSpPr/>
          <p:nvPr/>
        </p:nvSpPr>
        <p:spPr>
          <a:xfrm>
            <a:off x="4581144" y="332841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5129784" y="3291840"/>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Inventory management module</a:t>
            </a:r>
            <a:endParaRPr lang="en-US" sz="1300" dirty="0"/>
          </a:p>
        </p:txBody>
      </p:sp>
      <p:sp>
        <p:nvSpPr>
          <p:cNvPr id="28" name="Text 26"/>
          <p:cNvSpPr/>
          <p:nvPr/>
        </p:nvSpPr>
        <p:spPr>
          <a:xfrm>
            <a:off x="4581144" y="3877056"/>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Stock levels and reorder alerts</a:t>
            </a:r>
            <a:endParaRPr lang="en-US" sz="1050" dirty="0"/>
          </a:p>
        </p:txBody>
      </p:sp>
      <p:sp>
        <p:nvSpPr>
          <p:cNvPr id="29" name="Shape 27"/>
          <p:cNvSpPr/>
          <p:nvPr/>
        </p:nvSpPr>
        <p:spPr>
          <a:xfrm>
            <a:off x="8101584" y="3090672"/>
            <a:ext cx="3566160" cy="1371600"/>
          </a:xfrm>
          <a:prstGeom prst="roundRect">
            <a:avLst>
              <a:gd name="adj" fmla="val 6000"/>
            </a:avLst>
          </a:prstGeom>
          <a:solidFill>
            <a:srgbClr val="EEF3EA"/>
          </a:solidFill>
          <a:ln w="12700">
            <a:solidFill>
              <a:srgbClr val="EEF3EA"/>
            </a:solidFill>
            <a:prstDash val="solid"/>
          </a:ln>
        </p:spPr>
      </p:sp>
      <p:sp>
        <p:nvSpPr>
          <p:cNvPr id="30" name="Shape 28"/>
          <p:cNvSpPr/>
          <p:nvPr/>
        </p:nvSpPr>
        <p:spPr>
          <a:xfrm>
            <a:off x="8357616" y="3328416"/>
            <a:ext cx="420624" cy="420624"/>
          </a:xfrm>
          <a:prstGeom prst="roundRect">
            <a:avLst>
              <a:gd name="adj" fmla="val 17391"/>
            </a:avLst>
          </a:prstGeom>
          <a:solidFill>
            <a:srgbClr val="D97A26"/>
          </a:solidFill>
          <a:ln w="12700">
            <a:solidFill>
              <a:srgbClr val="D97A26"/>
            </a:solidFill>
            <a:prstDash val="solid"/>
          </a:ln>
        </p:spPr>
      </p:sp>
      <p:sp>
        <p:nvSpPr>
          <p:cNvPr id="31" name="Text 29"/>
          <p:cNvSpPr/>
          <p:nvPr/>
        </p:nvSpPr>
        <p:spPr>
          <a:xfrm>
            <a:off x="8357616" y="332841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8906256" y="3291840"/>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Transportation module</a:t>
            </a:r>
            <a:endParaRPr lang="en-US" sz="1300" dirty="0"/>
          </a:p>
        </p:txBody>
      </p:sp>
      <p:sp>
        <p:nvSpPr>
          <p:cNvPr id="33" name="Text 31"/>
          <p:cNvSpPr/>
          <p:nvPr/>
        </p:nvSpPr>
        <p:spPr>
          <a:xfrm>
            <a:off x="8357616" y="3877056"/>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Pickup, transfer and delivery scheduling</a:t>
            </a:r>
            <a:endParaRPr lang="en-US" sz="1050" dirty="0"/>
          </a:p>
        </p:txBody>
      </p:sp>
      <p:sp>
        <p:nvSpPr>
          <p:cNvPr id="34" name="Shape 32"/>
          <p:cNvSpPr/>
          <p:nvPr/>
        </p:nvSpPr>
        <p:spPr>
          <a:xfrm>
            <a:off x="548640" y="4663440"/>
            <a:ext cx="3566160" cy="1371600"/>
          </a:xfrm>
          <a:prstGeom prst="roundRect">
            <a:avLst>
              <a:gd name="adj" fmla="val 6000"/>
            </a:avLst>
          </a:prstGeom>
          <a:solidFill>
            <a:srgbClr val="EEF3EA"/>
          </a:solidFill>
          <a:ln w="12700">
            <a:solidFill>
              <a:srgbClr val="EEF3EA"/>
            </a:solidFill>
            <a:prstDash val="solid"/>
          </a:ln>
        </p:spPr>
      </p:sp>
      <p:sp>
        <p:nvSpPr>
          <p:cNvPr id="35" name="Shape 33"/>
          <p:cNvSpPr/>
          <p:nvPr/>
        </p:nvSpPr>
        <p:spPr>
          <a:xfrm>
            <a:off x="804672" y="4901184"/>
            <a:ext cx="420624" cy="420624"/>
          </a:xfrm>
          <a:prstGeom prst="roundRect">
            <a:avLst>
              <a:gd name="adj" fmla="val 17391"/>
            </a:avLst>
          </a:prstGeom>
          <a:solidFill>
            <a:srgbClr val="163D24"/>
          </a:solidFill>
          <a:ln w="12700">
            <a:solidFill>
              <a:srgbClr val="163D24"/>
            </a:solidFill>
            <a:prstDash val="solid"/>
          </a:ln>
        </p:spPr>
      </p:sp>
      <p:sp>
        <p:nvSpPr>
          <p:cNvPr id="36" name="Text 34"/>
          <p:cNvSpPr/>
          <p:nvPr/>
        </p:nvSpPr>
        <p:spPr>
          <a:xfrm>
            <a:off x="804672" y="49011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p:nvPr/>
        </p:nvSpPr>
        <p:spPr>
          <a:xfrm>
            <a:off x="1353312" y="4864608"/>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Food distribution module</a:t>
            </a:r>
            <a:endParaRPr lang="en-US" sz="1300" dirty="0"/>
          </a:p>
        </p:txBody>
      </p:sp>
      <p:sp>
        <p:nvSpPr>
          <p:cNvPr id="38" name="Text 36"/>
          <p:cNvSpPr/>
          <p:nvPr/>
        </p:nvSpPr>
        <p:spPr>
          <a:xfrm>
            <a:off x="804672" y="5449824"/>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FIFO logic driving what goes out first</a:t>
            </a:r>
            <a:endParaRPr lang="en-US" sz="1050" dirty="0"/>
          </a:p>
        </p:txBody>
      </p:sp>
      <p:sp>
        <p:nvSpPr>
          <p:cNvPr id="39" name="Shape 37"/>
          <p:cNvSpPr/>
          <p:nvPr/>
        </p:nvSpPr>
        <p:spPr>
          <a:xfrm>
            <a:off x="4325112" y="4663440"/>
            <a:ext cx="3566160" cy="1371600"/>
          </a:xfrm>
          <a:prstGeom prst="roundRect">
            <a:avLst>
              <a:gd name="adj" fmla="val 6000"/>
            </a:avLst>
          </a:prstGeom>
          <a:solidFill>
            <a:srgbClr val="EEF3EA"/>
          </a:solidFill>
          <a:ln w="12700">
            <a:solidFill>
              <a:srgbClr val="EEF3EA"/>
            </a:solidFill>
            <a:prstDash val="solid"/>
          </a:ln>
        </p:spPr>
      </p:sp>
      <p:sp>
        <p:nvSpPr>
          <p:cNvPr id="40" name="Shape 38"/>
          <p:cNvSpPr/>
          <p:nvPr/>
        </p:nvSpPr>
        <p:spPr>
          <a:xfrm>
            <a:off x="4581144" y="4901184"/>
            <a:ext cx="420624" cy="420624"/>
          </a:xfrm>
          <a:prstGeom prst="roundRect">
            <a:avLst>
              <a:gd name="adj" fmla="val 17391"/>
            </a:avLst>
          </a:prstGeom>
          <a:solidFill>
            <a:srgbClr val="163D24"/>
          </a:solidFill>
          <a:ln w="12700">
            <a:solidFill>
              <a:srgbClr val="163D24"/>
            </a:solidFill>
            <a:prstDash val="solid"/>
          </a:ln>
        </p:spPr>
      </p:sp>
      <p:sp>
        <p:nvSpPr>
          <p:cNvPr id="41" name="Text 39"/>
          <p:cNvSpPr/>
          <p:nvPr/>
        </p:nvSpPr>
        <p:spPr>
          <a:xfrm>
            <a:off x="4581144" y="49011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p:nvPr/>
        </p:nvSpPr>
        <p:spPr>
          <a:xfrm>
            <a:off x="5129784" y="4864608"/>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Reports and dashboard</a:t>
            </a:r>
            <a:endParaRPr lang="en-US" sz="1300" dirty="0"/>
          </a:p>
        </p:txBody>
      </p:sp>
      <p:sp>
        <p:nvSpPr>
          <p:cNvPr id="43" name="Text 41"/>
          <p:cNvSpPr/>
          <p:nvPr/>
        </p:nvSpPr>
        <p:spPr>
          <a:xfrm>
            <a:off x="4581144" y="5449824"/>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Inventory and donation visibility for staff</a:t>
            </a:r>
            <a:endParaRPr lang="en-US" sz="1050" dirty="0"/>
          </a:p>
        </p:txBody>
      </p:sp>
      <p:sp>
        <p:nvSpPr>
          <p:cNvPr id="44" name="Shape 42"/>
          <p:cNvSpPr/>
          <p:nvPr/>
        </p:nvSpPr>
        <p:spPr>
          <a:xfrm>
            <a:off x="8101584" y="4663440"/>
            <a:ext cx="3566160" cy="1371600"/>
          </a:xfrm>
          <a:prstGeom prst="roundRect">
            <a:avLst>
              <a:gd name="adj" fmla="val 6000"/>
            </a:avLst>
          </a:prstGeom>
          <a:solidFill>
            <a:srgbClr val="EEF3EA"/>
          </a:solidFill>
          <a:ln w="12700">
            <a:solidFill>
              <a:srgbClr val="EEF3EA"/>
            </a:solidFill>
            <a:prstDash val="solid"/>
          </a:ln>
        </p:spPr>
      </p:sp>
      <p:sp>
        <p:nvSpPr>
          <p:cNvPr id="45" name="Shape 43"/>
          <p:cNvSpPr/>
          <p:nvPr/>
        </p:nvSpPr>
        <p:spPr>
          <a:xfrm>
            <a:off x="8357616" y="4901184"/>
            <a:ext cx="420624" cy="420624"/>
          </a:xfrm>
          <a:prstGeom prst="roundRect">
            <a:avLst>
              <a:gd name="adj" fmla="val 17391"/>
            </a:avLst>
          </a:prstGeom>
          <a:solidFill>
            <a:srgbClr val="163D24"/>
          </a:solidFill>
          <a:ln w="12700">
            <a:solidFill>
              <a:srgbClr val="163D24"/>
            </a:solidFill>
            <a:prstDash val="solid"/>
          </a:ln>
        </p:spPr>
      </p:sp>
      <p:sp>
        <p:nvSpPr>
          <p:cNvPr id="46" name="Text 44"/>
          <p:cNvSpPr/>
          <p:nvPr/>
        </p:nvSpPr>
        <p:spPr>
          <a:xfrm>
            <a:off x="8357616" y="49011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7" name="Text 45"/>
          <p:cNvSpPr/>
          <p:nvPr/>
        </p:nvSpPr>
        <p:spPr>
          <a:xfrm>
            <a:off x="8906256" y="4864608"/>
            <a:ext cx="2560320" cy="49377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User documentation &amp; training</a:t>
            </a:r>
            <a:endParaRPr lang="en-US" sz="1300" dirty="0"/>
          </a:p>
        </p:txBody>
      </p:sp>
      <p:sp>
        <p:nvSpPr>
          <p:cNvPr id="48" name="Text 46"/>
          <p:cNvSpPr/>
          <p:nvPr/>
        </p:nvSpPr>
        <p:spPr>
          <a:xfrm>
            <a:off x="8357616" y="5449824"/>
            <a:ext cx="3054096" cy="438912"/>
          </a:xfrm>
          <a:prstGeom prst="rect">
            <a:avLst/>
          </a:prstGeom>
          <a:noFill/>
          <a:ln/>
        </p:spPr>
        <p:txBody>
          <a:bodyPr wrap="square" lIns="0" tIns="0" rIns="0" bIns="0" rtlCol="0" anchor="ctr"/>
          <a:lstStyle/>
          <a:p>
            <a:pPr marL="0" indent="0">
              <a:buNone/>
            </a:pPr>
            <a:r>
              <a:rPr lang="en-US" sz="1050" dirty="0">
                <a:solidFill>
                  <a:srgbClr val="5F6F62"/>
                </a:solidFill>
                <a:latin typeface="Calibri" pitchFamily="34" charset="0"/>
                <a:ea typeface="Calibri" pitchFamily="34" charset="-122"/>
                <a:cs typeface="Calibri" pitchFamily="34" charset="-120"/>
              </a:rPr>
              <a:t>Guides and materials for staff and volunteers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3D24"/>
        </a:solidFill>
        <a:effectLst/>
      </p:bgPr>
    </p:bg>
    <p:spTree>
      <p:nvGrpSpPr>
        <p:cNvPr id="1" name=""/>
        <p:cNvGrpSpPr/>
        <p:nvPr/>
      </p:nvGrpSpPr>
      <p:grpSpPr>
        <a:xfrm>
          <a:off x="0" y="0"/>
          <a:ext cx="0" cy="0"/>
          <a:chOff x="0" y="0"/>
          <a:chExt cx="0" cy="0"/>
        </a:xfrm>
      </p:grpSpPr>
      <p:sp>
        <p:nvSpPr>
          <p:cNvPr id="2" name="Shape 0"/>
          <p:cNvSpPr/>
          <p:nvPr/>
        </p:nvSpPr>
        <p:spPr>
          <a:xfrm>
            <a:off x="-1463040" y="3291840"/>
            <a:ext cx="5120640" cy="5120640"/>
          </a:xfrm>
          <a:prstGeom prst="ellipse">
            <a:avLst/>
          </a:prstGeom>
          <a:solidFill>
            <a:srgbClr val="2C5F2D">
              <a:alpha val="45000"/>
            </a:srgbClr>
          </a:solidFill>
          <a:ln w="12700">
            <a:solidFill>
              <a:srgbClr val="2C5F2D"/>
            </a:solidFill>
            <a:prstDash val="solid"/>
          </a:ln>
        </p:spPr>
      </p:sp>
      <p:sp>
        <p:nvSpPr>
          <p:cNvPr id="3" name="Shape 1"/>
          <p:cNvSpPr/>
          <p:nvPr/>
        </p:nvSpPr>
        <p:spPr>
          <a:xfrm>
            <a:off x="9875520" y="-1097280"/>
            <a:ext cx="3840480" cy="3840480"/>
          </a:xfrm>
          <a:prstGeom prst="ellipse">
            <a:avLst/>
          </a:prstGeom>
          <a:solidFill>
            <a:srgbClr val="97BC62">
              <a:alpha val="22000"/>
            </a:srgbClr>
          </a:solidFill>
          <a:ln w="12700">
            <a:solidFill>
              <a:srgbClr val="97BC62"/>
            </a:solidFill>
            <a:prstDash val="solid"/>
          </a:ln>
        </p:spPr>
      </p:sp>
      <p:sp>
        <p:nvSpPr>
          <p:cNvPr id="4" name="Text 2"/>
          <p:cNvSpPr/>
          <p:nvPr/>
        </p:nvSpPr>
        <p:spPr>
          <a:xfrm>
            <a:off x="1463040" y="2286000"/>
            <a:ext cx="5486400" cy="329184"/>
          </a:xfrm>
          <a:prstGeom prst="rect">
            <a:avLst/>
          </a:prstGeom>
          <a:noFill/>
          <a:ln/>
        </p:spPr>
        <p:txBody>
          <a:bodyPr wrap="square" lIns="0" tIns="0" rIns="0" bIns="0" rtlCol="0" anchor="ctr"/>
          <a:lstStyle/>
          <a:p>
            <a:pPr marL="0" indent="0">
              <a:buNone/>
            </a:pPr>
            <a:r>
              <a:rPr lang="en-US" sz="1200" b="1" kern="0" spc="240" dirty="0">
                <a:solidFill>
                  <a:srgbClr val="D97A26"/>
                </a:solidFill>
                <a:latin typeface="Calibri" pitchFamily="34" charset="0"/>
                <a:ea typeface="Calibri" pitchFamily="34" charset="-122"/>
                <a:cs typeface="Calibri" pitchFamily="34" charset="-120"/>
              </a:rPr>
              <a:t>SECTION 14</a:t>
            </a:r>
            <a:endParaRPr lang="en-US" sz="1200" dirty="0"/>
          </a:p>
        </p:txBody>
      </p:sp>
      <p:sp>
        <p:nvSpPr>
          <p:cNvPr id="5" name="Text 3"/>
          <p:cNvSpPr/>
          <p:nvPr/>
        </p:nvSpPr>
        <p:spPr>
          <a:xfrm>
            <a:off x="1463040" y="2697480"/>
            <a:ext cx="9144000" cy="7772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Reference Benchmarks</a:t>
            </a:r>
            <a:endParaRPr lang="en-US" sz="4000" dirty="0"/>
          </a:p>
        </p:txBody>
      </p:sp>
      <p:sp>
        <p:nvSpPr>
          <p:cNvPr id="6" name="Text 4"/>
          <p:cNvSpPr/>
          <p:nvPr/>
        </p:nvSpPr>
        <p:spPr>
          <a:xfrm>
            <a:off x="1463040" y="3611880"/>
            <a:ext cx="7863840" cy="914400"/>
          </a:xfrm>
          <a:prstGeom prst="rect">
            <a:avLst/>
          </a:prstGeom>
          <a:noFill/>
          <a:ln/>
        </p:spPr>
        <p:txBody>
          <a:bodyPr wrap="square" lIns="0" tIns="0" rIns="0" bIns="0" rtlCol="0" anchor="ctr"/>
          <a:lstStyle/>
          <a:p>
            <a:pPr marL="0" indent="0">
              <a:lnSpc>
                <a:spcPts val="2400"/>
              </a:lnSpc>
              <a:buNone/>
            </a:pPr>
            <a:r>
              <a:rPr lang="en-US" sz="1500" dirty="0">
                <a:solidFill>
                  <a:srgbClr val="C8D8C4"/>
                </a:solidFill>
                <a:latin typeface="Calibri" pitchFamily="34" charset="0"/>
                <a:ea typeface="Calibri" pitchFamily="34" charset="-122"/>
                <a:cs typeface="Calibri" pitchFamily="34" charset="-120"/>
              </a:rPr>
              <a:t>Care Shield Food Bank — a comparable three-hub network, further along in data maturity — gives us a realistic picture of what a network at this scale looks like once it is fully instrumented.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Benchmark: Families &amp; Community Reach</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14.1 — what a fully instrumented network of this size supports</a:t>
            </a:r>
            <a:endParaRPr lang="en-US" sz="1400" dirty="0"/>
          </a:p>
        </p:txBody>
      </p:sp>
      <p:sp>
        <p:nvSpPr>
          <p:cNvPr id="4" name="Shape 2"/>
          <p:cNvSpPr/>
          <p:nvPr/>
        </p:nvSpPr>
        <p:spPr>
          <a:xfrm>
            <a:off x="548640" y="1481328"/>
            <a:ext cx="3200400" cy="1024128"/>
          </a:xfrm>
          <a:prstGeom prst="roundRect">
            <a:avLst>
              <a:gd name="adj" fmla="val 8036"/>
            </a:avLst>
          </a:prstGeom>
          <a:solidFill>
            <a:srgbClr val="EEF3EA"/>
          </a:solidFill>
          <a:ln w="12700">
            <a:solidFill>
              <a:srgbClr val="EEF3EA"/>
            </a:solidFill>
            <a:prstDash val="solid"/>
          </a:ln>
        </p:spPr>
      </p:sp>
      <p:sp>
        <p:nvSpPr>
          <p:cNvPr id="5" name="Text 3"/>
          <p:cNvSpPr/>
          <p:nvPr/>
        </p:nvSpPr>
        <p:spPr>
          <a:xfrm>
            <a:off x="804672" y="1591056"/>
            <a:ext cx="2651760" cy="548640"/>
          </a:xfrm>
          <a:prstGeom prst="rect">
            <a:avLst/>
          </a:prstGeom>
          <a:noFill/>
          <a:ln/>
        </p:spPr>
        <p:txBody>
          <a:bodyPr wrap="square" lIns="0" tIns="0" rIns="0" bIns="0"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1,000</a:t>
            </a:r>
            <a:endParaRPr lang="en-US" sz="3200" dirty="0"/>
          </a:p>
        </p:txBody>
      </p:sp>
      <p:sp>
        <p:nvSpPr>
          <p:cNvPr id="6" name="Text 4"/>
          <p:cNvSpPr/>
          <p:nvPr/>
        </p:nvSpPr>
        <p:spPr>
          <a:xfrm>
            <a:off x="804672" y="2139696"/>
            <a:ext cx="2651760" cy="274320"/>
          </a:xfrm>
          <a:prstGeom prst="rect">
            <a:avLst/>
          </a:prstGeom>
          <a:noFill/>
          <a:ln/>
        </p:spPr>
        <p:txBody>
          <a:bodyPr wrap="square" lIns="0" tIns="0" rIns="0" bIns="0" rtlCol="0" anchor="ctr"/>
          <a:lstStyle/>
          <a:p>
            <a:pPr marL="0" indent="0">
              <a:buNone/>
            </a:pPr>
            <a:r>
              <a:rPr lang="en-US" sz="1200" dirty="0">
                <a:solidFill>
                  <a:srgbClr val="5F6F62"/>
                </a:solidFill>
                <a:latin typeface="Calibri" pitchFamily="34" charset="0"/>
                <a:ea typeface="Calibri" pitchFamily="34" charset="-122"/>
                <a:cs typeface="Calibri" pitchFamily="34" charset="-120"/>
              </a:rPr>
              <a:t>Registered families</a:t>
            </a:r>
            <a:endParaRPr lang="en-US" sz="1200" dirty="0"/>
          </a:p>
        </p:txBody>
      </p:sp>
      <p:sp>
        <p:nvSpPr>
          <p:cNvPr id="7" name="Shape 5"/>
          <p:cNvSpPr/>
          <p:nvPr/>
        </p:nvSpPr>
        <p:spPr>
          <a:xfrm>
            <a:off x="548640" y="2651760"/>
            <a:ext cx="3200400" cy="1024128"/>
          </a:xfrm>
          <a:prstGeom prst="roundRect">
            <a:avLst>
              <a:gd name="adj" fmla="val 8036"/>
            </a:avLst>
          </a:prstGeom>
          <a:solidFill>
            <a:srgbClr val="EEF3EA"/>
          </a:solidFill>
          <a:ln w="12700">
            <a:solidFill>
              <a:srgbClr val="EEF3EA"/>
            </a:solidFill>
            <a:prstDash val="solid"/>
          </a:ln>
        </p:spPr>
      </p:sp>
      <p:sp>
        <p:nvSpPr>
          <p:cNvPr id="8" name="Text 6"/>
          <p:cNvSpPr/>
          <p:nvPr/>
        </p:nvSpPr>
        <p:spPr>
          <a:xfrm>
            <a:off x="804672" y="2761488"/>
            <a:ext cx="2651760" cy="548640"/>
          </a:xfrm>
          <a:prstGeom prst="rect">
            <a:avLst/>
          </a:prstGeom>
          <a:noFill/>
          <a:ln/>
        </p:spPr>
        <p:txBody>
          <a:bodyPr wrap="square" lIns="0" tIns="0" rIns="0" bIns="0"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4,557</a:t>
            </a:r>
            <a:endParaRPr lang="en-US" sz="3200" dirty="0"/>
          </a:p>
        </p:txBody>
      </p:sp>
      <p:sp>
        <p:nvSpPr>
          <p:cNvPr id="9" name="Text 7"/>
          <p:cNvSpPr/>
          <p:nvPr/>
        </p:nvSpPr>
        <p:spPr>
          <a:xfrm>
            <a:off x="804672" y="3310128"/>
            <a:ext cx="2651760" cy="274320"/>
          </a:xfrm>
          <a:prstGeom prst="rect">
            <a:avLst/>
          </a:prstGeom>
          <a:noFill/>
          <a:ln/>
        </p:spPr>
        <p:txBody>
          <a:bodyPr wrap="square" lIns="0" tIns="0" rIns="0" bIns="0" rtlCol="0" anchor="ctr"/>
          <a:lstStyle/>
          <a:p>
            <a:pPr marL="0" indent="0">
              <a:buNone/>
            </a:pPr>
            <a:r>
              <a:rPr lang="en-US" sz="1200" dirty="0">
                <a:solidFill>
                  <a:srgbClr val="5F6F62"/>
                </a:solidFill>
                <a:latin typeface="Calibri" pitchFamily="34" charset="0"/>
                <a:ea typeface="Calibri" pitchFamily="34" charset="-122"/>
                <a:cs typeface="Calibri" pitchFamily="34" charset="-120"/>
              </a:rPr>
              <a:t>Individuals supported</a:t>
            </a:r>
            <a:endParaRPr lang="en-US" sz="1200" dirty="0"/>
          </a:p>
        </p:txBody>
      </p:sp>
      <p:sp>
        <p:nvSpPr>
          <p:cNvPr id="10" name="Shape 8"/>
          <p:cNvSpPr/>
          <p:nvPr/>
        </p:nvSpPr>
        <p:spPr>
          <a:xfrm>
            <a:off x="548640" y="3822192"/>
            <a:ext cx="3200400" cy="1024128"/>
          </a:xfrm>
          <a:prstGeom prst="roundRect">
            <a:avLst>
              <a:gd name="adj" fmla="val 8036"/>
            </a:avLst>
          </a:prstGeom>
          <a:solidFill>
            <a:srgbClr val="EEF3EA"/>
          </a:solidFill>
          <a:ln w="12700">
            <a:solidFill>
              <a:srgbClr val="EEF3EA"/>
            </a:solidFill>
            <a:prstDash val="solid"/>
          </a:ln>
        </p:spPr>
      </p:sp>
      <p:sp>
        <p:nvSpPr>
          <p:cNvPr id="11" name="Text 9"/>
          <p:cNvSpPr/>
          <p:nvPr/>
        </p:nvSpPr>
        <p:spPr>
          <a:xfrm>
            <a:off x="804672" y="3931920"/>
            <a:ext cx="2651760" cy="548640"/>
          </a:xfrm>
          <a:prstGeom prst="rect">
            <a:avLst/>
          </a:prstGeom>
          <a:noFill/>
          <a:ln/>
        </p:spPr>
        <p:txBody>
          <a:bodyPr wrap="square" lIns="0" tIns="0" rIns="0" bIns="0" rtlCol="0" anchor="ctr"/>
          <a:lstStyle/>
          <a:p>
            <a:pPr marL="0" indent="0">
              <a:buNone/>
            </a:pPr>
            <a:r>
              <a:rPr lang="en-US" sz="3200" b="1" dirty="0">
                <a:solidFill>
                  <a:srgbClr val="2C5F2D"/>
                </a:solidFill>
                <a:latin typeface="Cambria" pitchFamily="34" charset="0"/>
                <a:ea typeface="Cambria" pitchFamily="34" charset="-122"/>
                <a:cs typeface="Cambria" pitchFamily="34" charset="-120"/>
              </a:rPr>
              <a:t>4.56</a:t>
            </a:r>
            <a:endParaRPr lang="en-US" sz="3200" dirty="0"/>
          </a:p>
        </p:txBody>
      </p:sp>
      <p:sp>
        <p:nvSpPr>
          <p:cNvPr id="12" name="Text 10"/>
          <p:cNvSpPr/>
          <p:nvPr/>
        </p:nvSpPr>
        <p:spPr>
          <a:xfrm>
            <a:off x="804672" y="4480560"/>
            <a:ext cx="2651760" cy="274320"/>
          </a:xfrm>
          <a:prstGeom prst="rect">
            <a:avLst/>
          </a:prstGeom>
          <a:noFill/>
          <a:ln/>
        </p:spPr>
        <p:txBody>
          <a:bodyPr wrap="square" lIns="0" tIns="0" rIns="0" bIns="0" rtlCol="0" anchor="ctr"/>
          <a:lstStyle/>
          <a:p>
            <a:pPr marL="0" indent="0">
              <a:buNone/>
            </a:pPr>
            <a:r>
              <a:rPr lang="en-US" sz="1200" dirty="0">
                <a:solidFill>
                  <a:srgbClr val="5F6F62"/>
                </a:solidFill>
                <a:latin typeface="Calibri" pitchFamily="34" charset="0"/>
                <a:ea typeface="Calibri" pitchFamily="34" charset="-122"/>
                <a:cs typeface="Calibri" pitchFamily="34" charset="-120"/>
              </a:rPr>
              <a:t>Average family size</a:t>
            </a:r>
            <a:endParaRPr lang="en-US" sz="1200" dirty="0"/>
          </a:p>
        </p:txBody>
      </p:sp>
      <p:sp>
        <p:nvSpPr>
          <p:cNvPr id="13" name="Shape 11"/>
          <p:cNvSpPr/>
          <p:nvPr/>
        </p:nvSpPr>
        <p:spPr>
          <a:xfrm>
            <a:off x="548640" y="4992624"/>
            <a:ext cx="3200400" cy="1024128"/>
          </a:xfrm>
          <a:prstGeom prst="roundRect">
            <a:avLst>
              <a:gd name="adj" fmla="val 8036"/>
            </a:avLst>
          </a:prstGeom>
          <a:solidFill>
            <a:srgbClr val="163D24"/>
          </a:solidFill>
          <a:ln w="12700">
            <a:solidFill>
              <a:srgbClr val="163D24"/>
            </a:solidFill>
            <a:prstDash val="solid"/>
          </a:ln>
        </p:spPr>
      </p:sp>
      <p:sp>
        <p:nvSpPr>
          <p:cNvPr id="14" name="Text 12"/>
          <p:cNvSpPr/>
          <p:nvPr/>
        </p:nvSpPr>
        <p:spPr>
          <a:xfrm>
            <a:off x="804672" y="5120640"/>
            <a:ext cx="2688336" cy="384048"/>
          </a:xfrm>
          <a:prstGeom prst="rect">
            <a:avLst/>
          </a:prstGeom>
          <a:noFill/>
          <a:ln/>
        </p:spPr>
        <p:txBody>
          <a:bodyPr wrap="square" lIns="0" tIns="0" rIns="0" bIns="0" rtlCol="0" anchor="ctr"/>
          <a:lstStyle/>
          <a:p>
            <a:pPr marL="0" indent="0">
              <a:buNone/>
            </a:pPr>
            <a:r>
              <a:rPr lang="en-US" sz="1700" b="1" dirty="0">
                <a:solidFill>
                  <a:srgbClr val="97BC62"/>
                </a:solidFill>
                <a:latin typeface="Cambria" pitchFamily="34" charset="0"/>
                <a:ea typeface="Cambria" pitchFamily="34" charset="-122"/>
                <a:cs typeface="Cambria" pitchFamily="34" charset="-120"/>
              </a:rPr>
              <a:t>45.0% / 35.5% / 19.5%</a:t>
            </a:r>
            <a:endParaRPr lang="en-US" sz="1700" dirty="0"/>
          </a:p>
        </p:txBody>
      </p:sp>
      <p:sp>
        <p:nvSpPr>
          <p:cNvPr id="15" name="Text 13"/>
          <p:cNvSpPr/>
          <p:nvPr/>
        </p:nvSpPr>
        <p:spPr>
          <a:xfrm>
            <a:off x="804672" y="5522976"/>
            <a:ext cx="2688336" cy="274320"/>
          </a:xfrm>
          <a:prstGeom prst="rect">
            <a:avLst/>
          </a:prstGeom>
          <a:noFill/>
          <a:ln/>
        </p:spPr>
        <p:txBody>
          <a:bodyPr wrap="square" lIns="0" tIns="0" rIns="0" bIns="0" rtlCol="0" anchor="ctr"/>
          <a:lstStyle/>
          <a:p>
            <a:pPr marL="0" indent="0">
              <a:buNone/>
            </a:pPr>
            <a:r>
              <a:rPr lang="en-US" sz="1100" dirty="0">
                <a:solidFill>
                  <a:srgbClr val="A9C09F"/>
                </a:solidFill>
                <a:latin typeface="Calibri" pitchFamily="34" charset="0"/>
                <a:ea typeface="Calibri" pitchFamily="34" charset="-122"/>
                <a:cs typeface="Calibri" pitchFamily="34" charset="-120"/>
              </a:rPr>
              <a:t>Adults / Children / Seniors</a:t>
            </a:r>
            <a:endParaRPr lang="en-US" sz="1100" dirty="0"/>
          </a:p>
        </p:txBody>
      </p:sp>
      <p:graphicFrame>
        <p:nvGraphicFramePr>
          <p:cNvPr id="16" name="Chart 0"/>
          <p:cNvGraphicFramePr/>
          <p:nvPr/>
        </p:nvGraphicFramePr>
        <p:xfrm>
          <a:off x="4069080" y="1554480"/>
          <a:ext cx="7571232"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4069080" y="4572000"/>
            <a:ext cx="7571232" cy="1444752"/>
          </a:xfrm>
          <a:prstGeom prst="roundRect">
            <a:avLst>
              <a:gd name="adj" fmla="val 5696"/>
            </a:avLst>
          </a:prstGeom>
          <a:solidFill>
            <a:srgbClr val="F7F9F5"/>
          </a:solidFill>
          <a:ln w="12700">
            <a:solidFill>
              <a:srgbClr val="F7F9F5"/>
            </a:solidFill>
            <a:prstDash val="solid"/>
          </a:ln>
        </p:spPr>
      </p:sp>
      <p:sp>
        <p:nvSpPr>
          <p:cNvPr id="18" name="Text 15"/>
          <p:cNvSpPr/>
          <p:nvPr/>
        </p:nvSpPr>
        <p:spPr>
          <a:xfrm>
            <a:off x="4370832" y="4736592"/>
            <a:ext cx="6949440" cy="27432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Reading the split</a:t>
            </a:r>
            <a:endParaRPr lang="en-US" sz="1250" dirty="0"/>
          </a:p>
        </p:txBody>
      </p:sp>
      <p:sp>
        <p:nvSpPr>
          <p:cNvPr id="19" name="Text 16"/>
          <p:cNvSpPr/>
          <p:nvPr/>
        </p:nvSpPr>
        <p:spPr>
          <a:xfrm>
            <a:off x="4370832" y="5029200"/>
            <a:ext cx="6949440" cy="868680"/>
          </a:xfrm>
          <a:prstGeom prst="rect">
            <a:avLst/>
          </a:prstGeom>
          <a:noFill/>
          <a:ln/>
        </p:spPr>
        <p:txBody>
          <a:bodyPr wrap="square" lIns="0" tIns="0" rIns="0" bIns="0" rtlCol="0" anchor="ctr"/>
          <a:lstStyle/>
          <a:p>
            <a:pPr marL="0" indent="0">
              <a:lnSpc>
                <a:spcPts val="1800"/>
              </a:lnSpc>
              <a:buNone/>
            </a:pPr>
            <a:r>
              <a:rPr lang="en-US" sz="1200" dirty="0">
                <a:solidFill>
                  <a:srgbClr val="1A2E20"/>
                </a:solidFill>
                <a:latin typeface="Calibri" pitchFamily="34" charset="0"/>
                <a:ea typeface="Calibri" pitchFamily="34" charset="-122"/>
                <a:cs typeface="Calibri" pitchFamily="34" charset="-120"/>
              </a:rPr>
              <a:t>Demand is spread almost evenly across the three hubs — 35.2% / 32.6% / 32.2%. No single warehouse dominates, which means inventory visibility and route balance have to work equally well at all three sites rather than being tuned for a flagship location.</a:t>
            </a:r>
            <a:endParaRPr lang="en-US" sz="1200" dirty="0"/>
          </a:p>
        </p:txBody>
      </p:sp>
      <p:sp>
        <p:nvSpPr>
          <p:cNvPr id="20" name="Text 17"/>
          <p:cNvSpPr/>
          <p:nvPr/>
        </p:nvSpPr>
        <p:spPr>
          <a:xfrm>
            <a:off x="548640" y="6327648"/>
            <a:ext cx="11091672" cy="274320"/>
          </a:xfrm>
          <a:prstGeom prst="rect">
            <a:avLst/>
          </a:prstGeom>
          <a:noFill/>
          <a:ln/>
        </p:spPr>
        <p:txBody>
          <a:bodyPr wrap="square" lIns="0" tIns="0" rIns="0" bIns="0" rtlCol="0" anchor="ctr"/>
          <a:lstStyle/>
          <a:p>
            <a:pPr marL="0" indent="0" algn="l">
              <a:buNone/>
            </a:pPr>
            <a:r>
              <a:rPr lang="en-US" sz="950" dirty="0">
                <a:solidFill>
                  <a:srgbClr val="9AA79C"/>
                </a:solidFill>
                <a:latin typeface="Calibri" pitchFamily="34" charset="0"/>
                <a:ea typeface="Calibri" pitchFamily="34" charset="-122"/>
                <a:cs typeface="Calibri" pitchFamily="34" charset="-120"/>
              </a:rPr>
              <a:t>Source: Care Shield Food Bank operating data, used as a planning benchmark (Section 14).</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Benchmark: Donor Network</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14.2 — 500 active donor locations across the three hubs</a:t>
            </a:r>
            <a:endParaRPr lang="en-US" sz="1400" dirty="0"/>
          </a:p>
        </p:txBody>
      </p:sp>
      <p:graphicFrame>
        <p:nvGraphicFramePr>
          <p:cNvPr id="4" name="Chart 0"/>
          <p:cNvGraphicFramePr/>
          <p:nvPr>
            <p:extLst>
              <p:ext uri="{D42A27DB-BD31-4B8C-83A1-F6EECF244321}">
                <p14:modId xmlns:p14="http://schemas.microsoft.com/office/powerpoint/2010/main" val="1336973578"/>
              </p:ext>
            </p:extLst>
          </p:nvPr>
        </p:nvGraphicFramePr>
        <p:xfrm>
          <a:off x="457200" y="1463040"/>
          <a:ext cx="51206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852160" y="1572768"/>
            <a:ext cx="5788152" cy="1325880"/>
          </a:xfrm>
          <a:prstGeom prst="roundRect">
            <a:avLst>
              <a:gd name="adj" fmla="val 6207"/>
            </a:avLst>
          </a:prstGeom>
          <a:solidFill>
            <a:srgbClr val="EEF3EA"/>
          </a:solidFill>
          <a:ln w="12700">
            <a:solidFill>
              <a:srgbClr val="EEF3EA"/>
            </a:solidFill>
            <a:prstDash val="solid"/>
          </a:ln>
        </p:spPr>
      </p:sp>
      <p:sp>
        <p:nvSpPr>
          <p:cNvPr id="6" name="Text 3"/>
          <p:cNvSpPr/>
          <p:nvPr/>
        </p:nvSpPr>
        <p:spPr>
          <a:xfrm>
            <a:off x="6144768" y="1755648"/>
            <a:ext cx="1600200" cy="566928"/>
          </a:xfrm>
          <a:prstGeom prst="rect">
            <a:avLst/>
          </a:prstGeom>
          <a:noFill/>
          <a:ln/>
        </p:spPr>
        <p:txBody>
          <a:bodyPr wrap="square" lIns="0" tIns="0" rIns="0" bIns="0" rtlCol="0" anchor="ctr"/>
          <a:lstStyle/>
          <a:p>
            <a:pPr marL="0" indent="0">
              <a:buNone/>
            </a:pPr>
            <a:r>
              <a:rPr lang="en-US" sz="2800" b="1" dirty="0">
                <a:solidFill>
                  <a:srgbClr val="2C5F2D"/>
                </a:solidFill>
                <a:latin typeface="Cambria" pitchFamily="34" charset="0"/>
                <a:ea typeface="Cambria" pitchFamily="34" charset="-122"/>
                <a:cs typeface="Cambria" pitchFamily="34" charset="-120"/>
              </a:rPr>
              <a:t>500</a:t>
            </a:r>
            <a:endParaRPr lang="en-US" sz="2800" dirty="0"/>
          </a:p>
        </p:txBody>
      </p:sp>
      <p:sp>
        <p:nvSpPr>
          <p:cNvPr id="7" name="Text 4"/>
          <p:cNvSpPr/>
          <p:nvPr/>
        </p:nvSpPr>
        <p:spPr>
          <a:xfrm>
            <a:off x="7818120" y="1792224"/>
            <a:ext cx="3566160" cy="31089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Total active donor locations</a:t>
            </a:r>
            <a:endParaRPr lang="en-US" sz="1300" dirty="0"/>
          </a:p>
        </p:txBody>
      </p:sp>
      <p:sp>
        <p:nvSpPr>
          <p:cNvPr id="8" name="Text 5"/>
          <p:cNvSpPr/>
          <p:nvPr/>
        </p:nvSpPr>
        <p:spPr>
          <a:xfrm>
            <a:off x="7818120" y="2121408"/>
            <a:ext cx="3566160" cy="29260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100% of them currently active</a:t>
            </a:r>
            <a:endParaRPr lang="en-US" sz="1100" dirty="0"/>
          </a:p>
        </p:txBody>
      </p:sp>
      <p:sp>
        <p:nvSpPr>
          <p:cNvPr id="9" name="Shape 6"/>
          <p:cNvSpPr/>
          <p:nvPr/>
        </p:nvSpPr>
        <p:spPr>
          <a:xfrm>
            <a:off x="5852160" y="2990088"/>
            <a:ext cx="5788152" cy="1325880"/>
          </a:xfrm>
          <a:prstGeom prst="roundRect">
            <a:avLst>
              <a:gd name="adj" fmla="val 6207"/>
            </a:avLst>
          </a:prstGeom>
          <a:solidFill>
            <a:srgbClr val="F3F6F0"/>
          </a:solidFill>
          <a:ln w="12700">
            <a:solidFill>
              <a:srgbClr val="F3F6F0"/>
            </a:solidFill>
            <a:prstDash val="solid"/>
          </a:ln>
        </p:spPr>
      </p:sp>
      <p:sp>
        <p:nvSpPr>
          <p:cNvPr id="10" name="Text 7"/>
          <p:cNvSpPr/>
          <p:nvPr/>
        </p:nvSpPr>
        <p:spPr>
          <a:xfrm>
            <a:off x="6144768" y="3172968"/>
            <a:ext cx="1600200" cy="566928"/>
          </a:xfrm>
          <a:prstGeom prst="rect">
            <a:avLst/>
          </a:prstGeom>
          <a:noFill/>
          <a:ln/>
        </p:spPr>
        <p:txBody>
          <a:bodyPr wrap="square" lIns="0" tIns="0" rIns="0" bIns="0" rtlCol="0" anchor="ctr"/>
          <a:lstStyle/>
          <a:p>
            <a:pPr marL="0" indent="0">
              <a:buNone/>
            </a:pPr>
            <a:r>
              <a:rPr lang="en-US" sz="2800" b="1" dirty="0">
                <a:solidFill>
                  <a:srgbClr val="2C5F2D"/>
                </a:solidFill>
                <a:latin typeface="Cambria" pitchFamily="34" charset="0"/>
                <a:ea typeface="Cambria" pitchFamily="34" charset="-122"/>
                <a:cs typeface="Cambria" pitchFamily="34" charset="-120"/>
              </a:rPr>
              <a:t>10.6%</a:t>
            </a:r>
            <a:endParaRPr lang="en-US" sz="2800" dirty="0"/>
          </a:p>
        </p:txBody>
      </p:sp>
      <p:sp>
        <p:nvSpPr>
          <p:cNvPr id="11" name="Text 8"/>
          <p:cNvSpPr/>
          <p:nvPr/>
        </p:nvSpPr>
        <p:spPr>
          <a:xfrm>
            <a:off x="7818120" y="3209544"/>
            <a:ext cx="3566160" cy="31089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Largest single donor brand</a:t>
            </a:r>
            <a:endParaRPr lang="en-US" sz="1300" dirty="0"/>
          </a:p>
        </p:txBody>
      </p:sp>
      <p:sp>
        <p:nvSpPr>
          <p:cNvPr id="12" name="Text 9"/>
          <p:cNvSpPr/>
          <p:nvPr/>
        </p:nvSpPr>
        <p:spPr>
          <a:xfrm>
            <a:off x="7818120" y="3538728"/>
            <a:ext cx="3566160" cy="29260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Two chains at 53 locations each</a:t>
            </a:r>
            <a:endParaRPr lang="en-US" sz="1100" dirty="0"/>
          </a:p>
        </p:txBody>
      </p:sp>
      <p:sp>
        <p:nvSpPr>
          <p:cNvPr id="13" name="Shape 10"/>
          <p:cNvSpPr/>
          <p:nvPr/>
        </p:nvSpPr>
        <p:spPr>
          <a:xfrm>
            <a:off x="5852160" y="4407408"/>
            <a:ext cx="5788152" cy="1325880"/>
          </a:xfrm>
          <a:prstGeom prst="roundRect">
            <a:avLst>
              <a:gd name="adj" fmla="val 6207"/>
            </a:avLst>
          </a:prstGeom>
          <a:solidFill>
            <a:srgbClr val="EEF3EA"/>
          </a:solidFill>
          <a:ln w="12700">
            <a:solidFill>
              <a:srgbClr val="EEF3EA"/>
            </a:solidFill>
            <a:prstDash val="solid"/>
          </a:ln>
        </p:spPr>
      </p:sp>
      <p:sp>
        <p:nvSpPr>
          <p:cNvPr id="14" name="Text 11"/>
          <p:cNvSpPr/>
          <p:nvPr/>
        </p:nvSpPr>
        <p:spPr>
          <a:xfrm>
            <a:off x="6144768" y="4590288"/>
            <a:ext cx="1600200" cy="566928"/>
          </a:xfrm>
          <a:prstGeom prst="rect">
            <a:avLst/>
          </a:prstGeom>
          <a:noFill/>
          <a:ln/>
        </p:spPr>
        <p:txBody>
          <a:bodyPr wrap="square" lIns="0" tIns="0" rIns="0" bIns="0" rtlCol="0" anchor="ctr"/>
          <a:lstStyle/>
          <a:p>
            <a:pPr marL="0" indent="0">
              <a:buNone/>
            </a:pPr>
            <a:r>
              <a:rPr lang="en-US" sz="2800" b="1" dirty="0">
                <a:solidFill>
                  <a:srgbClr val="2C5F2D"/>
                </a:solidFill>
                <a:latin typeface="Cambria" pitchFamily="34" charset="0"/>
                <a:ea typeface="Cambria" pitchFamily="34" charset="-122"/>
                <a:cs typeface="Cambria" pitchFamily="34" charset="-120"/>
              </a:rPr>
              <a:t>40%+</a:t>
            </a:r>
            <a:endParaRPr lang="en-US" sz="2800" dirty="0"/>
          </a:p>
        </p:txBody>
      </p:sp>
      <p:sp>
        <p:nvSpPr>
          <p:cNvPr id="15" name="Text 12"/>
          <p:cNvSpPr/>
          <p:nvPr/>
        </p:nvSpPr>
        <p:spPr>
          <a:xfrm>
            <a:off x="7818120" y="4626864"/>
            <a:ext cx="3566160" cy="31089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Pickups on two days</a:t>
            </a:r>
            <a:endParaRPr lang="en-US" sz="1300" dirty="0"/>
          </a:p>
        </p:txBody>
      </p:sp>
      <p:sp>
        <p:nvSpPr>
          <p:cNvPr id="16" name="Text 13"/>
          <p:cNvSpPr/>
          <p:nvPr/>
        </p:nvSpPr>
        <p:spPr>
          <a:xfrm>
            <a:off x="7818120" y="4956048"/>
            <a:ext cx="3566160" cy="292608"/>
          </a:xfrm>
          <a:prstGeom prst="rect">
            <a:avLst/>
          </a:prstGeom>
          <a:noFill/>
          <a:ln/>
        </p:spPr>
        <p:txBody>
          <a:bodyPr wrap="square" lIns="0" tIns="0" rIns="0" bIns="0" rtlCol="0" anchor="ctr"/>
          <a:lstStyle/>
          <a:p>
            <a:pPr marL="0" indent="0">
              <a:buNone/>
            </a:pPr>
            <a:r>
              <a:rPr lang="en-US" sz="1100" dirty="0">
                <a:solidFill>
                  <a:srgbClr val="5F6F62"/>
                </a:solidFill>
                <a:latin typeface="Calibri" pitchFamily="34" charset="0"/>
                <a:ea typeface="Calibri" pitchFamily="34" charset="-122"/>
                <a:cs typeface="Calibri" pitchFamily="34" charset="-120"/>
              </a:rPr>
              <a:t>Wednesday and Friday are the busiest</a:t>
            </a:r>
            <a:endParaRPr lang="en-US" sz="1100" dirty="0"/>
          </a:p>
        </p:txBody>
      </p:sp>
      <p:sp>
        <p:nvSpPr>
          <p:cNvPr id="17" name="Text 14"/>
          <p:cNvSpPr/>
          <p:nvPr/>
        </p:nvSpPr>
        <p:spPr>
          <a:xfrm>
            <a:off x="5852160" y="5815584"/>
            <a:ext cx="5788152" cy="566928"/>
          </a:xfrm>
          <a:prstGeom prst="rect">
            <a:avLst/>
          </a:prstGeom>
          <a:noFill/>
          <a:ln/>
        </p:spPr>
        <p:txBody>
          <a:bodyPr wrap="square" lIns="0" tIns="0" rIns="0" bIns="0" rtlCol="0" anchor="ctr"/>
          <a:lstStyle/>
          <a:p>
            <a:pPr marL="0" indent="0">
              <a:lnSpc>
                <a:spcPts val="1700"/>
              </a:lnSpc>
              <a:buNone/>
            </a:pPr>
            <a:r>
              <a:rPr lang="en-US" sz="1150" i="1" dirty="0">
                <a:solidFill>
                  <a:srgbClr val="5F6F62"/>
                </a:solidFill>
                <a:latin typeface="Calibri" pitchFamily="34" charset="0"/>
                <a:ea typeface="Calibri" pitchFamily="34" charset="-122"/>
                <a:cs typeface="Calibri" pitchFamily="34" charset="-120"/>
              </a:rPr>
              <a:t>Concentrating over 40% of pickups on Wednesday and Friday puts real pressure on a two-truck fleet — a scheduling constraint the transportation module has to handle explicitly.</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Benchmark: Inventory &amp; Storage</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14.3 — 100 SKUs and 147,257 units on hand across four storage types</a:t>
            </a:r>
            <a:endParaRPr lang="en-US" sz="1400" dirty="0"/>
          </a:p>
        </p:txBody>
      </p:sp>
      <p:graphicFrame>
        <p:nvGraphicFramePr>
          <p:cNvPr id="4" name="Chart 0"/>
          <p:cNvGraphicFramePr/>
          <p:nvPr/>
        </p:nvGraphicFramePr>
        <p:xfrm>
          <a:off x="457200" y="1481328"/>
          <a:ext cx="69494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726680" y="1517904"/>
            <a:ext cx="3913632" cy="292608"/>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SKUs tracked</a:t>
            </a:r>
            <a:endParaRPr lang="en-US" sz="1600" dirty="0"/>
          </a:p>
        </p:txBody>
      </p:sp>
      <p:sp>
        <p:nvSpPr>
          <p:cNvPr id="6" name="Shape 3"/>
          <p:cNvSpPr/>
          <p:nvPr/>
        </p:nvSpPr>
        <p:spPr>
          <a:xfrm>
            <a:off x="7726680" y="1883664"/>
            <a:ext cx="3913632" cy="502920"/>
          </a:xfrm>
          <a:prstGeom prst="roundRect">
            <a:avLst>
              <a:gd name="adj" fmla="val 16364"/>
            </a:avLst>
          </a:prstGeom>
          <a:solidFill>
            <a:srgbClr val="EEF3EA"/>
          </a:solidFill>
          <a:ln w="12700">
            <a:solidFill>
              <a:srgbClr val="EEF3EA"/>
            </a:solidFill>
            <a:prstDash val="solid"/>
          </a:ln>
        </p:spPr>
      </p:sp>
      <p:sp>
        <p:nvSpPr>
          <p:cNvPr id="7" name="Text 4"/>
          <p:cNvSpPr/>
          <p:nvPr/>
        </p:nvSpPr>
        <p:spPr>
          <a:xfrm>
            <a:off x="8001000" y="1883664"/>
            <a:ext cx="2194560" cy="502920"/>
          </a:xfrm>
          <a:prstGeom prst="rect">
            <a:avLst/>
          </a:prstGeom>
          <a:noFill/>
          <a:ln/>
        </p:spPr>
        <p:txBody>
          <a:bodyPr wrap="square" lIns="0" tIns="0" rIns="0" bIns="0" rtlCol="0" anchor="ctr"/>
          <a:lstStyle/>
          <a:p>
            <a:pPr marL="0" indent="0">
              <a:buNone/>
            </a:pPr>
            <a:r>
              <a:rPr lang="en-US" sz="1250" dirty="0">
                <a:solidFill>
                  <a:srgbClr val="1A2E20"/>
                </a:solidFill>
                <a:latin typeface="Calibri" pitchFamily="34" charset="0"/>
                <a:ea typeface="Calibri" pitchFamily="34" charset="-122"/>
                <a:cs typeface="Calibri" pitchFamily="34" charset="-120"/>
              </a:rPr>
              <a:t>Dry</a:t>
            </a:r>
            <a:endParaRPr lang="en-US" sz="1250" dirty="0"/>
          </a:p>
        </p:txBody>
      </p:sp>
      <p:sp>
        <p:nvSpPr>
          <p:cNvPr id="8" name="Text 5"/>
          <p:cNvSpPr/>
          <p:nvPr/>
        </p:nvSpPr>
        <p:spPr>
          <a:xfrm>
            <a:off x="10058400" y="1883664"/>
            <a:ext cx="1325880" cy="502920"/>
          </a:xfrm>
          <a:prstGeom prst="rect">
            <a:avLst/>
          </a:prstGeom>
          <a:noFill/>
          <a:ln/>
        </p:spPr>
        <p:txBody>
          <a:bodyPr wrap="square" lIns="0" tIns="0" rIns="0" bIns="0" rtlCol="0" anchor="ctr"/>
          <a:lstStyle/>
          <a:p>
            <a:pPr marL="0" indent="0" algn="r">
              <a:buNone/>
            </a:pPr>
            <a:r>
              <a:rPr lang="en-US" sz="1800" b="1" dirty="0">
                <a:solidFill>
                  <a:srgbClr val="2C5F2D"/>
                </a:solidFill>
                <a:latin typeface="Cambria" pitchFamily="34" charset="0"/>
                <a:ea typeface="Cambria" pitchFamily="34" charset="-122"/>
                <a:cs typeface="Cambria" pitchFamily="34" charset="-120"/>
              </a:rPr>
              <a:t>59</a:t>
            </a:r>
            <a:endParaRPr lang="en-US" sz="1800" dirty="0"/>
          </a:p>
        </p:txBody>
      </p:sp>
      <p:sp>
        <p:nvSpPr>
          <p:cNvPr id="9" name="Shape 6"/>
          <p:cNvSpPr/>
          <p:nvPr/>
        </p:nvSpPr>
        <p:spPr>
          <a:xfrm>
            <a:off x="7726680" y="2459736"/>
            <a:ext cx="3913632" cy="502920"/>
          </a:xfrm>
          <a:prstGeom prst="roundRect">
            <a:avLst>
              <a:gd name="adj" fmla="val 16364"/>
            </a:avLst>
          </a:prstGeom>
          <a:solidFill>
            <a:srgbClr val="EEF3EA"/>
          </a:solidFill>
          <a:ln w="12700">
            <a:solidFill>
              <a:srgbClr val="EEF3EA"/>
            </a:solidFill>
            <a:prstDash val="solid"/>
          </a:ln>
        </p:spPr>
      </p:sp>
      <p:sp>
        <p:nvSpPr>
          <p:cNvPr id="10" name="Text 7"/>
          <p:cNvSpPr/>
          <p:nvPr/>
        </p:nvSpPr>
        <p:spPr>
          <a:xfrm>
            <a:off x="8001000" y="2459736"/>
            <a:ext cx="2194560" cy="502920"/>
          </a:xfrm>
          <a:prstGeom prst="rect">
            <a:avLst/>
          </a:prstGeom>
          <a:noFill/>
          <a:ln/>
        </p:spPr>
        <p:txBody>
          <a:bodyPr wrap="square" lIns="0" tIns="0" rIns="0" bIns="0" rtlCol="0" anchor="ctr"/>
          <a:lstStyle/>
          <a:p>
            <a:pPr marL="0" indent="0">
              <a:buNone/>
            </a:pPr>
            <a:r>
              <a:rPr lang="en-US" sz="1250" dirty="0">
                <a:solidFill>
                  <a:srgbClr val="1A2E20"/>
                </a:solidFill>
                <a:latin typeface="Calibri" pitchFamily="34" charset="0"/>
                <a:ea typeface="Calibri" pitchFamily="34" charset="-122"/>
                <a:cs typeface="Calibri" pitchFamily="34" charset="-120"/>
              </a:rPr>
              <a:t>Cold</a:t>
            </a:r>
            <a:endParaRPr lang="en-US" sz="1250" dirty="0"/>
          </a:p>
        </p:txBody>
      </p:sp>
      <p:sp>
        <p:nvSpPr>
          <p:cNvPr id="11" name="Text 8"/>
          <p:cNvSpPr/>
          <p:nvPr/>
        </p:nvSpPr>
        <p:spPr>
          <a:xfrm>
            <a:off x="10058400" y="2459736"/>
            <a:ext cx="1325880" cy="502920"/>
          </a:xfrm>
          <a:prstGeom prst="rect">
            <a:avLst/>
          </a:prstGeom>
          <a:noFill/>
          <a:ln/>
        </p:spPr>
        <p:txBody>
          <a:bodyPr wrap="square" lIns="0" tIns="0" rIns="0" bIns="0" rtlCol="0" anchor="ctr"/>
          <a:lstStyle/>
          <a:p>
            <a:pPr marL="0" indent="0" algn="r">
              <a:buNone/>
            </a:pPr>
            <a:r>
              <a:rPr lang="en-US" sz="1800" b="1" dirty="0">
                <a:solidFill>
                  <a:srgbClr val="2C5F2D"/>
                </a:solidFill>
                <a:latin typeface="Cambria" pitchFamily="34" charset="0"/>
                <a:ea typeface="Cambria" pitchFamily="34" charset="-122"/>
                <a:cs typeface="Cambria" pitchFamily="34" charset="-120"/>
              </a:rPr>
              <a:t>19</a:t>
            </a:r>
            <a:endParaRPr lang="en-US" sz="1800" dirty="0"/>
          </a:p>
        </p:txBody>
      </p:sp>
      <p:sp>
        <p:nvSpPr>
          <p:cNvPr id="12" name="Shape 9"/>
          <p:cNvSpPr/>
          <p:nvPr/>
        </p:nvSpPr>
        <p:spPr>
          <a:xfrm>
            <a:off x="7726680" y="3035808"/>
            <a:ext cx="3913632" cy="502920"/>
          </a:xfrm>
          <a:prstGeom prst="roundRect">
            <a:avLst>
              <a:gd name="adj" fmla="val 16364"/>
            </a:avLst>
          </a:prstGeom>
          <a:solidFill>
            <a:srgbClr val="EEF3EA"/>
          </a:solidFill>
          <a:ln w="12700">
            <a:solidFill>
              <a:srgbClr val="EEF3EA"/>
            </a:solidFill>
            <a:prstDash val="solid"/>
          </a:ln>
        </p:spPr>
      </p:sp>
      <p:sp>
        <p:nvSpPr>
          <p:cNvPr id="13" name="Text 10"/>
          <p:cNvSpPr/>
          <p:nvPr/>
        </p:nvSpPr>
        <p:spPr>
          <a:xfrm>
            <a:off x="8001000" y="3035808"/>
            <a:ext cx="2194560" cy="502920"/>
          </a:xfrm>
          <a:prstGeom prst="rect">
            <a:avLst/>
          </a:prstGeom>
          <a:noFill/>
          <a:ln/>
        </p:spPr>
        <p:txBody>
          <a:bodyPr wrap="square" lIns="0" tIns="0" rIns="0" bIns="0" rtlCol="0" anchor="ctr"/>
          <a:lstStyle/>
          <a:p>
            <a:pPr marL="0" indent="0">
              <a:buNone/>
            </a:pPr>
            <a:r>
              <a:rPr lang="en-US" sz="1250" dirty="0">
                <a:solidFill>
                  <a:srgbClr val="1A2E20"/>
                </a:solidFill>
                <a:latin typeface="Calibri" pitchFamily="34" charset="0"/>
                <a:ea typeface="Calibri" pitchFamily="34" charset="-122"/>
                <a:cs typeface="Calibri" pitchFamily="34" charset="-120"/>
              </a:rPr>
              <a:t>Controlled</a:t>
            </a:r>
            <a:endParaRPr lang="en-US" sz="1250" dirty="0"/>
          </a:p>
        </p:txBody>
      </p:sp>
      <p:sp>
        <p:nvSpPr>
          <p:cNvPr id="14" name="Text 11"/>
          <p:cNvSpPr/>
          <p:nvPr/>
        </p:nvSpPr>
        <p:spPr>
          <a:xfrm>
            <a:off x="10058400" y="3035808"/>
            <a:ext cx="1325880" cy="502920"/>
          </a:xfrm>
          <a:prstGeom prst="rect">
            <a:avLst/>
          </a:prstGeom>
          <a:noFill/>
          <a:ln/>
        </p:spPr>
        <p:txBody>
          <a:bodyPr wrap="square" lIns="0" tIns="0" rIns="0" bIns="0" rtlCol="0" anchor="ctr"/>
          <a:lstStyle/>
          <a:p>
            <a:pPr marL="0" indent="0" algn="r">
              <a:buNone/>
            </a:pPr>
            <a:r>
              <a:rPr lang="en-US" sz="1800" b="1" dirty="0">
                <a:solidFill>
                  <a:srgbClr val="2C5F2D"/>
                </a:solidFill>
                <a:latin typeface="Cambria" pitchFamily="34" charset="0"/>
                <a:ea typeface="Cambria" pitchFamily="34" charset="-122"/>
                <a:cs typeface="Cambria" pitchFamily="34" charset="-120"/>
              </a:rPr>
              <a:t>13</a:t>
            </a:r>
            <a:endParaRPr lang="en-US" sz="1800" dirty="0"/>
          </a:p>
        </p:txBody>
      </p:sp>
      <p:sp>
        <p:nvSpPr>
          <p:cNvPr id="15" name="Shape 12"/>
          <p:cNvSpPr/>
          <p:nvPr/>
        </p:nvSpPr>
        <p:spPr>
          <a:xfrm>
            <a:off x="7726680" y="3611880"/>
            <a:ext cx="3913632" cy="502920"/>
          </a:xfrm>
          <a:prstGeom prst="roundRect">
            <a:avLst>
              <a:gd name="adj" fmla="val 16364"/>
            </a:avLst>
          </a:prstGeom>
          <a:solidFill>
            <a:srgbClr val="EEF3EA"/>
          </a:solidFill>
          <a:ln w="12700">
            <a:solidFill>
              <a:srgbClr val="EEF3EA"/>
            </a:solidFill>
            <a:prstDash val="solid"/>
          </a:ln>
        </p:spPr>
      </p:sp>
      <p:sp>
        <p:nvSpPr>
          <p:cNvPr id="16" name="Text 13"/>
          <p:cNvSpPr/>
          <p:nvPr/>
        </p:nvSpPr>
        <p:spPr>
          <a:xfrm>
            <a:off x="8001000" y="3611880"/>
            <a:ext cx="2194560" cy="502920"/>
          </a:xfrm>
          <a:prstGeom prst="rect">
            <a:avLst/>
          </a:prstGeom>
          <a:noFill/>
          <a:ln/>
        </p:spPr>
        <p:txBody>
          <a:bodyPr wrap="square" lIns="0" tIns="0" rIns="0" bIns="0" rtlCol="0" anchor="ctr"/>
          <a:lstStyle/>
          <a:p>
            <a:pPr marL="0" indent="0">
              <a:buNone/>
            </a:pPr>
            <a:r>
              <a:rPr lang="en-US" sz="1250" dirty="0">
                <a:solidFill>
                  <a:srgbClr val="1A2E20"/>
                </a:solidFill>
                <a:latin typeface="Calibri" pitchFamily="34" charset="0"/>
                <a:ea typeface="Calibri" pitchFamily="34" charset="-122"/>
                <a:cs typeface="Calibri" pitchFamily="34" charset="-120"/>
              </a:rPr>
              <a:t>Frozen</a:t>
            </a:r>
            <a:endParaRPr lang="en-US" sz="1250" dirty="0"/>
          </a:p>
        </p:txBody>
      </p:sp>
      <p:sp>
        <p:nvSpPr>
          <p:cNvPr id="17" name="Text 14"/>
          <p:cNvSpPr/>
          <p:nvPr/>
        </p:nvSpPr>
        <p:spPr>
          <a:xfrm>
            <a:off x="10058400" y="3611880"/>
            <a:ext cx="1325880" cy="502920"/>
          </a:xfrm>
          <a:prstGeom prst="rect">
            <a:avLst/>
          </a:prstGeom>
          <a:noFill/>
          <a:ln/>
        </p:spPr>
        <p:txBody>
          <a:bodyPr wrap="square" lIns="0" tIns="0" rIns="0" bIns="0" rtlCol="0" anchor="ctr"/>
          <a:lstStyle/>
          <a:p>
            <a:pPr marL="0" indent="0" algn="r">
              <a:buNone/>
            </a:pPr>
            <a:r>
              <a:rPr lang="en-US" sz="1800" b="1" dirty="0">
                <a:solidFill>
                  <a:srgbClr val="2C5F2D"/>
                </a:solidFill>
                <a:latin typeface="Cambria" pitchFamily="34" charset="0"/>
                <a:ea typeface="Cambria" pitchFamily="34" charset="-122"/>
                <a:cs typeface="Cambria" pitchFamily="34" charset="-120"/>
              </a:rPr>
              <a:t>9</a:t>
            </a:r>
            <a:endParaRPr lang="en-US" sz="1800" dirty="0"/>
          </a:p>
        </p:txBody>
      </p:sp>
      <p:sp>
        <p:nvSpPr>
          <p:cNvPr id="18" name="Shape 15"/>
          <p:cNvSpPr/>
          <p:nvPr/>
        </p:nvSpPr>
        <p:spPr>
          <a:xfrm>
            <a:off x="7726680" y="4187952"/>
            <a:ext cx="3913632" cy="502920"/>
          </a:xfrm>
          <a:prstGeom prst="roundRect">
            <a:avLst>
              <a:gd name="adj" fmla="val 16364"/>
            </a:avLst>
          </a:prstGeom>
          <a:solidFill>
            <a:srgbClr val="163D24"/>
          </a:solidFill>
          <a:ln w="12700">
            <a:solidFill>
              <a:srgbClr val="163D24"/>
            </a:solidFill>
            <a:prstDash val="solid"/>
          </a:ln>
        </p:spPr>
      </p:sp>
      <p:sp>
        <p:nvSpPr>
          <p:cNvPr id="19" name="Text 16"/>
          <p:cNvSpPr/>
          <p:nvPr/>
        </p:nvSpPr>
        <p:spPr>
          <a:xfrm>
            <a:off x="8001000" y="4187952"/>
            <a:ext cx="219456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Total</a:t>
            </a:r>
            <a:endParaRPr lang="en-US" sz="1250" dirty="0"/>
          </a:p>
        </p:txBody>
      </p:sp>
      <p:sp>
        <p:nvSpPr>
          <p:cNvPr id="20" name="Text 17"/>
          <p:cNvSpPr/>
          <p:nvPr/>
        </p:nvSpPr>
        <p:spPr>
          <a:xfrm>
            <a:off x="10058400" y="4187952"/>
            <a:ext cx="1325880" cy="502920"/>
          </a:xfrm>
          <a:prstGeom prst="rect">
            <a:avLst/>
          </a:prstGeom>
          <a:noFill/>
          <a:ln/>
        </p:spPr>
        <p:txBody>
          <a:bodyPr wrap="square" lIns="0" tIns="0" rIns="0" bIns="0" rtlCol="0" anchor="ctr"/>
          <a:lstStyle/>
          <a:p>
            <a:pPr marL="0" indent="0" algn="r">
              <a:buNone/>
            </a:pPr>
            <a:r>
              <a:rPr lang="en-US" sz="1800" b="1" dirty="0">
                <a:solidFill>
                  <a:srgbClr val="97BC62"/>
                </a:solidFill>
                <a:latin typeface="Cambria" pitchFamily="34" charset="0"/>
                <a:ea typeface="Cambria" pitchFamily="34" charset="-122"/>
                <a:cs typeface="Cambria" pitchFamily="34" charset="-120"/>
              </a:rPr>
              <a:t>100</a:t>
            </a:r>
            <a:endParaRPr lang="en-US" sz="1800" dirty="0"/>
          </a:p>
        </p:txBody>
      </p:sp>
      <p:sp>
        <p:nvSpPr>
          <p:cNvPr id="21" name="Shape 18"/>
          <p:cNvSpPr/>
          <p:nvPr/>
        </p:nvSpPr>
        <p:spPr>
          <a:xfrm>
            <a:off x="457200" y="4974336"/>
            <a:ext cx="11183112" cy="1078992"/>
          </a:xfrm>
          <a:prstGeom prst="roundRect">
            <a:avLst>
              <a:gd name="adj" fmla="val 7627"/>
            </a:avLst>
          </a:prstGeom>
          <a:solidFill>
            <a:srgbClr val="F7F9F5"/>
          </a:solidFill>
          <a:ln w="12700">
            <a:solidFill>
              <a:srgbClr val="F7F9F5"/>
            </a:solidFill>
            <a:prstDash val="solid"/>
          </a:ln>
        </p:spPr>
      </p:sp>
      <p:sp>
        <p:nvSpPr>
          <p:cNvPr id="22" name="Shape 19"/>
          <p:cNvSpPr/>
          <p:nvPr/>
        </p:nvSpPr>
        <p:spPr>
          <a:xfrm>
            <a:off x="777240" y="5294376"/>
            <a:ext cx="438912" cy="438912"/>
          </a:xfrm>
          <a:prstGeom prst="ellipse">
            <a:avLst/>
          </a:prstGeom>
          <a:solidFill>
            <a:srgbClr val="D97A26"/>
          </a:solidFill>
          <a:ln w="12700">
            <a:solidFill>
              <a:srgbClr val="D97A26"/>
            </a:solidFill>
            <a:prstDash val="solid"/>
          </a:ln>
        </p:spPr>
      </p:sp>
      <p:sp>
        <p:nvSpPr>
          <p:cNvPr id="23" name="Text 20"/>
          <p:cNvSpPr/>
          <p:nvPr/>
        </p:nvSpPr>
        <p:spPr>
          <a:xfrm>
            <a:off x="777240" y="5294376"/>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4" name="Text 21"/>
          <p:cNvSpPr/>
          <p:nvPr/>
        </p:nvSpPr>
        <p:spPr>
          <a:xfrm>
            <a:off x="1417320" y="5102352"/>
            <a:ext cx="9966960" cy="822960"/>
          </a:xfrm>
          <a:prstGeom prst="rect">
            <a:avLst/>
          </a:prstGeom>
          <a:noFill/>
          <a:ln/>
        </p:spPr>
        <p:txBody>
          <a:bodyPr wrap="square" lIns="0" tIns="0" rIns="0" bIns="0" rtlCol="0" anchor="ctr"/>
          <a:lstStyle/>
          <a:p>
            <a:pPr marL="0" indent="0">
              <a:lnSpc>
                <a:spcPts val="1900"/>
              </a:lnSpc>
              <a:buNone/>
            </a:pPr>
            <a:r>
              <a:rPr lang="en-US" sz="1250" dirty="0">
                <a:solidFill>
                  <a:srgbClr val="1A2E20"/>
                </a:solidFill>
                <a:latin typeface="Calibri" pitchFamily="34" charset="0"/>
                <a:ea typeface="Calibri" pitchFamily="34" charset="-122"/>
                <a:cs typeface="Calibri" pitchFamily="34" charset="-120"/>
              </a:rPr>
              <a:t>Six of Care Shield's 100 tracked SKUs were running below reorder level when this data was captured — a reminder that reorder-alert logic, already planned as part of FoodShare's inventory module, earns its keep even at moderate scale.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Benchmark: Staffing, Transport &amp; Collection</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Sections 14.4 and 14.5 — the people and movement behind the numbers</a:t>
            </a:r>
            <a:endParaRPr lang="en-US" sz="1400" dirty="0"/>
          </a:p>
        </p:txBody>
      </p:sp>
      <p:sp>
        <p:nvSpPr>
          <p:cNvPr id="4" name="Shape 2"/>
          <p:cNvSpPr/>
          <p:nvPr/>
        </p:nvSpPr>
        <p:spPr>
          <a:xfrm>
            <a:off x="548640" y="1481328"/>
            <a:ext cx="2615184" cy="1737360"/>
          </a:xfrm>
          <a:prstGeom prst="roundRect">
            <a:avLst>
              <a:gd name="adj" fmla="val 4737"/>
            </a:avLst>
          </a:prstGeom>
          <a:solidFill>
            <a:srgbClr val="EEF3EA"/>
          </a:solidFill>
          <a:ln w="12700">
            <a:solidFill>
              <a:srgbClr val="EEF3EA"/>
            </a:solidFill>
            <a:prstDash val="solid"/>
          </a:ln>
        </p:spPr>
      </p:sp>
      <p:sp>
        <p:nvSpPr>
          <p:cNvPr id="5" name="Text 3"/>
          <p:cNvSpPr/>
          <p:nvPr/>
        </p:nvSpPr>
        <p:spPr>
          <a:xfrm>
            <a:off x="548640" y="1627632"/>
            <a:ext cx="2615184" cy="731520"/>
          </a:xfrm>
          <a:prstGeom prst="rect">
            <a:avLst/>
          </a:prstGeom>
          <a:noFill/>
          <a:ln/>
        </p:spPr>
        <p:txBody>
          <a:bodyPr wrap="square" lIns="0" tIns="0" rIns="0" bIns="0" rtlCol="0" anchor="ctr"/>
          <a:lstStyle/>
          <a:p>
            <a:pPr marL="0" indent="0" algn="ctr">
              <a:buNone/>
            </a:pPr>
            <a:r>
              <a:rPr lang="en-US" sz="4000" b="1" dirty="0">
                <a:solidFill>
                  <a:srgbClr val="2C5F2D"/>
                </a:solidFill>
                <a:latin typeface="Cambria" pitchFamily="34" charset="0"/>
                <a:ea typeface="Cambria" pitchFamily="34" charset="-122"/>
                <a:cs typeface="Cambria" pitchFamily="34" charset="-120"/>
              </a:rPr>
              <a:t>7</a:t>
            </a:r>
            <a:endParaRPr lang="en-US" sz="4000" dirty="0"/>
          </a:p>
        </p:txBody>
      </p:sp>
      <p:sp>
        <p:nvSpPr>
          <p:cNvPr id="6" name="Text 4"/>
          <p:cNvSpPr/>
          <p:nvPr/>
        </p:nvSpPr>
        <p:spPr>
          <a:xfrm>
            <a:off x="713232" y="2395728"/>
            <a:ext cx="2286000" cy="566928"/>
          </a:xfrm>
          <a:prstGeom prst="rect">
            <a:avLst/>
          </a:prstGeom>
          <a:noFill/>
          <a:ln/>
        </p:spPr>
        <p:txBody>
          <a:bodyPr wrap="square" lIns="0" tIns="0" rIns="0" bIns="0" rtlCol="0" anchor="ctr"/>
          <a:lstStyle/>
          <a:p>
            <a:pPr marL="0" indent="0" algn="ctr">
              <a:buNone/>
            </a:pPr>
            <a:r>
              <a:rPr lang="en-US" sz="1200" dirty="0">
                <a:solidFill>
                  <a:srgbClr val="5F6F62"/>
                </a:solidFill>
                <a:latin typeface="Calibri" pitchFamily="34" charset="0"/>
                <a:ea typeface="Calibri" pitchFamily="34" charset="-122"/>
                <a:cs typeface="Calibri" pitchFamily="34" charset="-120"/>
              </a:rPr>
              <a:t>Full-time staff</a:t>
            </a:r>
            <a:endParaRPr lang="en-US" sz="1200" dirty="0"/>
          </a:p>
        </p:txBody>
      </p:sp>
      <p:sp>
        <p:nvSpPr>
          <p:cNvPr id="7" name="Shape 5"/>
          <p:cNvSpPr/>
          <p:nvPr/>
        </p:nvSpPr>
        <p:spPr>
          <a:xfrm>
            <a:off x="3401568" y="1481328"/>
            <a:ext cx="2615184" cy="1737360"/>
          </a:xfrm>
          <a:prstGeom prst="roundRect">
            <a:avLst>
              <a:gd name="adj" fmla="val 4737"/>
            </a:avLst>
          </a:prstGeom>
          <a:solidFill>
            <a:srgbClr val="EEF3EA"/>
          </a:solidFill>
          <a:ln w="12700">
            <a:solidFill>
              <a:srgbClr val="EEF3EA"/>
            </a:solidFill>
            <a:prstDash val="solid"/>
          </a:ln>
        </p:spPr>
      </p:sp>
      <p:sp>
        <p:nvSpPr>
          <p:cNvPr id="8" name="Text 6"/>
          <p:cNvSpPr/>
          <p:nvPr/>
        </p:nvSpPr>
        <p:spPr>
          <a:xfrm>
            <a:off x="3401568" y="1627632"/>
            <a:ext cx="2615184" cy="731520"/>
          </a:xfrm>
          <a:prstGeom prst="rect">
            <a:avLst/>
          </a:prstGeom>
          <a:noFill/>
          <a:ln/>
        </p:spPr>
        <p:txBody>
          <a:bodyPr wrap="square" lIns="0" tIns="0" rIns="0" bIns="0" rtlCol="0" anchor="ctr"/>
          <a:lstStyle/>
          <a:p>
            <a:pPr marL="0" indent="0" algn="ctr">
              <a:buNone/>
            </a:pPr>
            <a:r>
              <a:rPr lang="en-US" sz="4000" b="1" dirty="0">
                <a:solidFill>
                  <a:srgbClr val="2C5F2D"/>
                </a:solidFill>
                <a:latin typeface="Cambria" pitchFamily="34" charset="0"/>
                <a:ea typeface="Cambria" pitchFamily="34" charset="-122"/>
                <a:cs typeface="Cambria" pitchFamily="34" charset="-120"/>
              </a:rPr>
              <a:t>25–50</a:t>
            </a:r>
            <a:endParaRPr lang="en-US" sz="4000" dirty="0"/>
          </a:p>
        </p:txBody>
      </p:sp>
      <p:sp>
        <p:nvSpPr>
          <p:cNvPr id="9" name="Text 7"/>
          <p:cNvSpPr/>
          <p:nvPr/>
        </p:nvSpPr>
        <p:spPr>
          <a:xfrm>
            <a:off x="3566160" y="2395728"/>
            <a:ext cx="2286000" cy="566928"/>
          </a:xfrm>
          <a:prstGeom prst="rect">
            <a:avLst/>
          </a:prstGeom>
          <a:noFill/>
          <a:ln/>
        </p:spPr>
        <p:txBody>
          <a:bodyPr wrap="square" lIns="0" tIns="0" rIns="0" bIns="0" rtlCol="0" anchor="ctr"/>
          <a:lstStyle/>
          <a:p>
            <a:pPr marL="0" indent="0" algn="ctr">
              <a:buNone/>
            </a:pPr>
            <a:r>
              <a:rPr lang="en-US" sz="1200" dirty="0">
                <a:solidFill>
                  <a:srgbClr val="5F6F62"/>
                </a:solidFill>
                <a:latin typeface="Calibri" pitchFamily="34" charset="0"/>
                <a:ea typeface="Calibri" pitchFamily="34" charset="-122"/>
                <a:cs typeface="Calibri" pitchFamily="34" charset="-120"/>
              </a:rPr>
              <a:t>Active volunteers</a:t>
            </a:r>
            <a:endParaRPr lang="en-US" sz="1200" dirty="0"/>
          </a:p>
        </p:txBody>
      </p:sp>
      <p:sp>
        <p:nvSpPr>
          <p:cNvPr id="10" name="Shape 8"/>
          <p:cNvSpPr/>
          <p:nvPr/>
        </p:nvSpPr>
        <p:spPr>
          <a:xfrm>
            <a:off x="6254496" y="1481328"/>
            <a:ext cx="2615184" cy="1737360"/>
          </a:xfrm>
          <a:prstGeom prst="roundRect">
            <a:avLst>
              <a:gd name="adj" fmla="val 4737"/>
            </a:avLst>
          </a:prstGeom>
          <a:solidFill>
            <a:srgbClr val="EEF3EA"/>
          </a:solidFill>
          <a:ln w="12700">
            <a:solidFill>
              <a:srgbClr val="EEF3EA"/>
            </a:solidFill>
            <a:prstDash val="solid"/>
          </a:ln>
        </p:spPr>
      </p:sp>
      <p:sp>
        <p:nvSpPr>
          <p:cNvPr id="11" name="Text 9"/>
          <p:cNvSpPr/>
          <p:nvPr/>
        </p:nvSpPr>
        <p:spPr>
          <a:xfrm>
            <a:off x="6254496" y="1627632"/>
            <a:ext cx="2615184" cy="731520"/>
          </a:xfrm>
          <a:prstGeom prst="rect">
            <a:avLst/>
          </a:prstGeom>
          <a:noFill/>
          <a:ln/>
        </p:spPr>
        <p:txBody>
          <a:bodyPr wrap="square" lIns="0" tIns="0" rIns="0" bIns="0" rtlCol="0" anchor="ctr"/>
          <a:lstStyle/>
          <a:p>
            <a:pPr marL="0" indent="0" algn="ctr">
              <a:buNone/>
            </a:pPr>
            <a:r>
              <a:rPr lang="en-US" sz="4000" b="1" dirty="0">
                <a:solidFill>
                  <a:srgbClr val="D97A26"/>
                </a:solidFill>
                <a:latin typeface="Cambria" pitchFamily="34" charset="0"/>
                <a:ea typeface="Cambria" pitchFamily="34" charset="-122"/>
                <a:cs typeface="Cambria" pitchFamily="34" charset="-120"/>
              </a:rPr>
              <a:t>2</a:t>
            </a:r>
            <a:endParaRPr lang="en-US" sz="4000" dirty="0"/>
          </a:p>
        </p:txBody>
      </p:sp>
      <p:sp>
        <p:nvSpPr>
          <p:cNvPr id="12" name="Text 10"/>
          <p:cNvSpPr/>
          <p:nvPr/>
        </p:nvSpPr>
        <p:spPr>
          <a:xfrm>
            <a:off x="6419088" y="2395728"/>
            <a:ext cx="2286000" cy="566928"/>
          </a:xfrm>
          <a:prstGeom prst="rect">
            <a:avLst/>
          </a:prstGeom>
          <a:noFill/>
          <a:ln/>
        </p:spPr>
        <p:txBody>
          <a:bodyPr wrap="square" lIns="0" tIns="0" rIns="0" bIns="0" rtlCol="0" anchor="ctr"/>
          <a:lstStyle/>
          <a:p>
            <a:pPr marL="0" indent="0" algn="ctr">
              <a:buNone/>
            </a:pPr>
            <a:r>
              <a:rPr lang="en-US" sz="1200" dirty="0">
                <a:solidFill>
                  <a:srgbClr val="5F6F62"/>
                </a:solidFill>
                <a:latin typeface="Calibri" pitchFamily="34" charset="0"/>
                <a:ea typeface="Calibri" pitchFamily="34" charset="-122"/>
                <a:cs typeface="Calibri" pitchFamily="34" charset="-120"/>
              </a:rPr>
              <a:t>Active delivery trucks</a:t>
            </a:r>
            <a:endParaRPr lang="en-US" sz="1200" dirty="0"/>
          </a:p>
        </p:txBody>
      </p:sp>
      <p:sp>
        <p:nvSpPr>
          <p:cNvPr id="13" name="Shape 11"/>
          <p:cNvSpPr/>
          <p:nvPr/>
        </p:nvSpPr>
        <p:spPr>
          <a:xfrm>
            <a:off x="9107424" y="1481328"/>
            <a:ext cx="2615184" cy="1737360"/>
          </a:xfrm>
          <a:prstGeom prst="roundRect">
            <a:avLst>
              <a:gd name="adj" fmla="val 4737"/>
            </a:avLst>
          </a:prstGeom>
          <a:solidFill>
            <a:srgbClr val="EEF3EA"/>
          </a:solidFill>
          <a:ln w="12700">
            <a:solidFill>
              <a:srgbClr val="EEF3EA"/>
            </a:solidFill>
            <a:prstDash val="solid"/>
          </a:ln>
        </p:spPr>
      </p:sp>
      <p:sp>
        <p:nvSpPr>
          <p:cNvPr id="14" name="Text 12"/>
          <p:cNvSpPr/>
          <p:nvPr/>
        </p:nvSpPr>
        <p:spPr>
          <a:xfrm>
            <a:off x="9107424" y="1627632"/>
            <a:ext cx="2615184" cy="731520"/>
          </a:xfrm>
          <a:prstGeom prst="rect">
            <a:avLst/>
          </a:prstGeom>
          <a:noFill/>
          <a:ln/>
        </p:spPr>
        <p:txBody>
          <a:bodyPr wrap="square" lIns="0" tIns="0" rIns="0" bIns="0" rtlCol="0" anchor="ctr"/>
          <a:lstStyle/>
          <a:p>
            <a:pPr marL="0" indent="0" algn="ctr">
              <a:buNone/>
            </a:pPr>
            <a:r>
              <a:rPr lang="en-US" sz="4000" b="1" dirty="0">
                <a:solidFill>
                  <a:srgbClr val="D97A26"/>
                </a:solidFill>
                <a:latin typeface="Cambria" pitchFamily="34" charset="0"/>
                <a:ea typeface="Cambria" pitchFamily="34" charset="-122"/>
                <a:cs typeface="Cambria" pitchFamily="34" charset="-120"/>
              </a:rPr>
              <a:t>45.0</a:t>
            </a:r>
            <a:endParaRPr lang="en-US" sz="4000" dirty="0"/>
          </a:p>
        </p:txBody>
      </p:sp>
      <p:sp>
        <p:nvSpPr>
          <p:cNvPr id="15" name="Text 13"/>
          <p:cNvSpPr/>
          <p:nvPr/>
        </p:nvSpPr>
        <p:spPr>
          <a:xfrm>
            <a:off x="9272016" y="2395728"/>
            <a:ext cx="2286000" cy="566928"/>
          </a:xfrm>
          <a:prstGeom prst="rect">
            <a:avLst/>
          </a:prstGeom>
          <a:noFill/>
          <a:ln/>
        </p:spPr>
        <p:txBody>
          <a:bodyPr wrap="square" lIns="0" tIns="0" rIns="0" bIns="0" rtlCol="0" anchor="ctr"/>
          <a:lstStyle/>
          <a:p>
            <a:pPr marL="0" indent="0" algn="ctr">
              <a:buNone/>
            </a:pPr>
            <a:r>
              <a:rPr lang="en-US" sz="1200" dirty="0">
                <a:solidFill>
                  <a:srgbClr val="5F6F62"/>
                </a:solidFill>
                <a:latin typeface="Calibri" pitchFamily="34" charset="0"/>
                <a:ea typeface="Calibri" pitchFamily="34" charset="-122"/>
                <a:cs typeface="Calibri" pitchFamily="34" charset="-120"/>
              </a:rPr>
              <a:t>Avg crates collected / day</a:t>
            </a:r>
            <a:endParaRPr lang="en-US" sz="1200" dirty="0"/>
          </a:p>
        </p:txBody>
      </p:sp>
      <p:sp>
        <p:nvSpPr>
          <p:cNvPr id="16" name="Shape 14"/>
          <p:cNvSpPr/>
          <p:nvPr/>
        </p:nvSpPr>
        <p:spPr>
          <a:xfrm>
            <a:off x="548640" y="3401568"/>
            <a:ext cx="5486400" cy="2606040"/>
          </a:xfrm>
          <a:prstGeom prst="roundRect">
            <a:avLst>
              <a:gd name="adj" fmla="val 3158"/>
            </a:avLst>
          </a:prstGeom>
          <a:solidFill>
            <a:srgbClr val="163D24"/>
          </a:solidFill>
          <a:ln w="12700">
            <a:solidFill>
              <a:srgbClr val="163D24"/>
            </a:solidFill>
            <a:prstDash val="solid"/>
          </a:ln>
        </p:spPr>
      </p:sp>
      <p:sp>
        <p:nvSpPr>
          <p:cNvPr id="17" name="Text 15"/>
          <p:cNvSpPr/>
          <p:nvPr/>
        </p:nvSpPr>
        <p:spPr>
          <a:xfrm>
            <a:off x="868680" y="3611880"/>
            <a:ext cx="4846320" cy="310896"/>
          </a:xfrm>
          <a:prstGeom prst="rect">
            <a:avLst/>
          </a:prstGeom>
          <a:noFill/>
          <a:ln/>
        </p:spPr>
        <p:txBody>
          <a:bodyPr wrap="square" lIns="0" tIns="0" rIns="0" bIns="0" rtlCol="0" anchor="ctr"/>
          <a:lstStyle/>
          <a:p>
            <a:pPr marL="0" indent="0">
              <a:buNone/>
            </a:pPr>
            <a:r>
              <a:rPr lang="en-US" sz="1800" b="1" dirty="0">
                <a:solidFill>
                  <a:srgbClr val="97BC62"/>
                </a:solidFill>
                <a:latin typeface="Cambria" pitchFamily="34" charset="0"/>
                <a:ea typeface="Cambria" pitchFamily="34" charset="-122"/>
                <a:cs typeface="Cambria" pitchFamily="34" charset="-120"/>
              </a:rPr>
              <a:t>Operating pattern</a:t>
            </a:r>
            <a:endParaRPr lang="en-US" sz="1800" dirty="0"/>
          </a:p>
        </p:txBody>
      </p:sp>
      <p:sp>
        <p:nvSpPr>
          <p:cNvPr id="18" name="Text 16"/>
          <p:cNvSpPr/>
          <p:nvPr/>
        </p:nvSpPr>
        <p:spPr>
          <a:xfrm>
            <a:off x="868680" y="4041648"/>
            <a:ext cx="3200400" cy="329184"/>
          </a:xfrm>
          <a:prstGeom prst="rect">
            <a:avLst/>
          </a:prstGeom>
          <a:noFill/>
          <a:ln/>
        </p:spPr>
        <p:txBody>
          <a:bodyPr wrap="square" lIns="0" tIns="0" rIns="0" bIns="0" rtlCol="0" anchor="ctr"/>
          <a:lstStyle/>
          <a:p>
            <a:pPr marL="0" indent="0">
              <a:buNone/>
            </a:pPr>
            <a:r>
              <a:rPr lang="en-US" sz="1200" dirty="0">
                <a:solidFill>
                  <a:srgbClr val="A9C09F"/>
                </a:solidFill>
                <a:latin typeface="Calibri" pitchFamily="34" charset="0"/>
                <a:ea typeface="Calibri" pitchFamily="34" charset="-122"/>
                <a:cs typeface="Calibri" pitchFamily="34" charset="-120"/>
              </a:rPr>
              <a:t>Operating days</a:t>
            </a:r>
            <a:endParaRPr lang="en-US" sz="1200" dirty="0"/>
          </a:p>
        </p:txBody>
      </p:sp>
      <p:sp>
        <p:nvSpPr>
          <p:cNvPr id="19" name="Text 17"/>
          <p:cNvSpPr/>
          <p:nvPr/>
        </p:nvSpPr>
        <p:spPr>
          <a:xfrm>
            <a:off x="4114800" y="4041648"/>
            <a:ext cx="1600200" cy="329184"/>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Monday – Saturday</a:t>
            </a:r>
            <a:endParaRPr lang="en-US" sz="1300" dirty="0"/>
          </a:p>
        </p:txBody>
      </p:sp>
      <p:sp>
        <p:nvSpPr>
          <p:cNvPr id="20" name="Text 18"/>
          <p:cNvSpPr/>
          <p:nvPr/>
        </p:nvSpPr>
        <p:spPr>
          <a:xfrm>
            <a:off x="868680" y="4517136"/>
            <a:ext cx="3200400" cy="329184"/>
          </a:xfrm>
          <a:prstGeom prst="rect">
            <a:avLst/>
          </a:prstGeom>
          <a:noFill/>
          <a:ln/>
        </p:spPr>
        <p:txBody>
          <a:bodyPr wrap="square" lIns="0" tIns="0" rIns="0" bIns="0" rtlCol="0" anchor="ctr"/>
          <a:lstStyle/>
          <a:p>
            <a:pPr marL="0" indent="0">
              <a:buNone/>
            </a:pPr>
            <a:r>
              <a:rPr lang="en-US" sz="1200" dirty="0">
                <a:solidFill>
                  <a:srgbClr val="A9C09F"/>
                </a:solidFill>
                <a:latin typeface="Calibri" pitchFamily="34" charset="0"/>
                <a:ea typeface="Calibri" pitchFamily="34" charset="-122"/>
                <a:cs typeface="Calibri" pitchFamily="34" charset="-120"/>
              </a:rPr>
              <a:t>Operating hours</a:t>
            </a:r>
            <a:endParaRPr lang="en-US" sz="1200" dirty="0"/>
          </a:p>
        </p:txBody>
      </p:sp>
      <p:sp>
        <p:nvSpPr>
          <p:cNvPr id="21" name="Text 19"/>
          <p:cNvSpPr/>
          <p:nvPr/>
        </p:nvSpPr>
        <p:spPr>
          <a:xfrm>
            <a:off x="4114800" y="4517136"/>
            <a:ext cx="1600200" cy="329184"/>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08:00 – 16:00</a:t>
            </a:r>
            <a:endParaRPr lang="en-US" sz="1300" dirty="0"/>
          </a:p>
        </p:txBody>
      </p:sp>
      <p:sp>
        <p:nvSpPr>
          <p:cNvPr id="22" name="Text 20"/>
          <p:cNvSpPr/>
          <p:nvPr/>
        </p:nvSpPr>
        <p:spPr>
          <a:xfrm>
            <a:off x="868680" y="4992624"/>
            <a:ext cx="3200400" cy="329184"/>
          </a:xfrm>
          <a:prstGeom prst="rect">
            <a:avLst/>
          </a:prstGeom>
          <a:noFill/>
          <a:ln/>
        </p:spPr>
        <p:txBody>
          <a:bodyPr wrap="square" lIns="0" tIns="0" rIns="0" bIns="0" rtlCol="0" anchor="ctr"/>
          <a:lstStyle/>
          <a:p>
            <a:pPr marL="0" indent="0">
              <a:buNone/>
            </a:pPr>
            <a:r>
              <a:rPr lang="en-US" sz="1200" dirty="0">
                <a:solidFill>
                  <a:srgbClr val="A9C09F"/>
                </a:solidFill>
                <a:latin typeface="Calibri" pitchFamily="34" charset="0"/>
                <a:ea typeface="Calibri" pitchFamily="34" charset="-122"/>
                <a:cs typeface="Calibri" pitchFamily="34" charset="-120"/>
              </a:rPr>
              <a:t>Scheduled pickup-days (annual)</a:t>
            </a:r>
            <a:endParaRPr lang="en-US" sz="1200" dirty="0"/>
          </a:p>
        </p:txBody>
      </p:sp>
      <p:sp>
        <p:nvSpPr>
          <p:cNvPr id="23" name="Text 21"/>
          <p:cNvSpPr/>
          <p:nvPr/>
        </p:nvSpPr>
        <p:spPr>
          <a:xfrm>
            <a:off x="4114800" y="4992624"/>
            <a:ext cx="1600200" cy="329184"/>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365</a:t>
            </a:r>
            <a:endParaRPr lang="en-US" sz="1300" dirty="0"/>
          </a:p>
        </p:txBody>
      </p:sp>
      <p:sp>
        <p:nvSpPr>
          <p:cNvPr id="24" name="Text 22"/>
          <p:cNvSpPr/>
          <p:nvPr/>
        </p:nvSpPr>
        <p:spPr>
          <a:xfrm>
            <a:off x="868680" y="5468112"/>
            <a:ext cx="3200400" cy="329184"/>
          </a:xfrm>
          <a:prstGeom prst="rect">
            <a:avLst/>
          </a:prstGeom>
          <a:noFill/>
          <a:ln/>
        </p:spPr>
        <p:txBody>
          <a:bodyPr wrap="square" lIns="0" tIns="0" rIns="0" bIns="0" rtlCol="0" anchor="ctr"/>
          <a:lstStyle/>
          <a:p>
            <a:pPr marL="0" indent="0">
              <a:buNone/>
            </a:pPr>
            <a:r>
              <a:rPr lang="en-US" sz="1200" dirty="0">
                <a:solidFill>
                  <a:srgbClr val="A9C09F"/>
                </a:solidFill>
                <a:latin typeface="Calibri" pitchFamily="34" charset="0"/>
                <a:ea typeface="Calibri" pitchFamily="34" charset="-122"/>
                <a:cs typeface="Calibri" pitchFamily="34" charset="-120"/>
              </a:rPr>
              <a:t>Total crates collected (annualized)</a:t>
            </a:r>
            <a:endParaRPr lang="en-US" sz="1200" dirty="0"/>
          </a:p>
        </p:txBody>
      </p:sp>
      <p:sp>
        <p:nvSpPr>
          <p:cNvPr id="25" name="Text 23"/>
          <p:cNvSpPr/>
          <p:nvPr/>
        </p:nvSpPr>
        <p:spPr>
          <a:xfrm>
            <a:off x="4114800" y="5468112"/>
            <a:ext cx="1600200" cy="329184"/>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16,435</a:t>
            </a:r>
            <a:endParaRPr lang="en-US" sz="1300" dirty="0"/>
          </a:p>
        </p:txBody>
      </p:sp>
      <p:sp>
        <p:nvSpPr>
          <p:cNvPr id="26" name="Shape 24"/>
          <p:cNvSpPr/>
          <p:nvPr/>
        </p:nvSpPr>
        <p:spPr>
          <a:xfrm>
            <a:off x="6355080" y="3401568"/>
            <a:ext cx="5285232" cy="2606040"/>
          </a:xfrm>
          <a:prstGeom prst="roundRect">
            <a:avLst>
              <a:gd name="adj" fmla="val 3158"/>
            </a:avLst>
          </a:prstGeom>
          <a:solidFill>
            <a:srgbClr val="F7F9F5"/>
          </a:solidFill>
          <a:ln w="12700">
            <a:solidFill>
              <a:srgbClr val="F7F9F5"/>
            </a:solidFill>
            <a:prstDash val="solid"/>
          </a:ln>
        </p:spPr>
      </p:sp>
      <p:sp>
        <p:nvSpPr>
          <p:cNvPr id="27" name="Text 25"/>
          <p:cNvSpPr/>
          <p:nvPr/>
        </p:nvSpPr>
        <p:spPr>
          <a:xfrm>
            <a:off x="6675120" y="3611880"/>
            <a:ext cx="4663440" cy="310896"/>
          </a:xfrm>
          <a:prstGeom prst="rect">
            <a:avLst/>
          </a:prstGeom>
          <a:noFill/>
          <a:ln/>
        </p:spPr>
        <p:txBody>
          <a:bodyPr wrap="square" lIns="0" tIns="0" rIns="0" bIns="0" rtlCol="0" anchor="ctr"/>
          <a:lstStyle/>
          <a:p>
            <a:pPr marL="0" indent="0">
              <a:buNone/>
            </a:pPr>
            <a:r>
              <a:rPr lang="en-US" sz="1800" b="1" dirty="0">
                <a:solidFill>
                  <a:srgbClr val="163D24"/>
                </a:solidFill>
                <a:latin typeface="Cambria" pitchFamily="34" charset="0"/>
                <a:ea typeface="Cambria" pitchFamily="34" charset="-122"/>
                <a:cs typeface="Cambria" pitchFamily="34" charset="-120"/>
              </a:rPr>
              <a:t>What it implies for FoodShare</a:t>
            </a:r>
            <a:endParaRPr lang="en-US" sz="1800" dirty="0"/>
          </a:p>
        </p:txBody>
      </p:sp>
      <p:sp>
        <p:nvSpPr>
          <p:cNvPr id="28" name="Text 26"/>
          <p:cNvSpPr/>
          <p:nvPr/>
        </p:nvSpPr>
        <p:spPr>
          <a:xfrm>
            <a:off x="6675120" y="4041648"/>
            <a:ext cx="4663440" cy="1783080"/>
          </a:xfrm>
          <a:prstGeom prst="rect">
            <a:avLst/>
          </a:prstGeom>
          <a:noFill/>
          <a:ln/>
        </p:spPr>
        <p:txBody>
          <a:bodyPr wrap="square" lIns="0" tIns="0" rIns="0" bIns="0" rtlCol="0" anchor="ctr"/>
          <a:lstStyle/>
          <a:p>
            <a:pPr marL="0" indent="0">
              <a:lnSpc>
                <a:spcPts val="1900"/>
              </a:lnSpc>
              <a:spcAft>
                <a:spcPts val="900"/>
              </a:spcAft>
              <a:buNone/>
            </a:pPr>
            <a:r>
              <a:rPr lang="en-US" sz="1200" dirty="0">
                <a:solidFill>
                  <a:srgbClr val="1A2E20"/>
                </a:solidFill>
                <a:latin typeface="Calibri" pitchFamily="34" charset="0"/>
                <a:ea typeface="Calibri" pitchFamily="34" charset="-122"/>
                <a:cs typeface="Calibri" pitchFamily="34" charset="-120"/>
              </a:rPr>
              <a:t>Roughly 45 crates a day across two trucks and six operating days is the throughput a system at this scale has to record without becoming a bottleneck.</a:t>
            </a:r>
            <a:endParaRPr lang="en-US" sz="1200" dirty="0"/>
          </a:p>
          <a:p>
            <a:pPr marL="0" indent="0">
              <a:lnSpc>
                <a:spcPts val="1900"/>
              </a:lnSpc>
              <a:buNone/>
            </a:pPr>
            <a:r>
              <a:rPr lang="en-US" sz="1200" dirty="0">
                <a:solidFill>
                  <a:srgbClr val="1A2E20"/>
                </a:solidFill>
                <a:latin typeface="Calibri" pitchFamily="34" charset="0"/>
                <a:ea typeface="Calibri" pitchFamily="34" charset="-122"/>
                <a:cs typeface="Calibri" pitchFamily="34" charset="-120"/>
              </a:rPr>
              <a:t>Volunteer numbers are an informal range rather than a headcount — volunteer availability is listed as a project constraint for exactly this reason.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Benchmark: Annual Operating Budget</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14.6 — $693,160 CAD across ten categories</a:t>
            </a:r>
            <a:endParaRPr lang="en-US" sz="1400" dirty="0"/>
          </a:p>
        </p:txBody>
      </p:sp>
      <p:graphicFrame>
        <p:nvGraphicFramePr>
          <p:cNvPr id="4" name="Chart 0"/>
          <p:cNvGraphicFramePr/>
          <p:nvPr/>
        </p:nvGraphicFramePr>
        <p:xfrm>
          <a:off x="457200" y="1463040"/>
          <a:ext cx="72237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955280" y="1463040"/>
            <a:ext cx="3685032" cy="1417320"/>
          </a:xfrm>
          <a:prstGeom prst="roundRect">
            <a:avLst>
              <a:gd name="adj" fmla="val 5806"/>
            </a:avLst>
          </a:prstGeom>
          <a:solidFill>
            <a:srgbClr val="163D24"/>
          </a:solidFill>
          <a:ln w="12700">
            <a:solidFill>
              <a:srgbClr val="163D24"/>
            </a:solidFill>
            <a:prstDash val="solid"/>
          </a:ln>
        </p:spPr>
      </p:sp>
      <p:sp>
        <p:nvSpPr>
          <p:cNvPr id="6" name="Text 3"/>
          <p:cNvSpPr/>
          <p:nvPr/>
        </p:nvSpPr>
        <p:spPr>
          <a:xfrm>
            <a:off x="7955280" y="1600200"/>
            <a:ext cx="3685032" cy="658368"/>
          </a:xfrm>
          <a:prstGeom prst="rect">
            <a:avLst/>
          </a:prstGeom>
          <a:noFill/>
          <a:ln/>
        </p:spPr>
        <p:txBody>
          <a:bodyPr wrap="square" lIns="0" tIns="0" rIns="0" bIns="0" rtlCol="0" anchor="ctr"/>
          <a:lstStyle/>
          <a:p>
            <a:pPr marL="0" indent="0" algn="ctr">
              <a:buNone/>
            </a:pPr>
            <a:r>
              <a:rPr lang="en-US" sz="3400" b="1" dirty="0">
                <a:solidFill>
                  <a:srgbClr val="97BC62"/>
                </a:solidFill>
                <a:latin typeface="Cambria" pitchFamily="34" charset="0"/>
                <a:ea typeface="Cambria" pitchFamily="34" charset="-122"/>
                <a:cs typeface="Cambria" pitchFamily="34" charset="-120"/>
              </a:rPr>
              <a:t>$693,160</a:t>
            </a:r>
            <a:endParaRPr lang="en-US" sz="3400" dirty="0"/>
          </a:p>
        </p:txBody>
      </p:sp>
      <p:sp>
        <p:nvSpPr>
          <p:cNvPr id="7" name="Text 4"/>
          <p:cNvSpPr/>
          <p:nvPr/>
        </p:nvSpPr>
        <p:spPr>
          <a:xfrm>
            <a:off x="8183880" y="2286000"/>
            <a:ext cx="3227832" cy="365760"/>
          </a:xfrm>
          <a:prstGeom prst="rect">
            <a:avLst/>
          </a:prstGeom>
          <a:noFill/>
          <a:ln/>
        </p:spPr>
        <p:txBody>
          <a:bodyPr wrap="square" lIns="0" tIns="0" rIns="0" bIns="0" rtlCol="0" anchor="ctr"/>
          <a:lstStyle/>
          <a:p>
            <a:pPr marL="0" indent="0" algn="ctr">
              <a:buNone/>
            </a:pPr>
            <a:r>
              <a:rPr lang="en-US" sz="1100" dirty="0">
                <a:solidFill>
                  <a:srgbClr val="A9C09F"/>
                </a:solidFill>
                <a:latin typeface="Calibri" pitchFamily="34" charset="0"/>
                <a:ea typeface="Calibri" pitchFamily="34" charset="-122"/>
                <a:cs typeface="Calibri" pitchFamily="34" charset="-120"/>
              </a:rPr>
              <a:t>Total annual operating budget (CAD)</a:t>
            </a:r>
            <a:endParaRPr lang="en-US" sz="1100" dirty="0"/>
          </a:p>
        </p:txBody>
      </p:sp>
      <p:sp>
        <p:nvSpPr>
          <p:cNvPr id="8" name="Text 5"/>
          <p:cNvSpPr/>
          <p:nvPr/>
        </p:nvSpPr>
        <p:spPr>
          <a:xfrm>
            <a:off x="7955280" y="3035808"/>
            <a:ext cx="3685032" cy="274320"/>
          </a:xfrm>
          <a:prstGeom prst="rect">
            <a:avLst/>
          </a:prstGeom>
          <a:noFill/>
          <a:ln/>
        </p:spPr>
        <p:txBody>
          <a:bodyPr wrap="square" lIns="0" tIns="0" rIns="0" bIns="0" rtlCol="0" anchor="ctr"/>
          <a:lstStyle/>
          <a:p>
            <a:pPr marL="0" indent="0">
              <a:buNone/>
            </a:pPr>
            <a:r>
              <a:rPr lang="en-US" sz="1200" b="1" dirty="0">
                <a:solidFill>
                  <a:srgbClr val="163D24"/>
                </a:solidFill>
                <a:latin typeface="Calibri" pitchFamily="34" charset="0"/>
                <a:ea typeface="Calibri" pitchFamily="34" charset="-122"/>
                <a:cs typeface="Calibri" pitchFamily="34" charset="-120"/>
              </a:rPr>
              <a:t>Share of total</a:t>
            </a:r>
            <a:endParaRPr lang="en-US" sz="1200" dirty="0"/>
          </a:p>
        </p:txBody>
      </p:sp>
      <p:sp>
        <p:nvSpPr>
          <p:cNvPr id="9" name="Shape 6"/>
          <p:cNvSpPr/>
          <p:nvPr/>
        </p:nvSpPr>
        <p:spPr>
          <a:xfrm>
            <a:off x="7955280" y="3364992"/>
            <a:ext cx="3685032" cy="265176"/>
          </a:xfrm>
          <a:prstGeom prst="roundRect">
            <a:avLst>
              <a:gd name="adj" fmla="val 31034"/>
            </a:avLst>
          </a:prstGeom>
          <a:solidFill>
            <a:srgbClr val="EEF3EA"/>
          </a:solidFill>
          <a:ln w="12700">
            <a:solidFill>
              <a:srgbClr val="EEF3EA"/>
            </a:solidFill>
            <a:prstDash val="solid"/>
          </a:ln>
        </p:spPr>
      </p:sp>
      <p:sp>
        <p:nvSpPr>
          <p:cNvPr id="10" name="Text 7"/>
          <p:cNvSpPr/>
          <p:nvPr/>
        </p:nvSpPr>
        <p:spPr>
          <a:xfrm>
            <a:off x="8138160" y="3364992"/>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Staff</a:t>
            </a:r>
            <a:endParaRPr lang="en-US" sz="1100" dirty="0"/>
          </a:p>
        </p:txBody>
      </p:sp>
      <p:sp>
        <p:nvSpPr>
          <p:cNvPr id="11" name="Text 8"/>
          <p:cNvSpPr/>
          <p:nvPr/>
        </p:nvSpPr>
        <p:spPr>
          <a:xfrm>
            <a:off x="10332720" y="3364992"/>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54.8%</a:t>
            </a:r>
            <a:endParaRPr lang="en-US" sz="1100" dirty="0"/>
          </a:p>
        </p:txBody>
      </p:sp>
      <p:sp>
        <p:nvSpPr>
          <p:cNvPr id="12" name="Text 9"/>
          <p:cNvSpPr/>
          <p:nvPr/>
        </p:nvSpPr>
        <p:spPr>
          <a:xfrm>
            <a:off x="8138160" y="3630168"/>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Facility</a:t>
            </a:r>
            <a:endParaRPr lang="en-US" sz="1100" dirty="0"/>
          </a:p>
        </p:txBody>
      </p:sp>
      <p:sp>
        <p:nvSpPr>
          <p:cNvPr id="13" name="Text 10"/>
          <p:cNvSpPr/>
          <p:nvPr/>
        </p:nvSpPr>
        <p:spPr>
          <a:xfrm>
            <a:off x="10332720" y="3630168"/>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26.0%</a:t>
            </a:r>
            <a:endParaRPr lang="en-US" sz="1100" dirty="0"/>
          </a:p>
        </p:txBody>
      </p:sp>
      <p:sp>
        <p:nvSpPr>
          <p:cNvPr id="14" name="Shape 11"/>
          <p:cNvSpPr/>
          <p:nvPr/>
        </p:nvSpPr>
        <p:spPr>
          <a:xfrm>
            <a:off x="7955280" y="3895344"/>
            <a:ext cx="3685032" cy="265176"/>
          </a:xfrm>
          <a:prstGeom prst="roundRect">
            <a:avLst>
              <a:gd name="adj" fmla="val 31034"/>
            </a:avLst>
          </a:prstGeom>
          <a:solidFill>
            <a:srgbClr val="EEF3EA"/>
          </a:solidFill>
          <a:ln w="12700">
            <a:solidFill>
              <a:srgbClr val="EEF3EA"/>
            </a:solidFill>
            <a:prstDash val="solid"/>
          </a:ln>
        </p:spPr>
      </p:sp>
      <p:sp>
        <p:nvSpPr>
          <p:cNvPr id="15" name="Text 12"/>
          <p:cNvSpPr/>
          <p:nvPr/>
        </p:nvSpPr>
        <p:spPr>
          <a:xfrm>
            <a:off x="8138160" y="3895344"/>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Transportation</a:t>
            </a:r>
            <a:endParaRPr lang="en-US" sz="1100" dirty="0"/>
          </a:p>
        </p:txBody>
      </p:sp>
      <p:sp>
        <p:nvSpPr>
          <p:cNvPr id="16" name="Text 13"/>
          <p:cNvSpPr/>
          <p:nvPr/>
        </p:nvSpPr>
        <p:spPr>
          <a:xfrm>
            <a:off x="10332720" y="3895344"/>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7.0%</a:t>
            </a:r>
            <a:endParaRPr lang="en-US" sz="1100" dirty="0"/>
          </a:p>
        </p:txBody>
      </p:sp>
      <p:sp>
        <p:nvSpPr>
          <p:cNvPr id="17" name="Text 14"/>
          <p:cNvSpPr/>
          <p:nvPr/>
        </p:nvSpPr>
        <p:spPr>
          <a:xfrm>
            <a:off x="8138160" y="4160520"/>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Operations</a:t>
            </a:r>
            <a:endParaRPr lang="en-US" sz="1100" dirty="0"/>
          </a:p>
        </p:txBody>
      </p:sp>
      <p:sp>
        <p:nvSpPr>
          <p:cNvPr id="18" name="Text 15"/>
          <p:cNvSpPr/>
          <p:nvPr/>
        </p:nvSpPr>
        <p:spPr>
          <a:xfrm>
            <a:off x="10332720" y="4160520"/>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3.1%</a:t>
            </a:r>
            <a:endParaRPr lang="en-US" sz="1100" dirty="0"/>
          </a:p>
        </p:txBody>
      </p:sp>
      <p:sp>
        <p:nvSpPr>
          <p:cNvPr id="19" name="Shape 16"/>
          <p:cNvSpPr/>
          <p:nvPr/>
        </p:nvSpPr>
        <p:spPr>
          <a:xfrm>
            <a:off x="7955280" y="4425696"/>
            <a:ext cx="3685032" cy="265176"/>
          </a:xfrm>
          <a:prstGeom prst="roundRect">
            <a:avLst>
              <a:gd name="adj" fmla="val 31034"/>
            </a:avLst>
          </a:prstGeom>
          <a:solidFill>
            <a:srgbClr val="EEF3EA"/>
          </a:solidFill>
          <a:ln w="12700">
            <a:solidFill>
              <a:srgbClr val="EEF3EA"/>
            </a:solidFill>
            <a:prstDash val="solid"/>
          </a:ln>
        </p:spPr>
      </p:sp>
      <p:sp>
        <p:nvSpPr>
          <p:cNvPr id="20" name="Text 17"/>
          <p:cNvSpPr/>
          <p:nvPr/>
        </p:nvSpPr>
        <p:spPr>
          <a:xfrm>
            <a:off x="8138160" y="4425696"/>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Contingency</a:t>
            </a:r>
            <a:endParaRPr lang="en-US" sz="1100" dirty="0"/>
          </a:p>
        </p:txBody>
      </p:sp>
      <p:sp>
        <p:nvSpPr>
          <p:cNvPr id="21" name="Text 18"/>
          <p:cNvSpPr/>
          <p:nvPr/>
        </p:nvSpPr>
        <p:spPr>
          <a:xfrm>
            <a:off x="10332720" y="4425696"/>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2.9%</a:t>
            </a:r>
            <a:endParaRPr lang="en-US" sz="1100" dirty="0"/>
          </a:p>
        </p:txBody>
      </p:sp>
      <p:sp>
        <p:nvSpPr>
          <p:cNvPr id="22" name="Text 19"/>
          <p:cNvSpPr/>
          <p:nvPr/>
        </p:nvSpPr>
        <p:spPr>
          <a:xfrm>
            <a:off x="8138160" y="4690872"/>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Utilities</a:t>
            </a:r>
            <a:endParaRPr lang="en-US" sz="1100" dirty="0"/>
          </a:p>
        </p:txBody>
      </p:sp>
      <p:sp>
        <p:nvSpPr>
          <p:cNvPr id="23" name="Text 20"/>
          <p:cNvSpPr/>
          <p:nvPr/>
        </p:nvSpPr>
        <p:spPr>
          <a:xfrm>
            <a:off x="10332720" y="4690872"/>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2.6%</a:t>
            </a:r>
            <a:endParaRPr lang="en-US" sz="1100" dirty="0"/>
          </a:p>
        </p:txBody>
      </p:sp>
      <p:sp>
        <p:nvSpPr>
          <p:cNvPr id="24" name="Shape 21"/>
          <p:cNvSpPr/>
          <p:nvPr/>
        </p:nvSpPr>
        <p:spPr>
          <a:xfrm>
            <a:off x="7955280" y="4956048"/>
            <a:ext cx="3685032" cy="265176"/>
          </a:xfrm>
          <a:prstGeom prst="roundRect">
            <a:avLst>
              <a:gd name="adj" fmla="val 31034"/>
            </a:avLst>
          </a:prstGeom>
          <a:solidFill>
            <a:srgbClr val="EEF3EA"/>
          </a:solidFill>
          <a:ln w="12700">
            <a:solidFill>
              <a:srgbClr val="EEF3EA"/>
            </a:solidFill>
            <a:prstDash val="solid"/>
          </a:ln>
        </p:spPr>
      </p:sp>
      <p:sp>
        <p:nvSpPr>
          <p:cNvPr id="25" name="Text 22"/>
          <p:cNvSpPr/>
          <p:nvPr/>
        </p:nvSpPr>
        <p:spPr>
          <a:xfrm>
            <a:off x="8138160" y="4956048"/>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IT</a:t>
            </a:r>
            <a:endParaRPr lang="en-US" sz="1100" dirty="0"/>
          </a:p>
        </p:txBody>
      </p:sp>
      <p:sp>
        <p:nvSpPr>
          <p:cNvPr id="26" name="Text 23"/>
          <p:cNvSpPr/>
          <p:nvPr/>
        </p:nvSpPr>
        <p:spPr>
          <a:xfrm>
            <a:off x="10332720" y="4956048"/>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1.2%</a:t>
            </a:r>
            <a:endParaRPr lang="en-US" sz="1100" dirty="0"/>
          </a:p>
        </p:txBody>
      </p:sp>
      <p:sp>
        <p:nvSpPr>
          <p:cNvPr id="27" name="Text 24"/>
          <p:cNvSpPr/>
          <p:nvPr/>
        </p:nvSpPr>
        <p:spPr>
          <a:xfrm>
            <a:off x="8138160" y="5221224"/>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Insurance</a:t>
            </a:r>
            <a:endParaRPr lang="en-US" sz="1100" dirty="0"/>
          </a:p>
        </p:txBody>
      </p:sp>
      <p:sp>
        <p:nvSpPr>
          <p:cNvPr id="28" name="Text 25"/>
          <p:cNvSpPr/>
          <p:nvPr/>
        </p:nvSpPr>
        <p:spPr>
          <a:xfrm>
            <a:off x="10332720" y="5221224"/>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1.2%</a:t>
            </a:r>
            <a:endParaRPr lang="en-US" sz="1100" dirty="0"/>
          </a:p>
        </p:txBody>
      </p:sp>
      <p:sp>
        <p:nvSpPr>
          <p:cNvPr id="29" name="Shape 26"/>
          <p:cNvSpPr/>
          <p:nvPr/>
        </p:nvSpPr>
        <p:spPr>
          <a:xfrm>
            <a:off x="7955280" y="5486400"/>
            <a:ext cx="3685032" cy="265176"/>
          </a:xfrm>
          <a:prstGeom prst="roundRect">
            <a:avLst>
              <a:gd name="adj" fmla="val 31034"/>
            </a:avLst>
          </a:prstGeom>
          <a:solidFill>
            <a:srgbClr val="EEF3EA"/>
          </a:solidFill>
          <a:ln w="12700">
            <a:solidFill>
              <a:srgbClr val="EEF3EA"/>
            </a:solidFill>
            <a:prstDash val="solid"/>
          </a:ln>
        </p:spPr>
      </p:sp>
      <p:sp>
        <p:nvSpPr>
          <p:cNvPr id="30" name="Text 27"/>
          <p:cNvSpPr/>
          <p:nvPr/>
        </p:nvSpPr>
        <p:spPr>
          <a:xfrm>
            <a:off x="8138160" y="5486400"/>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Marketing</a:t>
            </a:r>
            <a:endParaRPr lang="en-US" sz="1100" dirty="0"/>
          </a:p>
        </p:txBody>
      </p:sp>
      <p:sp>
        <p:nvSpPr>
          <p:cNvPr id="31" name="Text 28"/>
          <p:cNvSpPr/>
          <p:nvPr/>
        </p:nvSpPr>
        <p:spPr>
          <a:xfrm>
            <a:off x="10332720" y="5486400"/>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0.7%</a:t>
            </a:r>
            <a:endParaRPr lang="en-US" sz="1100" dirty="0"/>
          </a:p>
        </p:txBody>
      </p:sp>
      <p:sp>
        <p:nvSpPr>
          <p:cNvPr id="32" name="Text 29"/>
          <p:cNvSpPr/>
          <p:nvPr/>
        </p:nvSpPr>
        <p:spPr>
          <a:xfrm>
            <a:off x="8138160" y="5751576"/>
            <a:ext cx="2194560" cy="265176"/>
          </a:xfrm>
          <a:prstGeom prst="rect">
            <a:avLst/>
          </a:prstGeom>
          <a:noFill/>
          <a:ln/>
        </p:spPr>
        <p:txBody>
          <a:bodyPr wrap="square" lIns="0" tIns="0" rIns="0" bIns="0" rtlCol="0" anchor="ctr"/>
          <a:lstStyle/>
          <a:p>
            <a:pPr marL="0" indent="0">
              <a:buNone/>
            </a:pPr>
            <a:r>
              <a:rPr lang="en-US" sz="1100" dirty="0">
                <a:solidFill>
                  <a:srgbClr val="1A2E20"/>
                </a:solidFill>
                <a:latin typeface="Calibri" pitchFamily="34" charset="0"/>
                <a:ea typeface="Calibri" pitchFamily="34" charset="-122"/>
                <a:cs typeface="Calibri" pitchFamily="34" charset="-120"/>
              </a:rPr>
              <a:t>Training</a:t>
            </a:r>
            <a:endParaRPr lang="en-US" sz="1100" dirty="0"/>
          </a:p>
        </p:txBody>
      </p:sp>
      <p:sp>
        <p:nvSpPr>
          <p:cNvPr id="33" name="Text 30"/>
          <p:cNvSpPr/>
          <p:nvPr/>
        </p:nvSpPr>
        <p:spPr>
          <a:xfrm>
            <a:off x="10332720" y="5751576"/>
            <a:ext cx="1143000" cy="265176"/>
          </a:xfrm>
          <a:prstGeom prst="rect">
            <a:avLst/>
          </a:prstGeom>
          <a:noFill/>
          <a:ln/>
        </p:spPr>
        <p:txBody>
          <a:bodyPr wrap="square" lIns="0" tIns="0" rIns="0" bIns="0" rtlCol="0" anchor="ctr"/>
          <a:lstStyle/>
          <a:p>
            <a:pPr marL="0" indent="0" algn="r">
              <a:buNone/>
            </a:pPr>
            <a:r>
              <a:rPr lang="en-US" sz="1100" b="1" dirty="0">
                <a:solidFill>
                  <a:srgbClr val="2C5F2D"/>
                </a:solidFill>
                <a:latin typeface="Calibri" pitchFamily="34" charset="0"/>
                <a:ea typeface="Calibri" pitchFamily="34" charset="-122"/>
                <a:cs typeface="Calibri" pitchFamily="34" charset="-120"/>
              </a:rPr>
              <a:t>0.6%</a:t>
            </a:r>
            <a:endParaRPr lang="en-US" sz="1100" dirty="0"/>
          </a:p>
        </p:txBody>
      </p:sp>
      <p:sp>
        <p:nvSpPr>
          <p:cNvPr id="34" name="Text 31"/>
          <p:cNvSpPr/>
          <p:nvPr/>
        </p:nvSpPr>
        <p:spPr>
          <a:xfrm>
            <a:off x="548640" y="6327648"/>
            <a:ext cx="11091672" cy="274320"/>
          </a:xfrm>
          <a:prstGeom prst="rect">
            <a:avLst/>
          </a:prstGeom>
          <a:noFill/>
          <a:ln/>
        </p:spPr>
        <p:txBody>
          <a:bodyPr wrap="square" lIns="0" tIns="0" rIns="0" bIns="0" rtlCol="0" anchor="ctr"/>
          <a:lstStyle/>
          <a:p>
            <a:pPr marL="0" indent="0" algn="l">
              <a:buNone/>
            </a:pPr>
            <a:r>
              <a:rPr lang="en-US" sz="950" dirty="0">
                <a:solidFill>
                  <a:srgbClr val="9AA79C"/>
                </a:solidFill>
                <a:latin typeface="Calibri" pitchFamily="34" charset="0"/>
                <a:ea typeface="Calibri" pitchFamily="34" charset="-122"/>
                <a:cs typeface="Calibri" pitchFamily="34" charset="-120"/>
              </a:rPr>
              <a:t>Source: Care Shield Food Bank operating data. IT spend of $8,060 (1.2%) is the line this project most directly affects.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What the Benchmarks Mean for FoodShare</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14.7 — design for it now rather than discover it later</a:t>
            </a:r>
            <a:endParaRPr lang="en-US" sz="1400" dirty="0"/>
          </a:p>
        </p:txBody>
      </p:sp>
      <p:sp>
        <p:nvSpPr>
          <p:cNvPr id="4" name="Shape 2"/>
          <p:cNvSpPr/>
          <p:nvPr/>
        </p:nvSpPr>
        <p:spPr>
          <a:xfrm>
            <a:off x="548640" y="1481328"/>
            <a:ext cx="3566160" cy="2423160"/>
          </a:xfrm>
          <a:prstGeom prst="roundRect">
            <a:avLst>
              <a:gd name="adj" fmla="val 3396"/>
            </a:avLst>
          </a:prstGeom>
          <a:solidFill>
            <a:srgbClr val="EEF3EA"/>
          </a:solidFill>
          <a:ln w="12700">
            <a:solidFill>
              <a:srgbClr val="EEF3EA"/>
            </a:solidFill>
            <a:prstDash val="solid"/>
          </a:ln>
        </p:spPr>
      </p:sp>
      <p:sp>
        <p:nvSpPr>
          <p:cNvPr id="5" name="Shape 3"/>
          <p:cNvSpPr/>
          <p:nvPr/>
        </p:nvSpPr>
        <p:spPr>
          <a:xfrm>
            <a:off x="822960" y="1737360"/>
            <a:ext cx="457200" cy="457200"/>
          </a:xfrm>
          <a:prstGeom prst="roundRect">
            <a:avLst>
              <a:gd name="adj" fmla="val 18000"/>
            </a:avLst>
          </a:prstGeom>
          <a:solidFill>
            <a:srgbClr val="2C5F2D"/>
          </a:solidFill>
          <a:ln w="12700">
            <a:solidFill>
              <a:srgbClr val="2C5F2D"/>
            </a:solidFill>
            <a:prstDash val="solid"/>
          </a:ln>
        </p:spPr>
      </p:sp>
      <p:sp>
        <p:nvSpPr>
          <p:cNvPr id="6" name="Text 4"/>
          <p:cNvSpPr/>
          <p:nvPr/>
        </p:nvSpPr>
        <p:spPr>
          <a:xfrm>
            <a:off x="822960" y="1737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22960" y="2322576"/>
            <a:ext cx="3017520" cy="365760"/>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Same starting shape</a:t>
            </a:r>
            <a:endParaRPr lang="en-US" sz="1600" dirty="0"/>
          </a:p>
        </p:txBody>
      </p:sp>
      <p:sp>
        <p:nvSpPr>
          <p:cNvPr id="8" name="Text 6"/>
          <p:cNvSpPr/>
          <p:nvPr/>
        </p:nvSpPr>
        <p:spPr>
          <a:xfrm>
            <a:off x="822960" y="2743200"/>
            <a:ext cx="3017520" cy="1051560"/>
          </a:xfrm>
          <a:prstGeom prst="rect">
            <a:avLst/>
          </a:prstGeom>
          <a:noFill/>
          <a:ln/>
        </p:spPr>
        <p:txBody>
          <a:bodyPr wrap="square" lIns="0" tIns="0" rIns="0" bIns="0" rtlCol="0" anchor="ctr"/>
          <a:lstStyle/>
          <a:p>
            <a:pPr marL="0" indent="0">
              <a:lnSpc>
                <a:spcPts val="1700"/>
              </a:lnSpc>
              <a:buNone/>
            </a:pPr>
            <a:r>
              <a:rPr lang="en-US" sz="1150" dirty="0">
                <a:solidFill>
                  <a:srgbClr val="5F6F62"/>
                </a:solidFill>
                <a:latin typeface="Calibri" pitchFamily="34" charset="0"/>
                <a:ea typeface="Calibri" pitchFamily="34" charset="-122"/>
                <a:cs typeface="Calibri" pitchFamily="34" charset="-120"/>
              </a:rPr>
              <a:t>FoodShare runs the same two-truck, three-warehouse setup Care Shield started with — so the pressures Care Shield hit are realistic early warning signs, not hypotheticals.</a:t>
            </a:r>
            <a:endParaRPr lang="en-US" sz="1150" dirty="0"/>
          </a:p>
        </p:txBody>
      </p:sp>
      <p:sp>
        <p:nvSpPr>
          <p:cNvPr id="9" name="Shape 7"/>
          <p:cNvSpPr/>
          <p:nvPr/>
        </p:nvSpPr>
        <p:spPr>
          <a:xfrm>
            <a:off x="4325112" y="1481328"/>
            <a:ext cx="3566160" cy="2423160"/>
          </a:xfrm>
          <a:prstGeom prst="roundRect">
            <a:avLst>
              <a:gd name="adj" fmla="val 3396"/>
            </a:avLst>
          </a:prstGeom>
          <a:solidFill>
            <a:srgbClr val="EEF3EA"/>
          </a:solidFill>
          <a:ln w="12700">
            <a:solidFill>
              <a:srgbClr val="EEF3EA"/>
            </a:solidFill>
            <a:prstDash val="solid"/>
          </a:ln>
        </p:spPr>
      </p:sp>
      <p:sp>
        <p:nvSpPr>
          <p:cNvPr id="10" name="Shape 8"/>
          <p:cNvSpPr/>
          <p:nvPr/>
        </p:nvSpPr>
        <p:spPr>
          <a:xfrm>
            <a:off x="4599432" y="1737360"/>
            <a:ext cx="457200" cy="457200"/>
          </a:xfrm>
          <a:prstGeom prst="roundRect">
            <a:avLst>
              <a:gd name="adj" fmla="val 18000"/>
            </a:avLst>
          </a:prstGeom>
          <a:solidFill>
            <a:srgbClr val="D97A26"/>
          </a:solidFill>
          <a:ln w="12700">
            <a:solidFill>
              <a:srgbClr val="D97A26"/>
            </a:solidFill>
            <a:prstDash val="solid"/>
          </a:ln>
        </p:spPr>
      </p:sp>
      <p:sp>
        <p:nvSpPr>
          <p:cNvPr id="11" name="Text 9"/>
          <p:cNvSpPr/>
          <p:nvPr/>
        </p:nvSpPr>
        <p:spPr>
          <a:xfrm>
            <a:off x="4599432" y="17373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99432" y="2322576"/>
            <a:ext cx="3017520" cy="365760"/>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Known failure points</a:t>
            </a:r>
            <a:endParaRPr lang="en-US" sz="1600" dirty="0"/>
          </a:p>
        </p:txBody>
      </p:sp>
      <p:sp>
        <p:nvSpPr>
          <p:cNvPr id="13" name="Text 11"/>
          <p:cNvSpPr/>
          <p:nvPr/>
        </p:nvSpPr>
        <p:spPr>
          <a:xfrm>
            <a:off x="4599432" y="2743200"/>
            <a:ext cx="3017520" cy="1051560"/>
          </a:xfrm>
          <a:prstGeom prst="rect">
            <a:avLst/>
          </a:prstGeom>
          <a:noFill/>
          <a:ln/>
        </p:spPr>
        <p:txBody>
          <a:bodyPr wrap="square" lIns="0" tIns="0" rIns="0" bIns="0" rtlCol="0" anchor="ctr"/>
          <a:lstStyle/>
          <a:p>
            <a:pPr marL="0" indent="0">
              <a:lnSpc>
                <a:spcPts val="1700"/>
              </a:lnSpc>
              <a:buNone/>
            </a:pPr>
            <a:r>
              <a:rPr lang="en-US" sz="1150" dirty="0">
                <a:solidFill>
                  <a:srgbClr val="5F6F62"/>
                </a:solidFill>
                <a:latin typeface="Calibri" pitchFamily="34" charset="0"/>
                <a:ea typeface="Calibri" pitchFamily="34" charset="-122"/>
                <a:cs typeface="Calibri" pitchFamily="34" charset="-120"/>
              </a:rPr>
              <a:t>Uneven pickup-day coverage between hubs, and a handful of SKUs slipping below reorder level, are the two specific things to design around.</a:t>
            </a:r>
            <a:endParaRPr lang="en-US" sz="1150" dirty="0"/>
          </a:p>
        </p:txBody>
      </p:sp>
      <p:sp>
        <p:nvSpPr>
          <p:cNvPr id="14" name="Shape 12"/>
          <p:cNvSpPr/>
          <p:nvPr/>
        </p:nvSpPr>
        <p:spPr>
          <a:xfrm>
            <a:off x="8101584" y="1481328"/>
            <a:ext cx="3566160" cy="2423160"/>
          </a:xfrm>
          <a:prstGeom prst="roundRect">
            <a:avLst>
              <a:gd name="adj" fmla="val 3396"/>
            </a:avLst>
          </a:prstGeom>
          <a:solidFill>
            <a:srgbClr val="163D24"/>
          </a:solidFill>
          <a:ln w="12700">
            <a:solidFill>
              <a:srgbClr val="163D24"/>
            </a:solidFill>
            <a:prstDash val="solid"/>
          </a:ln>
        </p:spPr>
      </p:sp>
      <p:sp>
        <p:nvSpPr>
          <p:cNvPr id="15" name="Shape 13"/>
          <p:cNvSpPr/>
          <p:nvPr/>
        </p:nvSpPr>
        <p:spPr>
          <a:xfrm>
            <a:off x="8375904" y="1737360"/>
            <a:ext cx="457200" cy="457200"/>
          </a:xfrm>
          <a:prstGeom prst="roundRect">
            <a:avLst>
              <a:gd name="adj" fmla="val 18000"/>
            </a:avLst>
          </a:prstGeom>
          <a:solidFill>
            <a:srgbClr val="97BC62"/>
          </a:solidFill>
          <a:ln w="12700">
            <a:solidFill>
              <a:srgbClr val="97BC62"/>
            </a:solidFill>
            <a:prstDash val="solid"/>
          </a:ln>
        </p:spPr>
      </p:sp>
      <p:sp>
        <p:nvSpPr>
          <p:cNvPr id="16" name="Text 14"/>
          <p:cNvSpPr/>
          <p:nvPr/>
        </p:nvSpPr>
        <p:spPr>
          <a:xfrm>
            <a:off x="8375904" y="1737360"/>
            <a:ext cx="457200" cy="457200"/>
          </a:xfrm>
          <a:prstGeom prst="rect">
            <a:avLst/>
          </a:prstGeom>
          <a:noFill/>
          <a:ln/>
        </p:spPr>
        <p:txBody>
          <a:bodyPr wrap="square" lIns="0" tIns="0" rIns="0" bIns="0" rtlCol="0" anchor="ctr"/>
          <a:lstStyle/>
          <a:p>
            <a:pPr marL="0" indent="0" algn="ctr">
              <a:buNone/>
            </a:pPr>
            <a:r>
              <a:rPr lang="en-US" sz="1400" b="1" dirty="0">
                <a:solidFill>
                  <a:srgbClr val="163D24"/>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375904" y="2322576"/>
            <a:ext cx="301752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Core, not nice-to-have</a:t>
            </a:r>
            <a:endParaRPr lang="en-US" sz="1600" dirty="0"/>
          </a:p>
        </p:txBody>
      </p:sp>
      <p:sp>
        <p:nvSpPr>
          <p:cNvPr id="18" name="Text 16"/>
          <p:cNvSpPr/>
          <p:nvPr/>
        </p:nvSpPr>
        <p:spPr>
          <a:xfrm>
            <a:off x="8375904" y="2743200"/>
            <a:ext cx="3017520" cy="1051560"/>
          </a:xfrm>
          <a:prstGeom prst="rect">
            <a:avLst/>
          </a:prstGeom>
          <a:noFill/>
          <a:ln/>
        </p:spPr>
        <p:txBody>
          <a:bodyPr wrap="square" lIns="0" tIns="0" rIns="0" bIns="0" rtlCol="0" anchor="ctr"/>
          <a:lstStyle/>
          <a:p>
            <a:pPr marL="0" indent="0">
              <a:lnSpc>
                <a:spcPts val="1700"/>
              </a:lnSpc>
              <a:buNone/>
            </a:pPr>
            <a:r>
              <a:rPr lang="en-US" sz="1150" dirty="0">
                <a:solidFill>
                  <a:srgbClr val="C8D8C4"/>
                </a:solidFill>
                <a:latin typeface="Calibri" pitchFamily="34" charset="0"/>
                <a:ea typeface="Calibri" pitchFamily="34" charset="-122"/>
                <a:cs typeface="Calibri" pitchFamily="34" charset="-120"/>
              </a:rPr>
              <a:t>That is why FEFO tracking, per-warehouse inventory visibility and a reporting dashboard are core deliverables rather than additions after launch.</a:t>
            </a:r>
            <a:endParaRPr lang="en-US" sz="1150" dirty="0"/>
          </a:p>
        </p:txBody>
      </p:sp>
      <p:sp>
        <p:nvSpPr>
          <p:cNvPr id="19" name="Shape 17"/>
          <p:cNvSpPr/>
          <p:nvPr/>
        </p:nvSpPr>
        <p:spPr>
          <a:xfrm>
            <a:off x="548640" y="4114800"/>
            <a:ext cx="11091672" cy="1901952"/>
          </a:xfrm>
          <a:prstGeom prst="roundRect">
            <a:avLst>
              <a:gd name="adj" fmla="val 4327"/>
            </a:avLst>
          </a:prstGeom>
          <a:solidFill>
            <a:srgbClr val="F7F9F5"/>
          </a:solidFill>
          <a:ln w="12700">
            <a:solidFill>
              <a:srgbClr val="F7F9F5"/>
            </a:solidFill>
            <a:prstDash val="solid"/>
          </a:ln>
        </p:spPr>
      </p:sp>
      <p:sp>
        <p:nvSpPr>
          <p:cNvPr id="20" name="Text 18"/>
          <p:cNvSpPr/>
          <p:nvPr/>
        </p:nvSpPr>
        <p:spPr>
          <a:xfrm>
            <a:off x="868680" y="4315968"/>
            <a:ext cx="5486400" cy="310896"/>
          </a:xfrm>
          <a:prstGeom prst="rect">
            <a:avLst/>
          </a:prstGeom>
          <a:noFill/>
          <a:ln/>
        </p:spPr>
        <p:txBody>
          <a:bodyPr wrap="square" lIns="0" tIns="0" rIns="0" bIns="0" rtlCol="0" anchor="ctr"/>
          <a:lstStyle/>
          <a:p>
            <a:pPr marL="0" indent="0">
              <a:buNone/>
            </a:pPr>
            <a:r>
              <a:rPr lang="en-US" sz="1800" b="1" dirty="0">
                <a:solidFill>
                  <a:srgbClr val="163D24"/>
                </a:solidFill>
                <a:latin typeface="Cambria" pitchFamily="34" charset="0"/>
                <a:ea typeface="Cambria" pitchFamily="34" charset="-122"/>
                <a:cs typeface="Cambria" pitchFamily="34" charset="-120"/>
              </a:rPr>
              <a:t>The scale check</a:t>
            </a:r>
            <a:endParaRPr lang="en-US" sz="1800" dirty="0"/>
          </a:p>
        </p:txBody>
      </p:sp>
      <p:sp>
        <p:nvSpPr>
          <p:cNvPr id="21" name="Text 19"/>
          <p:cNvSpPr/>
          <p:nvPr/>
        </p:nvSpPr>
        <p:spPr>
          <a:xfrm>
            <a:off x="868680" y="4700016"/>
            <a:ext cx="7680960" cy="1097280"/>
          </a:xfrm>
          <a:prstGeom prst="rect">
            <a:avLst/>
          </a:prstGeom>
          <a:noFill/>
          <a:ln/>
        </p:spPr>
        <p:txBody>
          <a:bodyPr wrap="square" lIns="0" tIns="0" rIns="0" bIns="0" rtlCol="0" anchor="ctr"/>
          <a:lstStyle/>
          <a:p>
            <a:pPr marL="0" indent="0">
              <a:lnSpc>
                <a:spcPts val="2000"/>
              </a:lnSpc>
              <a:buNone/>
            </a:pPr>
            <a:r>
              <a:rPr lang="en-US" sz="1300" dirty="0">
                <a:solidFill>
                  <a:srgbClr val="1A2E20"/>
                </a:solidFill>
                <a:latin typeface="Calibri" pitchFamily="34" charset="0"/>
                <a:ea typeface="Calibri" pitchFamily="34" charset="-122"/>
                <a:cs typeface="Calibri" pitchFamily="34" charset="-120"/>
              </a:rPr>
              <a:t>A mature three-hub network in this size range tends to land somewhere around a few hundred thousand units of inventory on hand and tens of thousands of crates moved per year. FoodShare's system needs to be built to comfortably handle that range of volume — not just the smaller numbers the organization is working with today.</a:t>
            </a:r>
            <a:endParaRPr lang="en-US" sz="1300" dirty="0"/>
          </a:p>
        </p:txBody>
      </p:sp>
      <p:sp>
        <p:nvSpPr>
          <p:cNvPr id="22" name="Text 20"/>
          <p:cNvSpPr/>
          <p:nvPr/>
        </p:nvSpPr>
        <p:spPr>
          <a:xfrm>
            <a:off x="8778240" y="4480560"/>
            <a:ext cx="1371600" cy="502920"/>
          </a:xfrm>
          <a:prstGeom prst="rect">
            <a:avLst/>
          </a:prstGeom>
          <a:noFill/>
          <a:ln/>
        </p:spPr>
        <p:txBody>
          <a:bodyPr wrap="square" lIns="0" tIns="0" rIns="0" bIns="0" rtlCol="0" anchor="ctr"/>
          <a:lstStyle/>
          <a:p>
            <a:pPr marL="0" indent="0" algn="ctr">
              <a:buNone/>
            </a:pPr>
            <a:r>
              <a:rPr lang="en-US" sz="2600" b="1" dirty="0">
                <a:solidFill>
                  <a:srgbClr val="2C5F2D"/>
                </a:solidFill>
                <a:latin typeface="Cambria" pitchFamily="34" charset="0"/>
                <a:ea typeface="Cambria" pitchFamily="34" charset="-122"/>
                <a:cs typeface="Cambria" pitchFamily="34" charset="-120"/>
              </a:rPr>
              <a:t>~147K</a:t>
            </a:r>
            <a:endParaRPr lang="en-US" sz="2600" dirty="0"/>
          </a:p>
        </p:txBody>
      </p:sp>
      <p:sp>
        <p:nvSpPr>
          <p:cNvPr id="23" name="Text 21"/>
          <p:cNvSpPr/>
          <p:nvPr/>
        </p:nvSpPr>
        <p:spPr>
          <a:xfrm>
            <a:off x="8549640" y="4983480"/>
            <a:ext cx="1828800" cy="274320"/>
          </a:xfrm>
          <a:prstGeom prst="rect">
            <a:avLst/>
          </a:prstGeom>
          <a:noFill/>
          <a:ln/>
        </p:spPr>
        <p:txBody>
          <a:bodyPr wrap="square" lIns="0" tIns="0" rIns="0" bIns="0" rtlCol="0" anchor="ctr"/>
          <a:lstStyle/>
          <a:p>
            <a:pPr marL="0" indent="0" algn="ctr">
              <a:buNone/>
            </a:pPr>
            <a:r>
              <a:rPr lang="en-US" sz="1050" dirty="0">
                <a:solidFill>
                  <a:srgbClr val="5F6F62"/>
                </a:solidFill>
                <a:latin typeface="Calibri" pitchFamily="34" charset="0"/>
                <a:ea typeface="Calibri" pitchFamily="34" charset="-122"/>
                <a:cs typeface="Calibri" pitchFamily="34" charset="-120"/>
              </a:rPr>
              <a:t>units on hand</a:t>
            </a:r>
            <a:endParaRPr lang="en-US" sz="1050" dirty="0"/>
          </a:p>
        </p:txBody>
      </p:sp>
      <p:sp>
        <p:nvSpPr>
          <p:cNvPr id="24" name="Text 22"/>
          <p:cNvSpPr/>
          <p:nvPr/>
        </p:nvSpPr>
        <p:spPr>
          <a:xfrm>
            <a:off x="10241280" y="4480560"/>
            <a:ext cx="1371600" cy="502920"/>
          </a:xfrm>
          <a:prstGeom prst="rect">
            <a:avLst/>
          </a:prstGeom>
          <a:noFill/>
          <a:ln/>
        </p:spPr>
        <p:txBody>
          <a:bodyPr wrap="square" lIns="0" tIns="0" rIns="0" bIns="0" rtlCol="0" anchor="ctr"/>
          <a:lstStyle/>
          <a:p>
            <a:pPr marL="0" indent="0" algn="ctr">
              <a:buNone/>
            </a:pPr>
            <a:r>
              <a:rPr lang="en-US" sz="2600" b="1" dirty="0">
                <a:solidFill>
                  <a:srgbClr val="D97A26"/>
                </a:solidFill>
                <a:latin typeface="Cambria" pitchFamily="34" charset="0"/>
                <a:ea typeface="Cambria" pitchFamily="34" charset="-122"/>
                <a:cs typeface="Cambria" pitchFamily="34" charset="-120"/>
              </a:rPr>
              <a:t>~16K</a:t>
            </a:r>
            <a:endParaRPr lang="en-US" sz="2600" dirty="0"/>
          </a:p>
        </p:txBody>
      </p:sp>
      <p:sp>
        <p:nvSpPr>
          <p:cNvPr id="25" name="Text 23"/>
          <p:cNvSpPr/>
          <p:nvPr/>
        </p:nvSpPr>
        <p:spPr>
          <a:xfrm>
            <a:off x="10012680" y="4983480"/>
            <a:ext cx="1828800" cy="274320"/>
          </a:xfrm>
          <a:prstGeom prst="rect">
            <a:avLst/>
          </a:prstGeom>
          <a:noFill/>
          <a:ln/>
        </p:spPr>
        <p:txBody>
          <a:bodyPr wrap="square" lIns="0" tIns="0" rIns="0" bIns="0" rtlCol="0" anchor="ctr"/>
          <a:lstStyle/>
          <a:p>
            <a:pPr marL="0" indent="0" algn="ctr">
              <a:buNone/>
            </a:pPr>
            <a:r>
              <a:rPr lang="en-US" sz="1050" dirty="0">
                <a:solidFill>
                  <a:srgbClr val="5F6F62"/>
                </a:solidFill>
                <a:latin typeface="Calibri" pitchFamily="34" charset="0"/>
                <a:ea typeface="Calibri" pitchFamily="34" charset="-122"/>
                <a:cs typeface="Calibri" pitchFamily="34" charset="-120"/>
              </a:rPr>
              <a:t>crates / year</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3D24"/>
        </a:solidFill>
        <a:effectLst/>
      </p:bgPr>
    </p:bg>
    <p:spTree>
      <p:nvGrpSpPr>
        <p:cNvPr id="1" name=""/>
        <p:cNvGrpSpPr/>
        <p:nvPr/>
      </p:nvGrpSpPr>
      <p:grpSpPr>
        <a:xfrm>
          <a:off x="0" y="0"/>
          <a:ext cx="0" cy="0"/>
          <a:chOff x="0" y="0"/>
          <a:chExt cx="0" cy="0"/>
        </a:xfrm>
      </p:grpSpPr>
      <p:sp>
        <p:nvSpPr>
          <p:cNvPr id="2" name="Shape 0"/>
          <p:cNvSpPr/>
          <p:nvPr/>
        </p:nvSpPr>
        <p:spPr>
          <a:xfrm>
            <a:off x="9509760" y="3108960"/>
            <a:ext cx="4937760" cy="4937760"/>
          </a:xfrm>
          <a:prstGeom prst="ellipse">
            <a:avLst/>
          </a:prstGeom>
          <a:solidFill>
            <a:srgbClr val="2C5F2D">
              <a:alpha val="45000"/>
            </a:srgbClr>
          </a:solidFill>
          <a:ln w="12700">
            <a:solidFill>
              <a:srgbClr val="2C5F2D"/>
            </a:solidFill>
            <a:prstDash val="solid"/>
          </a:ln>
        </p:spPr>
      </p:sp>
      <p:sp>
        <p:nvSpPr>
          <p:cNvPr id="3" name="Shape 1"/>
          <p:cNvSpPr/>
          <p:nvPr/>
        </p:nvSpPr>
        <p:spPr>
          <a:xfrm>
            <a:off x="-914400" y="-1280160"/>
            <a:ext cx="3657600" cy="3657600"/>
          </a:xfrm>
          <a:prstGeom prst="ellipse">
            <a:avLst/>
          </a:prstGeom>
          <a:solidFill>
            <a:srgbClr val="97BC62">
              <a:alpha val="20000"/>
            </a:srgbClr>
          </a:solidFill>
          <a:ln w="12700">
            <a:solidFill>
              <a:srgbClr val="97BC62"/>
            </a:solidFill>
            <a:prstDash val="solid"/>
          </a:ln>
        </p:spPr>
      </p:sp>
      <p:sp>
        <p:nvSpPr>
          <p:cNvPr id="4" name="Text 2"/>
          <p:cNvSpPr/>
          <p:nvPr/>
        </p:nvSpPr>
        <p:spPr>
          <a:xfrm>
            <a:off x="1463040" y="2286000"/>
            <a:ext cx="7315200" cy="329184"/>
          </a:xfrm>
          <a:prstGeom prst="rect">
            <a:avLst/>
          </a:prstGeom>
          <a:noFill/>
          <a:ln/>
        </p:spPr>
        <p:txBody>
          <a:bodyPr wrap="square" lIns="0" tIns="0" rIns="0" bIns="0" rtlCol="0" anchor="ctr"/>
          <a:lstStyle/>
          <a:p>
            <a:pPr marL="0" indent="0">
              <a:buNone/>
            </a:pPr>
            <a:r>
              <a:rPr lang="en-US" sz="1200" b="1" kern="0" spc="240" dirty="0">
                <a:solidFill>
                  <a:srgbClr val="D97A26"/>
                </a:solidFill>
                <a:latin typeface="Calibri" pitchFamily="34" charset="0"/>
                <a:ea typeface="Calibri" pitchFamily="34" charset="-122"/>
                <a:cs typeface="Calibri" pitchFamily="34" charset="-120"/>
              </a:rPr>
              <a:t>WORK BREAKDOWN STRUCTURE</a:t>
            </a:r>
            <a:endParaRPr lang="en-US" sz="1200" dirty="0"/>
          </a:p>
        </p:txBody>
      </p:sp>
      <p:sp>
        <p:nvSpPr>
          <p:cNvPr id="5" name="Text 3"/>
          <p:cNvSpPr/>
          <p:nvPr/>
        </p:nvSpPr>
        <p:spPr>
          <a:xfrm>
            <a:off x="1463040" y="2697480"/>
            <a:ext cx="9601200" cy="7772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WBS, Schedule &amp; Cost Baseline</a:t>
            </a:r>
            <a:endParaRPr lang="en-US" sz="4000" dirty="0"/>
          </a:p>
        </p:txBody>
      </p:sp>
      <p:sp>
        <p:nvSpPr>
          <p:cNvPr id="6" name="Text 4"/>
          <p:cNvSpPr/>
          <p:nvPr/>
        </p:nvSpPr>
        <p:spPr>
          <a:xfrm>
            <a:off x="1463040" y="3611880"/>
            <a:ext cx="8412480" cy="822960"/>
          </a:xfrm>
          <a:prstGeom prst="rect">
            <a:avLst/>
          </a:prstGeom>
          <a:noFill/>
          <a:ln/>
        </p:spPr>
        <p:txBody>
          <a:bodyPr wrap="square" lIns="0" tIns="0" rIns="0" bIns="0" rtlCol="0" anchor="ctr"/>
          <a:lstStyle/>
          <a:p>
            <a:pPr marL="0" indent="0">
              <a:lnSpc>
                <a:spcPts val="2400"/>
              </a:lnSpc>
              <a:buNone/>
            </a:pPr>
            <a:r>
              <a:rPr lang="en-US" sz="1500" dirty="0">
                <a:solidFill>
                  <a:srgbClr val="C8D8C4"/>
                </a:solidFill>
                <a:latin typeface="Calibri" pitchFamily="34" charset="0"/>
                <a:ea typeface="Calibri" pitchFamily="34" charset="-122"/>
                <a:cs typeface="Calibri" pitchFamily="34" charset="-120"/>
              </a:rPr>
              <a:t>Five work packages · 41 scheduled tasks · 456 hours of work · $25,010 in resource cost · 15 June to 4 August 2026</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Work Breakdown Structure</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Five work packages decomposed to task level in Microsoft Project</a:t>
            </a:r>
            <a:endParaRPr lang="en-US" sz="1400" dirty="0"/>
          </a:p>
        </p:txBody>
      </p:sp>
      <p:sp>
        <p:nvSpPr>
          <p:cNvPr id="4" name="Text 2"/>
          <p:cNvSpPr/>
          <p:nvPr/>
        </p:nvSpPr>
        <p:spPr>
          <a:xfrm>
            <a:off x="7818120" y="1353312"/>
            <a:ext cx="1097280" cy="256032"/>
          </a:xfrm>
          <a:prstGeom prst="rect">
            <a:avLst/>
          </a:prstGeom>
          <a:noFill/>
          <a:ln/>
        </p:spPr>
        <p:txBody>
          <a:bodyPr wrap="square" lIns="0" tIns="0" rIns="0" bIns="0" rtlCol="0" anchor="ctr"/>
          <a:lstStyle/>
          <a:p>
            <a:pPr marL="0" indent="0" algn="ctr">
              <a:buNone/>
            </a:pPr>
            <a:r>
              <a:rPr lang="en-US" sz="950" b="1" kern="0" spc="100" dirty="0">
                <a:solidFill>
                  <a:srgbClr val="5F6F62"/>
                </a:solidFill>
                <a:latin typeface="Calibri" pitchFamily="34" charset="0"/>
                <a:ea typeface="Calibri" pitchFamily="34" charset="-122"/>
                <a:cs typeface="Calibri" pitchFamily="34" charset="-120"/>
              </a:rPr>
              <a:t>DURATION</a:t>
            </a:r>
            <a:endParaRPr lang="en-US" sz="950" dirty="0"/>
          </a:p>
        </p:txBody>
      </p:sp>
      <p:sp>
        <p:nvSpPr>
          <p:cNvPr id="5" name="Text 3"/>
          <p:cNvSpPr/>
          <p:nvPr/>
        </p:nvSpPr>
        <p:spPr>
          <a:xfrm>
            <a:off x="9006840" y="1353312"/>
            <a:ext cx="1097280" cy="256032"/>
          </a:xfrm>
          <a:prstGeom prst="rect">
            <a:avLst/>
          </a:prstGeom>
          <a:noFill/>
          <a:ln/>
        </p:spPr>
        <p:txBody>
          <a:bodyPr wrap="square" lIns="0" tIns="0" rIns="0" bIns="0" rtlCol="0" anchor="ctr"/>
          <a:lstStyle/>
          <a:p>
            <a:pPr marL="0" indent="0" algn="ctr">
              <a:buNone/>
            </a:pPr>
            <a:r>
              <a:rPr lang="en-US" sz="950" b="1" kern="0" spc="100" dirty="0">
                <a:solidFill>
                  <a:srgbClr val="5F6F62"/>
                </a:solidFill>
                <a:latin typeface="Calibri" pitchFamily="34" charset="0"/>
                <a:ea typeface="Calibri" pitchFamily="34" charset="-122"/>
                <a:cs typeface="Calibri" pitchFamily="34" charset="-120"/>
              </a:rPr>
              <a:t>WORK</a:t>
            </a:r>
            <a:endParaRPr lang="en-US" sz="950" dirty="0"/>
          </a:p>
        </p:txBody>
      </p:sp>
      <p:sp>
        <p:nvSpPr>
          <p:cNvPr id="6" name="Text 4"/>
          <p:cNvSpPr/>
          <p:nvPr/>
        </p:nvSpPr>
        <p:spPr>
          <a:xfrm>
            <a:off x="10241280" y="1353312"/>
            <a:ext cx="1371600" cy="256032"/>
          </a:xfrm>
          <a:prstGeom prst="rect">
            <a:avLst/>
          </a:prstGeom>
          <a:noFill/>
          <a:ln/>
        </p:spPr>
        <p:txBody>
          <a:bodyPr wrap="square" lIns="0" tIns="0" rIns="0" bIns="0" rtlCol="0" anchor="ctr"/>
          <a:lstStyle/>
          <a:p>
            <a:pPr marL="0" indent="0" algn="ctr">
              <a:buNone/>
            </a:pPr>
            <a:r>
              <a:rPr lang="en-US" sz="950" b="1" kern="0" spc="100" dirty="0">
                <a:solidFill>
                  <a:srgbClr val="5F6F62"/>
                </a:solidFill>
                <a:latin typeface="Calibri" pitchFamily="34" charset="0"/>
                <a:ea typeface="Calibri" pitchFamily="34" charset="-122"/>
                <a:cs typeface="Calibri" pitchFamily="34" charset="-120"/>
              </a:rPr>
              <a:t>COST</a:t>
            </a:r>
            <a:endParaRPr lang="en-US" sz="950" dirty="0"/>
          </a:p>
        </p:txBody>
      </p:sp>
      <p:sp>
        <p:nvSpPr>
          <p:cNvPr id="7" name="Shape 5"/>
          <p:cNvSpPr/>
          <p:nvPr/>
        </p:nvSpPr>
        <p:spPr>
          <a:xfrm>
            <a:off x="548640" y="1645920"/>
            <a:ext cx="11091672" cy="731520"/>
          </a:xfrm>
          <a:prstGeom prst="roundRect">
            <a:avLst>
              <a:gd name="adj" fmla="val 11250"/>
            </a:avLst>
          </a:prstGeom>
          <a:solidFill>
            <a:srgbClr val="EEF3EA"/>
          </a:solidFill>
          <a:ln w="12700">
            <a:solidFill>
              <a:srgbClr val="EEF3EA"/>
            </a:solidFill>
            <a:prstDash val="solid"/>
          </a:ln>
        </p:spPr>
      </p:sp>
      <p:sp>
        <p:nvSpPr>
          <p:cNvPr id="8" name="Shape 6"/>
          <p:cNvSpPr/>
          <p:nvPr/>
        </p:nvSpPr>
        <p:spPr>
          <a:xfrm>
            <a:off x="777240" y="1792224"/>
            <a:ext cx="438912" cy="438912"/>
          </a:xfrm>
          <a:prstGeom prst="ellipse">
            <a:avLst/>
          </a:prstGeom>
          <a:solidFill>
            <a:srgbClr val="2C5F2D"/>
          </a:solidFill>
          <a:ln w="12700">
            <a:solidFill>
              <a:srgbClr val="2C5F2D"/>
            </a:solidFill>
            <a:prstDash val="solid"/>
          </a:ln>
        </p:spPr>
      </p:sp>
      <p:sp>
        <p:nvSpPr>
          <p:cNvPr id="9" name="Text 7"/>
          <p:cNvSpPr/>
          <p:nvPr/>
        </p:nvSpPr>
        <p:spPr>
          <a:xfrm>
            <a:off x="777240" y="179222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353312" y="1719072"/>
            <a:ext cx="3017520" cy="310896"/>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Requirements &amp; Analysis</a:t>
            </a:r>
            <a:endParaRPr lang="en-US" sz="1350" dirty="0"/>
          </a:p>
        </p:txBody>
      </p:sp>
      <p:sp>
        <p:nvSpPr>
          <p:cNvPr id="11" name="Text 9"/>
          <p:cNvSpPr/>
          <p:nvPr/>
        </p:nvSpPr>
        <p:spPr>
          <a:xfrm>
            <a:off x="1353312" y="2029968"/>
            <a:ext cx="6309360" cy="292608"/>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Review spreadsheets · identify data entities · stakeholder workshops · document and validate requirements</a:t>
            </a:r>
            <a:endParaRPr lang="en-US" sz="1000" dirty="0"/>
          </a:p>
        </p:txBody>
      </p:sp>
      <p:sp>
        <p:nvSpPr>
          <p:cNvPr id="12" name="Text 10"/>
          <p:cNvSpPr/>
          <p:nvPr/>
        </p:nvSpPr>
        <p:spPr>
          <a:xfrm>
            <a:off x="7818120" y="1645920"/>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5 d</a:t>
            </a:r>
            <a:endParaRPr lang="en-US" sz="1300" dirty="0"/>
          </a:p>
        </p:txBody>
      </p:sp>
      <p:sp>
        <p:nvSpPr>
          <p:cNvPr id="13" name="Text 11"/>
          <p:cNvSpPr/>
          <p:nvPr/>
        </p:nvSpPr>
        <p:spPr>
          <a:xfrm>
            <a:off x="9006840" y="1645920"/>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48 h</a:t>
            </a:r>
            <a:endParaRPr lang="en-US" sz="1300" dirty="0"/>
          </a:p>
        </p:txBody>
      </p:sp>
      <p:sp>
        <p:nvSpPr>
          <p:cNvPr id="14" name="Text 12"/>
          <p:cNvSpPr/>
          <p:nvPr/>
        </p:nvSpPr>
        <p:spPr>
          <a:xfrm>
            <a:off x="10241280" y="1645920"/>
            <a:ext cx="1371600" cy="731520"/>
          </a:xfrm>
          <a:prstGeom prst="rect">
            <a:avLst/>
          </a:prstGeom>
          <a:noFill/>
          <a:ln/>
        </p:spPr>
        <p:txBody>
          <a:bodyPr wrap="square" lIns="0" tIns="0" rIns="0" bIns="0" rtlCol="0" anchor="ctr"/>
          <a:lstStyle/>
          <a:p>
            <a:pPr marL="0" indent="0" algn="ctr">
              <a:buNone/>
            </a:pPr>
            <a:r>
              <a:rPr lang="en-US" sz="1500" b="1" dirty="0">
                <a:solidFill>
                  <a:srgbClr val="2C5F2D"/>
                </a:solidFill>
                <a:latin typeface="Cambria" pitchFamily="34" charset="0"/>
                <a:ea typeface="Cambria" pitchFamily="34" charset="-122"/>
                <a:cs typeface="Cambria" pitchFamily="34" charset="-120"/>
              </a:rPr>
              <a:t>$2,600</a:t>
            </a:r>
            <a:endParaRPr lang="en-US" sz="1500" dirty="0"/>
          </a:p>
        </p:txBody>
      </p:sp>
      <p:sp>
        <p:nvSpPr>
          <p:cNvPr id="15" name="Shape 13"/>
          <p:cNvSpPr/>
          <p:nvPr/>
        </p:nvSpPr>
        <p:spPr>
          <a:xfrm>
            <a:off x="548640" y="2450592"/>
            <a:ext cx="11091672" cy="731520"/>
          </a:xfrm>
          <a:prstGeom prst="roundRect">
            <a:avLst>
              <a:gd name="adj" fmla="val 11250"/>
            </a:avLst>
          </a:prstGeom>
          <a:solidFill>
            <a:srgbClr val="F3F6F0"/>
          </a:solidFill>
          <a:ln w="12700">
            <a:solidFill>
              <a:srgbClr val="F3F6F0"/>
            </a:solidFill>
            <a:prstDash val="solid"/>
          </a:ln>
        </p:spPr>
      </p:sp>
      <p:sp>
        <p:nvSpPr>
          <p:cNvPr id="16" name="Shape 14"/>
          <p:cNvSpPr/>
          <p:nvPr/>
        </p:nvSpPr>
        <p:spPr>
          <a:xfrm>
            <a:off x="777240" y="2596896"/>
            <a:ext cx="438912" cy="438912"/>
          </a:xfrm>
          <a:prstGeom prst="ellipse">
            <a:avLst/>
          </a:prstGeom>
          <a:solidFill>
            <a:srgbClr val="2C5F2D"/>
          </a:solidFill>
          <a:ln w="12700">
            <a:solidFill>
              <a:srgbClr val="2C5F2D"/>
            </a:solidFill>
            <a:prstDash val="solid"/>
          </a:ln>
        </p:spPr>
      </p:sp>
      <p:sp>
        <p:nvSpPr>
          <p:cNvPr id="17" name="Text 15"/>
          <p:cNvSpPr/>
          <p:nvPr/>
        </p:nvSpPr>
        <p:spPr>
          <a:xfrm>
            <a:off x="777240" y="2596896"/>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353312" y="2523744"/>
            <a:ext cx="3017520" cy="310896"/>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Database Design &amp; Build</a:t>
            </a:r>
            <a:endParaRPr lang="en-US" sz="1350" dirty="0"/>
          </a:p>
        </p:txBody>
      </p:sp>
      <p:sp>
        <p:nvSpPr>
          <p:cNvPr id="19" name="Text 17"/>
          <p:cNvSpPr/>
          <p:nvPr/>
        </p:nvSpPr>
        <p:spPr>
          <a:xfrm>
            <a:off x="1353312" y="2834640"/>
            <a:ext cx="6309360" cy="292608"/>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Logical and physical design · configure environment · implement tables and relationships · technical testing</a:t>
            </a:r>
            <a:endParaRPr lang="en-US" sz="1000" dirty="0"/>
          </a:p>
        </p:txBody>
      </p:sp>
      <p:sp>
        <p:nvSpPr>
          <p:cNvPr id="20" name="Text 18"/>
          <p:cNvSpPr/>
          <p:nvPr/>
        </p:nvSpPr>
        <p:spPr>
          <a:xfrm>
            <a:off x="7818120" y="2450592"/>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11 d</a:t>
            </a:r>
            <a:endParaRPr lang="en-US" sz="1300" dirty="0"/>
          </a:p>
        </p:txBody>
      </p:sp>
      <p:sp>
        <p:nvSpPr>
          <p:cNvPr id="21" name="Text 19"/>
          <p:cNvSpPr/>
          <p:nvPr/>
        </p:nvSpPr>
        <p:spPr>
          <a:xfrm>
            <a:off x="9006840" y="2450592"/>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168 h</a:t>
            </a:r>
            <a:endParaRPr lang="en-US" sz="1300" dirty="0"/>
          </a:p>
        </p:txBody>
      </p:sp>
      <p:sp>
        <p:nvSpPr>
          <p:cNvPr id="22" name="Text 20"/>
          <p:cNvSpPr/>
          <p:nvPr/>
        </p:nvSpPr>
        <p:spPr>
          <a:xfrm>
            <a:off x="10241280" y="2450592"/>
            <a:ext cx="1371600" cy="731520"/>
          </a:xfrm>
          <a:prstGeom prst="rect">
            <a:avLst/>
          </a:prstGeom>
          <a:noFill/>
          <a:ln/>
        </p:spPr>
        <p:txBody>
          <a:bodyPr wrap="square" lIns="0" tIns="0" rIns="0" bIns="0" rtlCol="0" anchor="ctr"/>
          <a:lstStyle/>
          <a:p>
            <a:pPr marL="0" indent="0" algn="ctr">
              <a:buNone/>
            </a:pPr>
            <a:r>
              <a:rPr lang="en-US" sz="1500" b="1" dirty="0">
                <a:solidFill>
                  <a:srgbClr val="2C5F2D"/>
                </a:solidFill>
                <a:latin typeface="Cambria" pitchFamily="34" charset="0"/>
                <a:ea typeface="Cambria" pitchFamily="34" charset="-122"/>
                <a:cs typeface="Cambria" pitchFamily="34" charset="-120"/>
              </a:rPr>
              <a:t>$9,380</a:t>
            </a:r>
            <a:endParaRPr lang="en-US" sz="1500" dirty="0"/>
          </a:p>
        </p:txBody>
      </p:sp>
      <p:sp>
        <p:nvSpPr>
          <p:cNvPr id="23" name="Shape 21"/>
          <p:cNvSpPr/>
          <p:nvPr/>
        </p:nvSpPr>
        <p:spPr>
          <a:xfrm>
            <a:off x="548640" y="3255264"/>
            <a:ext cx="11091672" cy="731520"/>
          </a:xfrm>
          <a:prstGeom prst="roundRect">
            <a:avLst>
              <a:gd name="adj" fmla="val 11250"/>
            </a:avLst>
          </a:prstGeom>
          <a:solidFill>
            <a:srgbClr val="EEF3EA"/>
          </a:solidFill>
          <a:ln w="12700">
            <a:solidFill>
              <a:srgbClr val="EEF3EA"/>
            </a:solidFill>
            <a:prstDash val="solid"/>
          </a:ln>
        </p:spPr>
      </p:sp>
      <p:sp>
        <p:nvSpPr>
          <p:cNvPr id="24" name="Shape 22"/>
          <p:cNvSpPr/>
          <p:nvPr/>
        </p:nvSpPr>
        <p:spPr>
          <a:xfrm>
            <a:off x="777240" y="3401568"/>
            <a:ext cx="438912" cy="438912"/>
          </a:xfrm>
          <a:prstGeom prst="ellipse">
            <a:avLst/>
          </a:prstGeom>
          <a:solidFill>
            <a:srgbClr val="2C5F2D"/>
          </a:solidFill>
          <a:ln w="12700">
            <a:solidFill>
              <a:srgbClr val="2C5F2D"/>
            </a:solidFill>
            <a:prstDash val="solid"/>
          </a:ln>
        </p:spPr>
      </p:sp>
      <p:sp>
        <p:nvSpPr>
          <p:cNvPr id="25" name="Text 23"/>
          <p:cNvSpPr/>
          <p:nvPr/>
        </p:nvSpPr>
        <p:spPr>
          <a:xfrm>
            <a:off x="777240" y="340156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1353312" y="3328416"/>
            <a:ext cx="3017520" cy="310896"/>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Data Migration</a:t>
            </a:r>
            <a:endParaRPr lang="en-US" sz="1350" dirty="0"/>
          </a:p>
        </p:txBody>
      </p:sp>
      <p:sp>
        <p:nvSpPr>
          <p:cNvPr id="27" name="Text 25"/>
          <p:cNvSpPr/>
          <p:nvPr/>
        </p:nvSpPr>
        <p:spPr>
          <a:xfrm>
            <a:off x="1353312" y="3639312"/>
            <a:ext cx="6309360" cy="292608"/>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Assess data quality · clean and standardize · build import process · load and validate</a:t>
            </a:r>
            <a:endParaRPr lang="en-US" sz="1000" dirty="0"/>
          </a:p>
        </p:txBody>
      </p:sp>
      <p:sp>
        <p:nvSpPr>
          <p:cNvPr id="28" name="Text 26"/>
          <p:cNvSpPr/>
          <p:nvPr/>
        </p:nvSpPr>
        <p:spPr>
          <a:xfrm>
            <a:off x="7818120" y="3255264"/>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3.5 d</a:t>
            </a:r>
            <a:endParaRPr lang="en-US" sz="1300" dirty="0"/>
          </a:p>
        </p:txBody>
      </p:sp>
      <p:sp>
        <p:nvSpPr>
          <p:cNvPr id="29" name="Text 27"/>
          <p:cNvSpPr/>
          <p:nvPr/>
        </p:nvSpPr>
        <p:spPr>
          <a:xfrm>
            <a:off x="9006840" y="3255264"/>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72 h</a:t>
            </a:r>
            <a:endParaRPr lang="en-US" sz="1300" dirty="0"/>
          </a:p>
        </p:txBody>
      </p:sp>
      <p:sp>
        <p:nvSpPr>
          <p:cNvPr id="30" name="Text 28"/>
          <p:cNvSpPr/>
          <p:nvPr/>
        </p:nvSpPr>
        <p:spPr>
          <a:xfrm>
            <a:off x="10241280" y="3255264"/>
            <a:ext cx="1371600" cy="731520"/>
          </a:xfrm>
          <a:prstGeom prst="rect">
            <a:avLst/>
          </a:prstGeom>
          <a:noFill/>
          <a:ln/>
        </p:spPr>
        <p:txBody>
          <a:bodyPr wrap="square" lIns="0" tIns="0" rIns="0" bIns="0" rtlCol="0" anchor="ctr"/>
          <a:lstStyle/>
          <a:p>
            <a:pPr marL="0" indent="0" algn="ctr">
              <a:buNone/>
            </a:pPr>
            <a:r>
              <a:rPr lang="en-US" sz="1500" b="1" dirty="0">
                <a:solidFill>
                  <a:srgbClr val="2C5F2D"/>
                </a:solidFill>
                <a:latin typeface="Cambria" pitchFamily="34" charset="0"/>
                <a:ea typeface="Cambria" pitchFamily="34" charset="-122"/>
                <a:cs typeface="Cambria" pitchFamily="34" charset="-120"/>
              </a:rPr>
              <a:t>$3,320</a:t>
            </a:r>
            <a:endParaRPr lang="en-US" sz="1500" dirty="0"/>
          </a:p>
        </p:txBody>
      </p:sp>
      <p:sp>
        <p:nvSpPr>
          <p:cNvPr id="31" name="Shape 29"/>
          <p:cNvSpPr/>
          <p:nvPr/>
        </p:nvSpPr>
        <p:spPr>
          <a:xfrm>
            <a:off x="548640" y="4059936"/>
            <a:ext cx="11091672" cy="731520"/>
          </a:xfrm>
          <a:prstGeom prst="roundRect">
            <a:avLst>
              <a:gd name="adj" fmla="val 11250"/>
            </a:avLst>
          </a:prstGeom>
          <a:solidFill>
            <a:srgbClr val="F3F6F0"/>
          </a:solidFill>
          <a:ln w="12700">
            <a:solidFill>
              <a:srgbClr val="F3F6F0"/>
            </a:solidFill>
            <a:prstDash val="solid"/>
          </a:ln>
        </p:spPr>
      </p:sp>
      <p:sp>
        <p:nvSpPr>
          <p:cNvPr id="32" name="Shape 30"/>
          <p:cNvSpPr/>
          <p:nvPr/>
        </p:nvSpPr>
        <p:spPr>
          <a:xfrm>
            <a:off x="777240" y="4206240"/>
            <a:ext cx="438912" cy="438912"/>
          </a:xfrm>
          <a:prstGeom prst="ellipse">
            <a:avLst/>
          </a:prstGeom>
          <a:solidFill>
            <a:srgbClr val="2C5F2D"/>
          </a:solidFill>
          <a:ln w="12700">
            <a:solidFill>
              <a:srgbClr val="2C5F2D"/>
            </a:solidFill>
            <a:prstDash val="solid"/>
          </a:ln>
        </p:spPr>
      </p:sp>
      <p:sp>
        <p:nvSpPr>
          <p:cNvPr id="33" name="Text 31"/>
          <p:cNvSpPr/>
          <p:nvPr/>
        </p:nvSpPr>
        <p:spPr>
          <a:xfrm>
            <a:off x="777240" y="4206240"/>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Text 32"/>
          <p:cNvSpPr/>
          <p:nvPr/>
        </p:nvSpPr>
        <p:spPr>
          <a:xfrm>
            <a:off x="1353312" y="4133088"/>
            <a:ext cx="3017520" cy="310896"/>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Reporting &amp; Training</a:t>
            </a:r>
            <a:endParaRPr lang="en-US" sz="1350" dirty="0"/>
          </a:p>
        </p:txBody>
      </p:sp>
      <p:sp>
        <p:nvSpPr>
          <p:cNvPr id="35" name="Text 33"/>
          <p:cNvSpPr/>
          <p:nvPr/>
        </p:nvSpPr>
        <p:spPr>
          <a:xfrm>
            <a:off x="1353312" y="4443984"/>
            <a:ext cx="6309360" cy="292608"/>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Identify and design reports · implement dashboard · UAT · user guides · training · handover</a:t>
            </a:r>
            <a:endParaRPr lang="en-US" sz="1000" dirty="0"/>
          </a:p>
        </p:txBody>
      </p:sp>
      <p:sp>
        <p:nvSpPr>
          <p:cNvPr id="36" name="Text 34"/>
          <p:cNvSpPr/>
          <p:nvPr/>
        </p:nvSpPr>
        <p:spPr>
          <a:xfrm>
            <a:off x="7818120" y="4059936"/>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7.5 d</a:t>
            </a:r>
            <a:endParaRPr lang="en-US" sz="1300" dirty="0"/>
          </a:p>
        </p:txBody>
      </p:sp>
      <p:sp>
        <p:nvSpPr>
          <p:cNvPr id="37" name="Text 35"/>
          <p:cNvSpPr/>
          <p:nvPr/>
        </p:nvSpPr>
        <p:spPr>
          <a:xfrm>
            <a:off x="9006840" y="4059936"/>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88 h</a:t>
            </a:r>
            <a:endParaRPr lang="en-US" sz="1300" dirty="0"/>
          </a:p>
        </p:txBody>
      </p:sp>
      <p:sp>
        <p:nvSpPr>
          <p:cNvPr id="38" name="Text 36"/>
          <p:cNvSpPr/>
          <p:nvPr/>
        </p:nvSpPr>
        <p:spPr>
          <a:xfrm>
            <a:off x="10241280" y="4059936"/>
            <a:ext cx="1371600" cy="731520"/>
          </a:xfrm>
          <a:prstGeom prst="rect">
            <a:avLst/>
          </a:prstGeom>
          <a:noFill/>
          <a:ln/>
        </p:spPr>
        <p:txBody>
          <a:bodyPr wrap="square" lIns="0" tIns="0" rIns="0" bIns="0" rtlCol="0" anchor="ctr"/>
          <a:lstStyle/>
          <a:p>
            <a:pPr marL="0" indent="0" algn="ctr">
              <a:buNone/>
            </a:pPr>
            <a:r>
              <a:rPr lang="en-US" sz="1500" b="1" dirty="0">
                <a:solidFill>
                  <a:srgbClr val="2C5F2D"/>
                </a:solidFill>
                <a:latin typeface="Cambria" pitchFamily="34" charset="0"/>
                <a:ea typeface="Cambria" pitchFamily="34" charset="-122"/>
                <a:cs typeface="Cambria" pitchFamily="34" charset="-120"/>
              </a:rPr>
              <a:t>$4,990</a:t>
            </a:r>
            <a:endParaRPr lang="en-US" sz="1500" dirty="0"/>
          </a:p>
        </p:txBody>
      </p:sp>
      <p:sp>
        <p:nvSpPr>
          <p:cNvPr id="39" name="Shape 37"/>
          <p:cNvSpPr/>
          <p:nvPr/>
        </p:nvSpPr>
        <p:spPr>
          <a:xfrm>
            <a:off x="548640" y="4864608"/>
            <a:ext cx="11091672" cy="731520"/>
          </a:xfrm>
          <a:prstGeom prst="roundRect">
            <a:avLst>
              <a:gd name="adj" fmla="val 11250"/>
            </a:avLst>
          </a:prstGeom>
          <a:solidFill>
            <a:srgbClr val="EEF3EA"/>
          </a:solidFill>
          <a:ln w="12700">
            <a:solidFill>
              <a:srgbClr val="EEF3EA"/>
            </a:solidFill>
            <a:prstDash val="solid"/>
          </a:ln>
        </p:spPr>
      </p:sp>
      <p:sp>
        <p:nvSpPr>
          <p:cNvPr id="40" name="Shape 38"/>
          <p:cNvSpPr/>
          <p:nvPr/>
        </p:nvSpPr>
        <p:spPr>
          <a:xfrm>
            <a:off x="777240" y="5010912"/>
            <a:ext cx="438912" cy="438912"/>
          </a:xfrm>
          <a:prstGeom prst="ellipse">
            <a:avLst/>
          </a:prstGeom>
          <a:solidFill>
            <a:srgbClr val="2C5F2D"/>
          </a:solidFill>
          <a:ln w="12700">
            <a:solidFill>
              <a:srgbClr val="2C5F2D"/>
            </a:solidFill>
            <a:prstDash val="solid"/>
          </a:ln>
        </p:spPr>
      </p:sp>
      <p:sp>
        <p:nvSpPr>
          <p:cNvPr id="41" name="Text 39"/>
          <p:cNvSpPr/>
          <p:nvPr/>
        </p:nvSpPr>
        <p:spPr>
          <a:xfrm>
            <a:off x="777240" y="5010912"/>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2" name="Text 40"/>
          <p:cNvSpPr/>
          <p:nvPr/>
        </p:nvSpPr>
        <p:spPr>
          <a:xfrm>
            <a:off x="1353312" y="4937760"/>
            <a:ext cx="3017520" cy="310896"/>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Project Management</a:t>
            </a:r>
            <a:endParaRPr lang="en-US" sz="1350" dirty="0"/>
          </a:p>
        </p:txBody>
      </p:sp>
      <p:sp>
        <p:nvSpPr>
          <p:cNvPr id="43" name="Text 41"/>
          <p:cNvSpPr/>
          <p:nvPr/>
        </p:nvSpPr>
        <p:spPr>
          <a:xfrm>
            <a:off x="1353312" y="5248656"/>
            <a:ext cx="6309360" cy="292608"/>
          </a:xfrm>
          <a:prstGeom prst="rect">
            <a:avLst/>
          </a:prstGeom>
          <a:noFill/>
          <a:ln/>
        </p:spPr>
        <p:txBody>
          <a:bodyPr wrap="square" lIns="0" tIns="0" rIns="0" bIns="0" rtlCol="0" anchor="ctr"/>
          <a:lstStyle/>
          <a:p>
            <a:pPr marL="0" indent="0">
              <a:buNone/>
            </a:pPr>
            <a:r>
              <a:rPr lang="en-US" sz="1000" dirty="0">
                <a:solidFill>
                  <a:srgbClr val="5F6F62"/>
                </a:solidFill>
                <a:latin typeface="Calibri" pitchFamily="34" charset="0"/>
                <a:ea typeface="Calibri" pitchFamily="34" charset="-122"/>
                <a:cs typeface="Calibri" pitchFamily="34" charset="-120"/>
              </a:rPr>
              <a:t>Initiation and kickoff · status reporting · risk and issue management · closure and lessons learned</a:t>
            </a:r>
            <a:endParaRPr lang="en-US" sz="1000" dirty="0"/>
          </a:p>
        </p:txBody>
      </p:sp>
      <p:sp>
        <p:nvSpPr>
          <p:cNvPr id="44" name="Text 42"/>
          <p:cNvSpPr/>
          <p:nvPr/>
        </p:nvSpPr>
        <p:spPr>
          <a:xfrm>
            <a:off x="7818120" y="4864608"/>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9 d</a:t>
            </a:r>
            <a:endParaRPr lang="en-US" sz="1300" dirty="0"/>
          </a:p>
        </p:txBody>
      </p:sp>
      <p:sp>
        <p:nvSpPr>
          <p:cNvPr id="45" name="Text 43"/>
          <p:cNvSpPr/>
          <p:nvPr/>
        </p:nvSpPr>
        <p:spPr>
          <a:xfrm>
            <a:off x="9006840" y="4864608"/>
            <a:ext cx="1097280" cy="731520"/>
          </a:xfrm>
          <a:prstGeom prst="rect">
            <a:avLst/>
          </a:prstGeom>
          <a:noFill/>
          <a:ln/>
        </p:spPr>
        <p:txBody>
          <a:bodyPr wrap="square" lIns="0" tIns="0" rIns="0" bIns="0" rtlCol="0" anchor="ctr"/>
          <a:lstStyle/>
          <a:p>
            <a:pPr marL="0" indent="0" algn="ctr">
              <a:buNone/>
            </a:pPr>
            <a:r>
              <a:rPr lang="en-US" sz="1300" b="1" dirty="0">
                <a:solidFill>
                  <a:srgbClr val="1A2E20"/>
                </a:solidFill>
                <a:latin typeface="Calibri" pitchFamily="34" charset="0"/>
                <a:ea typeface="Calibri" pitchFamily="34" charset="-122"/>
                <a:cs typeface="Calibri" pitchFamily="34" charset="-120"/>
              </a:rPr>
              <a:t>80 h</a:t>
            </a:r>
            <a:endParaRPr lang="en-US" sz="1300" dirty="0"/>
          </a:p>
        </p:txBody>
      </p:sp>
      <p:sp>
        <p:nvSpPr>
          <p:cNvPr id="46" name="Text 44"/>
          <p:cNvSpPr/>
          <p:nvPr/>
        </p:nvSpPr>
        <p:spPr>
          <a:xfrm>
            <a:off x="10241280" y="4864608"/>
            <a:ext cx="1371600" cy="731520"/>
          </a:xfrm>
          <a:prstGeom prst="rect">
            <a:avLst/>
          </a:prstGeom>
          <a:noFill/>
          <a:ln/>
        </p:spPr>
        <p:txBody>
          <a:bodyPr wrap="square" lIns="0" tIns="0" rIns="0" bIns="0" rtlCol="0" anchor="ctr"/>
          <a:lstStyle/>
          <a:p>
            <a:pPr marL="0" indent="0" algn="ctr">
              <a:buNone/>
            </a:pPr>
            <a:r>
              <a:rPr lang="en-US" sz="1500" b="1" dirty="0">
                <a:solidFill>
                  <a:srgbClr val="2C5F2D"/>
                </a:solidFill>
                <a:latin typeface="Cambria" pitchFamily="34" charset="0"/>
                <a:ea typeface="Cambria" pitchFamily="34" charset="-122"/>
                <a:cs typeface="Cambria" pitchFamily="34" charset="-120"/>
              </a:rPr>
              <a:t>$4,720</a:t>
            </a:r>
            <a:endParaRPr lang="en-US" sz="1500" dirty="0"/>
          </a:p>
        </p:txBody>
      </p:sp>
      <p:sp>
        <p:nvSpPr>
          <p:cNvPr id="47" name="Shape 45"/>
          <p:cNvSpPr/>
          <p:nvPr/>
        </p:nvSpPr>
        <p:spPr>
          <a:xfrm>
            <a:off x="548640" y="5669280"/>
            <a:ext cx="11091672" cy="658368"/>
          </a:xfrm>
          <a:prstGeom prst="roundRect">
            <a:avLst>
              <a:gd name="adj" fmla="val 12500"/>
            </a:avLst>
          </a:prstGeom>
          <a:solidFill>
            <a:srgbClr val="163D24"/>
          </a:solidFill>
          <a:ln w="12700">
            <a:solidFill>
              <a:srgbClr val="163D24"/>
            </a:solidFill>
            <a:prstDash val="solid"/>
          </a:ln>
        </p:spPr>
      </p:sp>
      <p:sp>
        <p:nvSpPr>
          <p:cNvPr id="48" name="Text 46"/>
          <p:cNvSpPr/>
          <p:nvPr/>
        </p:nvSpPr>
        <p:spPr>
          <a:xfrm>
            <a:off x="1353312" y="5669280"/>
            <a:ext cx="630936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TOTAL  ·  41 scheduled tasks across 5 work packages</a:t>
            </a:r>
            <a:endParaRPr lang="en-US" sz="1300" dirty="0"/>
          </a:p>
        </p:txBody>
      </p:sp>
      <p:sp>
        <p:nvSpPr>
          <p:cNvPr id="49" name="Text 47"/>
          <p:cNvSpPr/>
          <p:nvPr/>
        </p:nvSpPr>
        <p:spPr>
          <a:xfrm>
            <a:off x="7818120" y="5669280"/>
            <a:ext cx="109728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36.5 d</a:t>
            </a:r>
            <a:endParaRPr lang="en-US" sz="1300" dirty="0"/>
          </a:p>
        </p:txBody>
      </p:sp>
      <p:sp>
        <p:nvSpPr>
          <p:cNvPr id="50" name="Text 48"/>
          <p:cNvSpPr/>
          <p:nvPr/>
        </p:nvSpPr>
        <p:spPr>
          <a:xfrm>
            <a:off x="9006840" y="5669280"/>
            <a:ext cx="109728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456 h</a:t>
            </a:r>
            <a:endParaRPr lang="en-US" sz="1300" dirty="0"/>
          </a:p>
        </p:txBody>
      </p:sp>
      <p:sp>
        <p:nvSpPr>
          <p:cNvPr id="51" name="Text 49"/>
          <p:cNvSpPr/>
          <p:nvPr/>
        </p:nvSpPr>
        <p:spPr>
          <a:xfrm>
            <a:off x="10241280" y="5669280"/>
            <a:ext cx="1371600" cy="658368"/>
          </a:xfrm>
          <a:prstGeom prst="rect">
            <a:avLst/>
          </a:prstGeom>
          <a:noFill/>
          <a:ln/>
        </p:spPr>
        <p:txBody>
          <a:bodyPr wrap="square" lIns="0" tIns="0" rIns="0" bIns="0" rtlCol="0" anchor="ctr"/>
          <a:lstStyle/>
          <a:p>
            <a:pPr marL="0" indent="0" algn="ctr">
              <a:buNone/>
            </a:pPr>
            <a:r>
              <a:rPr lang="en-US" sz="1600" b="1" dirty="0">
                <a:solidFill>
                  <a:srgbClr val="97BC62"/>
                </a:solidFill>
                <a:latin typeface="Cambria" pitchFamily="34" charset="0"/>
                <a:ea typeface="Cambria" pitchFamily="34" charset="-122"/>
                <a:cs typeface="Cambria" pitchFamily="34" charset="-120"/>
              </a:rPr>
              <a:t>$25,010</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Project Schedule</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Microsoft Project baseline — 15 June to 4 August 2026, 36 working days</a:t>
            </a:r>
            <a:endParaRPr lang="en-US" sz="1400" dirty="0"/>
          </a:p>
        </p:txBody>
      </p:sp>
      <p:sp>
        <p:nvSpPr>
          <p:cNvPr id="4" name="Shape 2"/>
          <p:cNvSpPr/>
          <p:nvPr/>
        </p:nvSpPr>
        <p:spPr>
          <a:xfrm>
            <a:off x="3566160" y="1828800"/>
            <a:ext cx="20117" cy="3108960"/>
          </a:xfrm>
          <a:prstGeom prst="rect">
            <a:avLst/>
          </a:prstGeom>
          <a:solidFill>
            <a:srgbClr val="E4EBE0"/>
          </a:solidFill>
          <a:ln w="12700">
            <a:solidFill>
              <a:srgbClr val="E4EBE0"/>
            </a:solidFill>
            <a:prstDash val="solid"/>
          </a:ln>
        </p:spPr>
      </p:sp>
      <p:sp>
        <p:nvSpPr>
          <p:cNvPr id="5" name="Shape 3"/>
          <p:cNvSpPr/>
          <p:nvPr/>
        </p:nvSpPr>
        <p:spPr>
          <a:xfrm>
            <a:off x="4658360" y="1828800"/>
            <a:ext cx="20117" cy="3108960"/>
          </a:xfrm>
          <a:prstGeom prst="rect">
            <a:avLst/>
          </a:prstGeom>
          <a:solidFill>
            <a:srgbClr val="E4EBE0"/>
          </a:solidFill>
          <a:ln w="12700">
            <a:solidFill>
              <a:srgbClr val="E4EBE0"/>
            </a:solidFill>
            <a:prstDash val="solid"/>
          </a:ln>
        </p:spPr>
      </p:sp>
      <p:sp>
        <p:nvSpPr>
          <p:cNvPr id="6" name="Shape 4"/>
          <p:cNvSpPr/>
          <p:nvPr/>
        </p:nvSpPr>
        <p:spPr>
          <a:xfrm>
            <a:off x="5750560" y="1828800"/>
            <a:ext cx="20117" cy="3108960"/>
          </a:xfrm>
          <a:prstGeom prst="rect">
            <a:avLst/>
          </a:prstGeom>
          <a:solidFill>
            <a:srgbClr val="E4EBE0"/>
          </a:solidFill>
          <a:ln w="12700">
            <a:solidFill>
              <a:srgbClr val="E4EBE0"/>
            </a:solidFill>
            <a:prstDash val="solid"/>
          </a:ln>
        </p:spPr>
      </p:sp>
      <p:sp>
        <p:nvSpPr>
          <p:cNvPr id="7" name="Shape 5"/>
          <p:cNvSpPr/>
          <p:nvPr/>
        </p:nvSpPr>
        <p:spPr>
          <a:xfrm>
            <a:off x="6842760" y="1828800"/>
            <a:ext cx="20117" cy="3108960"/>
          </a:xfrm>
          <a:prstGeom prst="rect">
            <a:avLst/>
          </a:prstGeom>
          <a:solidFill>
            <a:srgbClr val="E4EBE0"/>
          </a:solidFill>
          <a:ln w="12700">
            <a:solidFill>
              <a:srgbClr val="E4EBE0"/>
            </a:solidFill>
            <a:prstDash val="solid"/>
          </a:ln>
        </p:spPr>
      </p:sp>
      <p:sp>
        <p:nvSpPr>
          <p:cNvPr id="8" name="Shape 6"/>
          <p:cNvSpPr/>
          <p:nvPr/>
        </p:nvSpPr>
        <p:spPr>
          <a:xfrm>
            <a:off x="7934960" y="1828800"/>
            <a:ext cx="20117" cy="3108960"/>
          </a:xfrm>
          <a:prstGeom prst="rect">
            <a:avLst/>
          </a:prstGeom>
          <a:solidFill>
            <a:srgbClr val="E4EBE0"/>
          </a:solidFill>
          <a:ln w="12700">
            <a:solidFill>
              <a:srgbClr val="E4EBE0"/>
            </a:solidFill>
            <a:prstDash val="solid"/>
          </a:ln>
        </p:spPr>
      </p:sp>
      <p:sp>
        <p:nvSpPr>
          <p:cNvPr id="9" name="Shape 7"/>
          <p:cNvSpPr/>
          <p:nvPr/>
        </p:nvSpPr>
        <p:spPr>
          <a:xfrm>
            <a:off x="9027160" y="1828800"/>
            <a:ext cx="20117" cy="3108960"/>
          </a:xfrm>
          <a:prstGeom prst="rect">
            <a:avLst/>
          </a:prstGeom>
          <a:solidFill>
            <a:srgbClr val="E4EBE0"/>
          </a:solidFill>
          <a:ln w="12700">
            <a:solidFill>
              <a:srgbClr val="E4EBE0"/>
            </a:solidFill>
            <a:prstDash val="solid"/>
          </a:ln>
        </p:spPr>
      </p:sp>
      <p:sp>
        <p:nvSpPr>
          <p:cNvPr id="10" name="Shape 8"/>
          <p:cNvSpPr/>
          <p:nvPr/>
        </p:nvSpPr>
        <p:spPr>
          <a:xfrm>
            <a:off x="10119360" y="1828800"/>
            <a:ext cx="20117" cy="3108960"/>
          </a:xfrm>
          <a:prstGeom prst="rect">
            <a:avLst/>
          </a:prstGeom>
          <a:solidFill>
            <a:srgbClr val="E4EBE0"/>
          </a:solidFill>
          <a:ln w="12700">
            <a:solidFill>
              <a:srgbClr val="E4EBE0"/>
            </a:solidFill>
            <a:prstDash val="solid"/>
          </a:ln>
        </p:spPr>
      </p:sp>
      <p:sp>
        <p:nvSpPr>
          <p:cNvPr id="11" name="Shape 9"/>
          <p:cNvSpPr/>
          <p:nvPr/>
        </p:nvSpPr>
        <p:spPr>
          <a:xfrm>
            <a:off x="11211560" y="1828800"/>
            <a:ext cx="20117" cy="3108960"/>
          </a:xfrm>
          <a:prstGeom prst="rect">
            <a:avLst/>
          </a:prstGeom>
          <a:solidFill>
            <a:srgbClr val="E4EBE0"/>
          </a:solidFill>
          <a:ln w="12700">
            <a:solidFill>
              <a:srgbClr val="E4EBE0"/>
            </a:solidFill>
            <a:prstDash val="solid"/>
          </a:ln>
        </p:spPr>
      </p:sp>
      <p:sp>
        <p:nvSpPr>
          <p:cNvPr id="12" name="Text 10"/>
          <p:cNvSpPr/>
          <p:nvPr/>
        </p:nvSpPr>
        <p:spPr>
          <a:xfrm>
            <a:off x="3182112" y="1517904"/>
            <a:ext cx="768096" cy="256032"/>
          </a:xfrm>
          <a:prstGeom prst="rect">
            <a:avLst/>
          </a:prstGeom>
          <a:noFill/>
          <a:ln/>
        </p:spPr>
        <p:txBody>
          <a:bodyPr wrap="square" lIns="0" tIns="0" rIns="0" bIns="0" rtlCol="0" anchor="ctr"/>
          <a:lstStyle/>
          <a:p>
            <a:pPr marL="0" indent="0" algn="ctr">
              <a:buNone/>
            </a:pPr>
            <a:r>
              <a:rPr lang="en-US" sz="900" dirty="0">
                <a:solidFill>
                  <a:srgbClr val="5F6F62"/>
                </a:solidFill>
                <a:latin typeface="Calibri" pitchFamily="34" charset="0"/>
                <a:ea typeface="Calibri" pitchFamily="34" charset="-122"/>
                <a:cs typeface="Calibri" pitchFamily="34" charset="-120"/>
              </a:rPr>
              <a:t>15 Jun</a:t>
            </a:r>
            <a:endParaRPr lang="en-US" sz="900" dirty="0"/>
          </a:p>
        </p:txBody>
      </p:sp>
      <p:sp>
        <p:nvSpPr>
          <p:cNvPr id="13" name="Text 11"/>
          <p:cNvSpPr/>
          <p:nvPr/>
        </p:nvSpPr>
        <p:spPr>
          <a:xfrm>
            <a:off x="4274312" y="1517904"/>
            <a:ext cx="768096" cy="256032"/>
          </a:xfrm>
          <a:prstGeom prst="rect">
            <a:avLst/>
          </a:prstGeom>
          <a:noFill/>
          <a:ln/>
        </p:spPr>
        <p:txBody>
          <a:bodyPr wrap="square" lIns="0" tIns="0" rIns="0" bIns="0" rtlCol="0" anchor="ctr"/>
          <a:lstStyle/>
          <a:p>
            <a:pPr marL="0" indent="0" algn="ctr">
              <a:buNone/>
            </a:pPr>
            <a:r>
              <a:rPr lang="en-US" sz="900" dirty="0">
                <a:solidFill>
                  <a:srgbClr val="5F6F62"/>
                </a:solidFill>
                <a:latin typeface="Calibri" pitchFamily="34" charset="0"/>
                <a:ea typeface="Calibri" pitchFamily="34" charset="-122"/>
                <a:cs typeface="Calibri" pitchFamily="34" charset="-120"/>
              </a:rPr>
              <a:t>22 Jun</a:t>
            </a:r>
            <a:endParaRPr lang="en-US" sz="900" dirty="0"/>
          </a:p>
        </p:txBody>
      </p:sp>
      <p:sp>
        <p:nvSpPr>
          <p:cNvPr id="14" name="Text 12"/>
          <p:cNvSpPr/>
          <p:nvPr/>
        </p:nvSpPr>
        <p:spPr>
          <a:xfrm>
            <a:off x="5366512" y="1517904"/>
            <a:ext cx="768096" cy="256032"/>
          </a:xfrm>
          <a:prstGeom prst="rect">
            <a:avLst/>
          </a:prstGeom>
          <a:noFill/>
          <a:ln/>
        </p:spPr>
        <p:txBody>
          <a:bodyPr wrap="square" lIns="0" tIns="0" rIns="0" bIns="0" rtlCol="0" anchor="ctr"/>
          <a:lstStyle/>
          <a:p>
            <a:pPr marL="0" indent="0" algn="ctr">
              <a:buNone/>
            </a:pPr>
            <a:r>
              <a:rPr lang="en-US" sz="900" dirty="0">
                <a:solidFill>
                  <a:srgbClr val="5F6F62"/>
                </a:solidFill>
                <a:latin typeface="Calibri" pitchFamily="34" charset="0"/>
                <a:ea typeface="Calibri" pitchFamily="34" charset="-122"/>
                <a:cs typeface="Calibri" pitchFamily="34" charset="-120"/>
              </a:rPr>
              <a:t>29 Jun</a:t>
            </a:r>
            <a:endParaRPr lang="en-US" sz="900" dirty="0"/>
          </a:p>
        </p:txBody>
      </p:sp>
      <p:sp>
        <p:nvSpPr>
          <p:cNvPr id="15" name="Text 13"/>
          <p:cNvSpPr/>
          <p:nvPr/>
        </p:nvSpPr>
        <p:spPr>
          <a:xfrm>
            <a:off x="6458712" y="1517904"/>
            <a:ext cx="768096" cy="256032"/>
          </a:xfrm>
          <a:prstGeom prst="rect">
            <a:avLst/>
          </a:prstGeom>
          <a:noFill/>
          <a:ln/>
        </p:spPr>
        <p:txBody>
          <a:bodyPr wrap="square" lIns="0" tIns="0" rIns="0" bIns="0" rtlCol="0" anchor="ctr"/>
          <a:lstStyle/>
          <a:p>
            <a:pPr marL="0" indent="0" algn="ctr">
              <a:buNone/>
            </a:pPr>
            <a:r>
              <a:rPr lang="en-US" sz="900" dirty="0">
                <a:solidFill>
                  <a:srgbClr val="5F6F62"/>
                </a:solidFill>
                <a:latin typeface="Calibri" pitchFamily="34" charset="0"/>
                <a:ea typeface="Calibri" pitchFamily="34" charset="-122"/>
                <a:cs typeface="Calibri" pitchFamily="34" charset="-120"/>
              </a:rPr>
              <a:t>6 Jul</a:t>
            </a:r>
            <a:endParaRPr lang="en-US" sz="900" dirty="0"/>
          </a:p>
        </p:txBody>
      </p:sp>
      <p:sp>
        <p:nvSpPr>
          <p:cNvPr id="16" name="Text 14"/>
          <p:cNvSpPr/>
          <p:nvPr/>
        </p:nvSpPr>
        <p:spPr>
          <a:xfrm>
            <a:off x="7550912" y="1517904"/>
            <a:ext cx="768096" cy="256032"/>
          </a:xfrm>
          <a:prstGeom prst="rect">
            <a:avLst/>
          </a:prstGeom>
          <a:noFill/>
          <a:ln/>
        </p:spPr>
        <p:txBody>
          <a:bodyPr wrap="square" lIns="0" tIns="0" rIns="0" bIns="0" rtlCol="0" anchor="ctr"/>
          <a:lstStyle/>
          <a:p>
            <a:pPr marL="0" indent="0" algn="ctr">
              <a:buNone/>
            </a:pPr>
            <a:r>
              <a:rPr lang="en-US" sz="900" dirty="0">
                <a:solidFill>
                  <a:srgbClr val="5F6F62"/>
                </a:solidFill>
                <a:latin typeface="Calibri" pitchFamily="34" charset="0"/>
                <a:ea typeface="Calibri" pitchFamily="34" charset="-122"/>
                <a:cs typeface="Calibri" pitchFamily="34" charset="-120"/>
              </a:rPr>
              <a:t>13 Jul</a:t>
            </a:r>
            <a:endParaRPr lang="en-US" sz="900" dirty="0"/>
          </a:p>
        </p:txBody>
      </p:sp>
      <p:sp>
        <p:nvSpPr>
          <p:cNvPr id="17" name="Text 15"/>
          <p:cNvSpPr/>
          <p:nvPr/>
        </p:nvSpPr>
        <p:spPr>
          <a:xfrm>
            <a:off x="8643112" y="1517904"/>
            <a:ext cx="768096" cy="256032"/>
          </a:xfrm>
          <a:prstGeom prst="rect">
            <a:avLst/>
          </a:prstGeom>
          <a:noFill/>
          <a:ln/>
        </p:spPr>
        <p:txBody>
          <a:bodyPr wrap="square" lIns="0" tIns="0" rIns="0" bIns="0" rtlCol="0" anchor="ctr"/>
          <a:lstStyle/>
          <a:p>
            <a:pPr marL="0" indent="0" algn="ctr">
              <a:buNone/>
            </a:pPr>
            <a:r>
              <a:rPr lang="en-US" sz="900" dirty="0">
                <a:solidFill>
                  <a:srgbClr val="5F6F62"/>
                </a:solidFill>
                <a:latin typeface="Calibri" pitchFamily="34" charset="0"/>
                <a:ea typeface="Calibri" pitchFamily="34" charset="-122"/>
                <a:cs typeface="Calibri" pitchFamily="34" charset="-120"/>
              </a:rPr>
              <a:t>20 Jul</a:t>
            </a:r>
            <a:endParaRPr lang="en-US" sz="900" dirty="0"/>
          </a:p>
        </p:txBody>
      </p:sp>
      <p:sp>
        <p:nvSpPr>
          <p:cNvPr id="18" name="Text 16"/>
          <p:cNvSpPr/>
          <p:nvPr/>
        </p:nvSpPr>
        <p:spPr>
          <a:xfrm>
            <a:off x="9735312" y="1517904"/>
            <a:ext cx="768096" cy="256032"/>
          </a:xfrm>
          <a:prstGeom prst="rect">
            <a:avLst/>
          </a:prstGeom>
          <a:noFill/>
          <a:ln/>
        </p:spPr>
        <p:txBody>
          <a:bodyPr wrap="square" lIns="0" tIns="0" rIns="0" bIns="0" rtlCol="0" anchor="ctr"/>
          <a:lstStyle/>
          <a:p>
            <a:pPr marL="0" indent="0" algn="ctr">
              <a:buNone/>
            </a:pPr>
            <a:r>
              <a:rPr lang="en-US" sz="900" dirty="0">
                <a:solidFill>
                  <a:srgbClr val="5F6F62"/>
                </a:solidFill>
                <a:latin typeface="Calibri" pitchFamily="34" charset="0"/>
                <a:ea typeface="Calibri" pitchFamily="34" charset="-122"/>
                <a:cs typeface="Calibri" pitchFamily="34" charset="-120"/>
              </a:rPr>
              <a:t>27 Jul</a:t>
            </a:r>
            <a:endParaRPr lang="en-US" sz="900" dirty="0"/>
          </a:p>
        </p:txBody>
      </p:sp>
      <p:sp>
        <p:nvSpPr>
          <p:cNvPr id="19" name="Text 17"/>
          <p:cNvSpPr/>
          <p:nvPr/>
        </p:nvSpPr>
        <p:spPr>
          <a:xfrm>
            <a:off x="10827512" y="1517904"/>
            <a:ext cx="768096" cy="256032"/>
          </a:xfrm>
          <a:prstGeom prst="rect">
            <a:avLst/>
          </a:prstGeom>
          <a:noFill/>
          <a:ln/>
        </p:spPr>
        <p:txBody>
          <a:bodyPr wrap="square" lIns="0" tIns="0" rIns="0" bIns="0" rtlCol="0" anchor="ctr"/>
          <a:lstStyle/>
          <a:p>
            <a:pPr marL="0" indent="0" algn="ctr">
              <a:buNone/>
            </a:pPr>
            <a:r>
              <a:rPr lang="en-US" sz="900" dirty="0">
                <a:solidFill>
                  <a:srgbClr val="5F6F62"/>
                </a:solidFill>
                <a:latin typeface="Calibri" pitchFamily="34" charset="0"/>
                <a:ea typeface="Calibri" pitchFamily="34" charset="-122"/>
                <a:cs typeface="Calibri" pitchFamily="34" charset="-120"/>
              </a:rPr>
              <a:t>3 Aug</a:t>
            </a:r>
            <a:endParaRPr lang="en-US" sz="900" dirty="0"/>
          </a:p>
        </p:txBody>
      </p:sp>
      <p:sp>
        <p:nvSpPr>
          <p:cNvPr id="20" name="Text 18"/>
          <p:cNvSpPr/>
          <p:nvPr/>
        </p:nvSpPr>
        <p:spPr>
          <a:xfrm>
            <a:off x="548640" y="1920240"/>
            <a:ext cx="283464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Requirements &amp; Analysis</a:t>
            </a:r>
            <a:endParaRPr lang="en-US" sz="1250" dirty="0"/>
          </a:p>
        </p:txBody>
      </p:sp>
      <p:sp>
        <p:nvSpPr>
          <p:cNvPr id="21" name="Shape 19"/>
          <p:cNvSpPr/>
          <p:nvPr/>
        </p:nvSpPr>
        <p:spPr>
          <a:xfrm>
            <a:off x="3566160" y="2002536"/>
            <a:ext cx="1092200" cy="310896"/>
          </a:xfrm>
          <a:prstGeom prst="roundRect">
            <a:avLst>
              <a:gd name="adj" fmla="val 117647"/>
            </a:avLst>
          </a:prstGeom>
          <a:solidFill>
            <a:srgbClr val="2C5F2D"/>
          </a:solidFill>
          <a:ln w="12700">
            <a:solidFill>
              <a:srgbClr val="2C5F2D"/>
            </a:solidFill>
            <a:prstDash val="solid"/>
          </a:ln>
        </p:spPr>
      </p:sp>
      <p:sp>
        <p:nvSpPr>
          <p:cNvPr id="22" name="Text 20"/>
          <p:cNvSpPr/>
          <p:nvPr/>
        </p:nvSpPr>
        <p:spPr>
          <a:xfrm>
            <a:off x="548640" y="2212848"/>
            <a:ext cx="2834640" cy="237744"/>
          </a:xfrm>
          <a:prstGeom prst="rect">
            <a:avLst/>
          </a:prstGeom>
          <a:noFill/>
          <a:ln/>
        </p:spPr>
        <p:txBody>
          <a:bodyPr wrap="square" lIns="0" tIns="0" rIns="0" bIns="0" rtlCol="0" anchor="ctr"/>
          <a:lstStyle/>
          <a:p>
            <a:pPr marL="0" indent="0">
              <a:buNone/>
            </a:pPr>
            <a:r>
              <a:rPr lang="en-US" sz="950" dirty="0">
                <a:solidFill>
                  <a:srgbClr val="5F6F62"/>
                </a:solidFill>
                <a:latin typeface="Calibri" pitchFamily="34" charset="0"/>
                <a:ea typeface="Calibri" pitchFamily="34" charset="-122"/>
                <a:cs typeface="Calibri" pitchFamily="34" charset="-120"/>
              </a:rPr>
              <a:t>15 Jun – 19 Jun</a:t>
            </a:r>
            <a:endParaRPr lang="en-US" sz="950" dirty="0"/>
          </a:p>
        </p:txBody>
      </p:sp>
      <p:sp>
        <p:nvSpPr>
          <p:cNvPr id="23" name="Text 21"/>
          <p:cNvSpPr/>
          <p:nvPr/>
        </p:nvSpPr>
        <p:spPr>
          <a:xfrm>
            <a:off x="548640" y="2542032"/>
            <a:ext cx="283464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Database Design &amp; Build</a:t>
            </a:r>
            <a:endParaRPr lang="en-US" sz="1250" dirty="0"/>
          </a:p>
        </p:txBody>
      </p:sp>
      <p:sp>
        <p:nvSpPr>
          <p:cNvPr id="24" name="Shape 22"/>
          <p:cNvSpPr/>
          <p:nvPr/>
        </p:nvSpPr>
        <p:spPr>
          <a:xfrm>
            <a:off x="4658360" y="2624328"/>
            <a:ext cx="2402840" cy="310896"/>
          </a:xfrm>
          <a:prstGeom prst="roundRect">
            <a:avLst>
              <a:gd name="adj" fmla="val 117647"/>
            </a:avLst>
          </a:prstGeom>
          <a:solidFill>
            <a:srgbClr val="2C5F2D"/>
          </a:solidFill>
          <a:ln w="12700">
            <a:solidFill>
              <a:srgbClr val="2C5F2D"/>
            </a:solidFill>
            <a:prstDash val="solid"/>
          </a:ln>
        </p:spPr>
      </p:sp>
      <p:sp>
        <p:nvSpPr>
          <p:cNvPr id="25" name="Text 23"/>
          <p:cNvSpPr/>
          <p:nvPr/>
        </p:nvSpPr>
        <p:spPr>
          <a:xfrm>
            <a:off x="548640" y="2834640"/>
            <a:ext cx="2834640" cy="237744"/>
          </a:xfrm>
          <a:prstGeom prst="rect">
            <a:avLst/>
          </a:prstGeom>
          <a:noFill/>
          <a:ln/>
        </p:spPr>
        <p:txBody>
          <a:bodyPr wrap="square" lIns="0" tIns="0" rIns="0" bIns="0" rtlCol="0" anchor="ctr"/>
          <a:lstStyle/>
          <a:p>
            <a:pPr marL="0" indent="0">
              <a:buNone/>
            </a:pPr>
            <a:r>
              <a:rPr lang="en-US" sz="950" dirty="0">
                <a:solidFill>
                  <a:srgbClr val="5F6F62"/>
                </a:solidFill>
                <a:latin typeface="Calibri" pitchFamily="34" charset="0"/>
                <a:ea typeface="Calibri" pitchFamily="34" charset="-122"/>
                <a:cs typeface="Calibri" pitchFamily="34" charset="-120"/>
              </a:rPr>
              <a:t>22 Jun – 6 Jul</a:t>
            </a:r>
            <a:endParaRPr lang="en-US" sz="950" dirty="0"/>
          </a:p>
        </p:txBody>
      </p:sp>
      <p:sp>
        <p:nvSpPr>
          <p:cNvPr id="26" name="Text 24"/>
          <p:cNvSpPr/>
          <p:nvPr/>
        </p:nvSpPr>
        <p:spPr>
          <a:xfrm>
            <a:off x="548640" y="3163824"/>
            <a:ext cx="283464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Data Migration</a:t>
            </a:r>
            <a:endParaRPr lang="en-US" sz="1250" dirty="0"/>
          </a:p>
        </p:txBody>
      </p:sp>
      <p:sp>
        <p:nvSpPr>
          <p:cNvPr id="27" name="Shape 25"/>
          <p:cNvSpPr/>
          <p:nvPr/>
        </p:nvSpPr>
        <p:spPr>
          <a:xfrm>
            <a:off x="7061200" y="3246120"/>
            <a:ext cx="764540" cy="310896"/>
          </a:xfrm>
          <a:prstGeom prst="roundRect">
            <a:avLst>
              <a:gd name="adj" fmla="val 117647"/>
            </a:avLst>
          </a:prstGeom>
          <a:solidFill>
            <a:srgbClr val="D97A26"/>
          </a:solidFill>
          <a:ln w="12700">
            <a:solidFill>
              <a:srgbClr val="D97A26"/>
            </a:solidFill>
            <a:prstDash val="solid"/>
          </a:ln>
        </p:spPr>
      </p:sp>
      <p:sp>
        <p:nvSpPr>
          <p:cNvPr id="28" name="Text 26"/>
          <p:cNvSpPr/>
          <p:nvPr/>
        </p:nvSpPr>
        <p:spPr>
          <a:xfrm>
            <a:off x="548640" y="3456432"/>
            <a:ext cx="2834640" cy="237744"/>
          </a:xfrm>
          <a:prstGeom prst="rect">
            <a:avLst/>
          </a:prstGeom>
          <a:noFill/>
          <a:ln/>
        </p:spPr>
        <p:txBody>
          <a:bodyPr wrap="square" lIns="0" tIns="0" rIns="0" bIns="0" rtlCol="0" anchor="ctr"/>
          <a:lstStyle/>
          <a:p>
            <a:pPr marL="0" indent="0">
              <a:buNone/>
            </a:pPr>
            <a:r>
              <a:rPr lang="en-US" sz="950" dirty="0">
                <a:solidFill>
                  <a:srgbClr val="5F6F62"/>
                </a:solidFill>
                <a:latin typeface="Calibri" pitchFamily="34" charset="0"/>
                <a:ea typeface="Calibri" pitchFamily="34" charset="-122"/>
                <a:cs typeface="Calibri" pitchFamily="34" charset="-120"/>
              </a:rPr>
              <a:t>7 Jul – 10 Jul</a:t>
            </a:r>
            <a:endParaRPr lang="en-US" sz="950" dirty="0"/>
          </a:p>
        </p:txBody>
      </p:sp>
      <p:sp>
        <p:nvSpPr>
          <p:cNvPr id="29" name="Text 27"/>
          <p:cNvSpPr/>
          <p:nvPr/>
        </p:nvSpPr>
        <p:spPr>
          <a:xfrm>
            <a:off x="548640" y="3785616"/>
            <a:ext cx="283464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Reporting &amp; Training</a:t>
            </a:r>
            <a:endParaRPr lang="en-US" sz="1250" dirty="0"/>
          </a:p>
        </p:txBody>
      </p:sp>
      <p:sp>
        <p:nvSpPr>
          <p:cNvPr id="30" name="Shape 28"/>
          <p:cNvSpPr/>
          <p:nvPr/>
        </p:nvSpPr>
        <p:spPr>
          <a:xfrm>
            <a:off x="7825740" y="3867912"/>
            <a:ext cx="1638300" cy="310896"/>
          </a:xfrm>
          <a:prstGeom prst="roundRect">
            <a:avLst>
              <a:gd name="adj" fmla="val 117647"/>
            </a:avLst>
          </a:prstGeom>
          <a:solidFill>
            <a:srgbClr val="D97A26"/>
          </a:solidFill>
          <a:ln w="12700">
            <a:solidFill>
              <a:srgbClr val="D97A26"/>
            </a:solidFill>
            <a:prstDash val="solid"/>
          </a:ln>
        </p:spPr>
      </p:sp>
      <p:sp>
        <p:nvSpPr>
          <p:cNvPr id="31" name="Text 29"/>
          <p:cNvSpPr/>
          <p:nvPr/>
        </p:nvSpPr>
        <p:spPr>
          <a:xfrm>
            <a:off x="548640" y="4078224"/>
            <a:ext cx="2834640" cy="237744"/>
          </a:xfrm>
          <a:prstGeom prst="rect">
            <a:avLst/>
          </a:prstGeom>
          <a:noFill/>
          <a:ln/>
        </p:spPr>
        <p:txBody>
          <a:bodyPr wrap="square" lIns="0" tIns="0" rIns="0" bIns="0" rtlCol="0" anchor="ctr"/>
          <a:lstStyle/>
          <a:p>
            <a:pPr marL="0" indent="0">
              <a:buNone/>
            </a:pPr>
            <a:r>
              <a:rPr lang="en-US" sz="950" dirty="0">
                <a:solidFill>
                  <a:srgbClr val="5F6F62"/>
                </a:solidFill>
                <a:latin typeface="Calibri" pitchFamily="34" charset="0"/>
                <a:ea typeface="Calibri" pitchFamily="34" charset="-122"/>
                <a:cs typeface="Calibri" pitchFamily="34" charset="-120"/>
              </a:rPr>
              <a:t>13 Jul – 22 Jul</a:t>
            </a:r>
            <a:endParaRPr lang="en-US" sz="950" dirty="0"/>
          </a:p>
        </p:txBody>
      </p:sp>
      <p:sp>
        <p:nvSpPr>
          <p:cNvPr id="32" name="Text 30"/>
          <p:cNvSpPr/>
          <p:nvPr/>
        </p:nvSpPr>
        <p:spPr>
          <a:xfrm>
            <a:off x="548640" y="4407408"/>
            <a:ext cx="2834640" cy="457200"/>
          </a:xfrm>
          <a:prstGeom prst="rect">
            <a:avLst/>
          </a:prstGeom>
          <a:noFill/>
          <a:ln/>
        </p:spPr>
        <p:txBody>
          <a:bodyPr wrap="square" lIns="0" tIns="0" rIns="0" bIns="0" rtlCol="0" anchor="ctr"/>
          <a:lstStyle/>
          <a:p>
            <a:pPr marL="0" indent="0">
              <a:buNone/>
            </a:pPr>
            <a:r>
              <a:rPr lang="en-US" sz="1250" b="1" dirty="0">
                <a:solidFill>
                  <a:srgbClr val="163D24"/>
                </a:solidFill>
                <a:latin typeface="Calibri" pitchFamily="34" charset="0"/>
                <a:ea typeface="Calibri" pitchFamily="34" charset="-122"/>
                <a:cs typeface="Calibri" pitchFamily="34" charset="-120"/>
              </a:rPr>
              <a:t>Project Management</a:t>
            </a:r>
            <a:endParaRPr lang="en-US" sz="1250" dirty="0"/>
          </a:p>
        </p:txBody>
      </p:sp>
      <p:sp>
        <p:nvSpPr>
          <p:cNvPr id="33" name="Shape 31"/>
          <p:cNvSpPr/>
          <p:nvPr/>
        </p:nvSpPr>
        <p:spPr>
          <a:xfrm>
            <a:off x="9464040" y="4489704"/>
            <a:ext cx="1965960" cy="310896"/>
          </a:xfrm>
          <a:prstGeom prst="roundRect">
            <a:avLst>
              <a:gd name="adj" fmla="val 117647"/>
            </a:avLst>
          </a:prstGeom>
          <a:solidFill>
            <a:srgbClr val="163D24"/>
          </a:solidFill>
          <a:ln w="12700">
            <a:solidFill>
              <a:srgbClr val="163D24"/>
            </a:solidFill>
            <a:prstDash val="solid"/>
          </a:ln>
        </p:spPr>
      </p:sp>
      <p:sp>
        <p:nvSpPr>
          <p:cNvPr id="34" name="Text 32"/>
          <p:cNvSpPr/>
          <p:nvPr/>
        </p:nvSpPr>
        <p:spPr>
          <a:xfrm>
            <a:off x="548640" y="4700016"/>
            <a:ext cx="2834640" cy="237744"/>
          </a:xfrm>
          <a:prstGeom prst="rect">
            <a:avLst/>
          </a:prstGeom>
          <a:noFill/>
          <a:ln/>
        </p:spPr>
        <p:txBody>
          <a:bodyPr wrap="square" lIns="0" tIns="0" rIns="0" bIns="0" rtlCol="0" anchor="ctr"/>
          <a:lstStyle/>
          <a:p>
            <a:pPr marL="0" indent="0">
              <a:buNone/>
            </a:pPr>
            <a:r>
              <a:rPr lang="en-US" sz="950" dirty="0">
                <a:solidFill>
                  <a:srgbClr val="5F6F62"/>
                </a:solidFill>
                <a:latin typeface="Calibri" pitchFamily="34" charset="0"/>
                <a:ea typeface="Calibri" pitchFamily="34" charset="-122"/>
                <a:cs typeface="Calibri" pitchFamily="34" charset="-120"/>
              </a:rPr>
              <a:t>23 Jul – 4 Aug</a:t>
            </a:r>
            <a:endParaRPr lang="en-US" sz="950" dirty="0"/>
          </a:p>
        </p:txBody>
      </p:sp>
      <p:sp>
        <p:nvSpPr>
          <p:cNvPr id="35" name="Shape 33"/>
          <p:cNvSpPr/>
          <p:nvPr/>
        </p:nvSpPr>
        <p:spPr>
          <a:xfrm>
            <a:off x="11329416" y="4754880"/>
            <a:ext cx="201168" cy="201168"/>
          </a:xfrm>
          <a:prstGeom prst="diamond">
            <a:avLst/>
          </a:prstGeom>
          <a:solidFill>
            <a:srgbClr val="D97A26"/>
          </a:solidFill>
          <a:ln w="12700">
            <a:solidFill>
              <a:srgbClr val="D97A26"/>
            </a:solidFill>
            <a:prstDash val="solid"/>
          </a:ln>
        </p:spPr>
      </p:sp>
      <p:sp>
        <p:nvSpPr>
          <p:cNvPr id="36" name="Text 34"/>
          <p:cNvSpPr/>
          <p:nvPr/>
        </p:nvSpPr>
        <p:spPr>
          <a:xfrm>
            <a:off x="8321040" y="4992624"/>
            <a:ext cx="3200400" cy="256032"/>
          </a:xfrm>
          <a:prstGeom prst="rect">
            <a:avLst/>
          </a:prstGeom>
          <a:noFill/>
          <a:ln/>
        </p:spPr>
        <p:txBody>
          <a:bodyPr wrap="square" lIns="0" tIns="0" rIns="0" bIns="0" rtlCol="0" anchor="ctr"/>
          <a:lstStyle/>
          <a:p>
            <a:pPr marL="0" indent="0" algn="r">
              <a:buNone/>
            </a:pPr>
            <a:r>
              <a:rPr lang="en-US" sz="1000" b="1" dirty="0">
                <a:solidFill>
                  <a:srgbClr val="D97A26"/>
                </a:solidFill>
                <a:latin typeface="Calibri" pitchFamily="34" charset="0"/>
                <a:ea typeface="Calibri" pitchFamily="34" charset="-122"/>
                <a:cs typeface="Calibri" pitchFamily="34" charset="-120"/>
              </a:rPr>
              <a:t>Project closure &amp; lessons learned — 4 Aug 2026</a:t>
            </a:r>
            <a:endParaRPr lang="en-US" sz="1000" dirty="0"/>
          </a:p>
        </p:txBody>
      </p:sp>
      <p:sp>
        <p:nvSpPr>
          <p:cNvPr id="37" name="Shape 35"/>
          <p:cNvSpPr/>
          <p:nvPr/>
        </p:nvSpPr>
        <p:spPr>
          <a:xfrm>
            <a:off x="548640" y="5321808"/>
            <a:ext cx="3566160" cy="914400"/>
          </a:xfrm>
          <a:prstGeom prst="roundRect">
            <a:avLst>
              <a:gd name="adj" fmla="val 9000"/>
            </a:avLst>
          </a:prstGeom>
          <a:solidFill>
            <a:srgbClr val="EEF3EA"/>
          </a:solidFill>
          <a:ln w="12700">
            <a:solidFill>
              <a:srgbClr val="EEF3EA"/>
            </a:solidFill>
            <a:prstDash val="solid"/>
          </a:ln>
        </p:spPr>
      </p:sp>
      <p:sp>
        <p:nvSpPr>
          <p:cNvPr id="38" name="Text 36"/>
          <p:cNvSpPr/>
          <p:nvPr/>
        </p:nvSpPr>
        <p:spPr>
          <a:xfrm>
            <a:off x="768096" y="5431536"/>
            <a:ext cx="3127248" cy="256032"/>
          </a:xfrm>
          <a:prstGeom prst="rect">
            <a:avLst/>
          </a:prstGeom>
          <a:noFill/>
          <a:ln/>
        </p:spPr>
        <p:txBody>
          <a:bodyPr wrap="square" lIns="0" tIns="0" rIns="0" bIns="0" rtlCol="0" anchor="ctr"/>
          <a:lstStyle/>
          <a:p>
            <a:pPr marL="0" indent="0">
              <a:buNone/>
            </a:pPr>
            <a:r>
              <a:rPr lang="en-US" sz="1150" b="1" dirty="0">
                <a:solidFill>
                  <a:srgbClr val="163D24"/>
                </a:solidFill>
                <a:latin typeface="Calibri" pitchFamily="34" charset="0"/>
                <a:ea typeface="Calibri" pitchFamily="34" charset="-122"/>
                <a:cs typeface="Calibri" pitchFamily="34" charset="-120"/>
              </a:rPr>
              <a:t>Finish-to-start throughout</a:t>
            </a:r>
            <a:endParaRPr lang="en-US" sz="1150" dirty="0"/>
          </a:p>
        </p:txBody>
      </p:sp>
      <p:sp>
        <p:nvSpPr>
          <p:cNvPr id="39" name="Text 37"/>
          <p:cNvSpPr/>
          <p:nvPr/>
        </p:nvSpPr>
        <p:spPr>
          <a:xfrm>
            <a:off x="768096" y="5687568"/>
            <a:ext cx="3127248" cy="475488"/>
          </a:xfrm>
          <a:prstGeom prst="rect">
            <a:avLst/>
          </a:prstGeom>
          <a:noFill/>
          <a:ln/>
        </p:spPr>
        <p:txBody>
          <a:bodyPr wrap="square" lIns="0" tIns="0" rIns="0" bIns="0" rtlCol="0" anchor="ctr"/>
          <a:lstStyle/>
          <a:p>
            <a:pPr marL="0" indent="0">
              <a:lnSpc>
                <a:spcPts val="1300"/>
              </a:lnSpc>
              <a:buNone/>
            </a:pPr>
            <a:r>
              <a:rPr lang="en-US" sz="950" dirty="0">
                <a:solidFill>
                  <a:srgbClr val="5F6F62"/>
                </a:solidFill>
                <a:latin typeface="Calibri" pitchFamily="34" charset="0"/>
                <a:ea typeface="Calibri" pitchFamily="34" charset="-122"/>
                <a:cs typeface="Calibri" pitchFamily="34" charset="-120"/>
              </a:rPr>
              <a:t>Requirements are validated with the sponsor before database design begins; migration waits on technical testing of the structure.</a:t>
            </a:r>
            <a:endParaRPr lang="en-US" sz="950" dirty="0"/>
          </a:p>
        </p:txBody>
      </p:sp>
      <p:sp>
        <p:nvSpPr>
          <p:cNvPr id="40" name="Shape 38"/>
          <p:cNvSpPr/>
          <p:nvPr/>
        </p:nvSpPr>
        <p:spPr>
          <a:xfrm>
            <a:off x="4325112" y="5321808"/>
            <a:ext cx="3566160" cy="914400"/>
          </a:xfrm>
          <a:prstGeom prst="roundRect">
            <a:avLst>
              <a:gd name="adj" fmla="val 9000"/>
            </a:avLst>
          </a:prstGeom>
          <a:solidFill>
            <a:srgbClr val="EEF3EA"/>
          </a:solidFill>
          <a:ln w="12700">
            <a:solidFill>
              <a:srgbClr val="EEF3EA"/>
            </a:solidFill>
            <a:prstDash val="solid"/>
          </a:ln>
        </p:spPr>
      </p:sp>
      <p:sp>
        <p:nvSpPr>
          <p:cNvPr id="41" name="Text 39"/>
          <p:cNvSpPr/>
          <p:nvPr/>
        </p:nvSpPr>
        <p:spPr>
          <a:xfrm>
            <a:off x="4544568" y="5431536"/>
            <a:ext cx="3127248" cy="256032"/>
          </a:xfrm>
          <a:prstGeom prst="rect">
            <a:avLst/>
          </a:prstGeom>
          <a:noFill/>
          <a:ln/>
        </p:spPr>
        <p:txBody>
          <a:bodyPr wrap="square" lIns="0" tIns="0" rIns="0" bIns="0" rtlCol="0" anchor="ctr"/>
          <a:lstStyle/>
          <a:p>
            <a:pPr marL="0" indent="0">
              <a:buNone/>
            </a:pPr>
            <a:r>
              <a:rPr lang="en-US" sz="1150" b="1" dirty="0">
                <a:solidFill>
                  <a:srgbClr val="163D24"/>
                </a:solidFill>
                <a:latin typeface="Calibri" pitchFamily="34" charset="0"/>
                <a:ea typeface="Calibri" pitchFamily="34" charset="-122"/>
                <a:cs typeface="Calibri" pitchFamily="34" charset="-120"/>
              </a:rPr>
              <a:t>Critical path</a:t>
            </a:r>
            <a:endParaRPr lang="en-US" sz="1150" dirty="0"/>
          </a:p>
        </p:txBody>
      </p:sp>
      <p:sp>
        <p:nvSpPr>
          <p:cNvPr id="42" name="Text 40"/>
          <p:cNvSpPr/>
          <p:nvPr/>
        </p:nvSpPr>
        <p:spPr>
          <a:xfrm>
            <a:off x="4544568" y="5687568"/>
            <a:ext cx="3127248" cy="475488"/>
          </a:xfrm>
          <a:prstGeom prst="rect">
            <a:avLst/>
          </a:prstGeom>
          <a:noFill/>
          <a:ln/>
        </p:spPr>
        <p:txBody>
          <a:bodyPr wrap="square" lIns="0" tIns="0" rIns="0" bIns="0" rtlCol="0" anchor="ctr"/>
          <a:lstStyle/>
          <a:p>
            <a:pPr marL="0" indent="0">
              <a:lnSpc>
                <a:spcPts val="1300"/>
              </a:lnSpc>
              <a:buNone/>
            </a:pPr>
            <a:r>
              <a:rPr lang="en-US" sz="950" dirty="0">
                <a:solidFill>
                  <a:srgbClr val="5F6F62"/>
                </a:solidFill>
                <a:latin typeface="Calibri" pitchFamily="34" charset="0"/>
                <a:ea typeface="Calibri" pitchFamily="34" charset="-122"/>
                <a:cs typeface="Calibri" pitchFamily="34" charset="-120"/>
              </a:rPr>
              <a:t>Project Management runs to the final task — closure and lessons learned on 4 August is the schedule-driving activity.</a:t>
            </a:r>
            <a:endParaRPr lang="en-US" sz="950" dirty="0"/>
          </a:p>
        </p:txBody>
      </p:sp>
      <p:sp>
        <p:nvSpPr>
          <p:cNvPr id="43" name="Shape 41"/>
          <p:cNvSpPr/>
          <p:nvPr/>
        </p:nvSpPr>
        <p:spPr>
          <a:xfrm>
            <a:off x="8101584" y="5321808"/>
            <a:ext cx="3566160" cy="914400"/>
          </a:xfrm>
          <a:prstGeom prst="roundRect">
            <a:avLst>
              <a:gd name="adj" fmla="val 9000"/>
            </a:avLst>
          </a:prstGeom>
          <a:solidFill>
            <a:srgbClr val="EEF3EA"/>
          </a:solidFill>
          <a:ln w="12700">
            <a:solidFill>
              <a:srgbClr val="EEF3EA"/>
            </a:solidFill>
            <a:prstDash val="solid"/>
          </a:ln>
        </p:spPr>
      </p:sp>
      <p:sp>
        <p:nvSpPr>
          <p:cNvPr id="44" name="Text 42"/>
          <p:cNvSpPr/>
          <p:nvPr/>
        </p:nvSpPr>
        <p:spPr>
          <a:xfrm>
            <a:off x="8321040" y="5431536"/>
            <a:ext cx="3127248" cy="256032"/>
          </a:xfrm>
          <a:prstGeom prst="rect">
            <a:avLst/>
          </a:prstGeom>
          <a:noFill/>
          <a:ln/>
        </p:spPr>
        <p:txBody>
          <a:bodyPr wrap="square" lIns="0" tIns="0" rIns="0" bIns="0" rtlCol="0" anchor="ctr"/>
          <a:lstStyle/>
          <a:p>
            <a:pPr marL="0" indent="0">
              <a:buNone/>
            </a:pPr>
            <a:r>
              <a:rPr lang="en-US" sz="1150" b="1" dirty="0">
                <a:solidFill>
                  <a:srgbClr val="163D24"/>
                </a:solidFill>
                <a:latin typeface="Calibri" pitchFamily="34" charset="0"/>
                <a:ea typeface="Calibri" pitchFamily="34" charset="-122"/>
                <a:cs typeface="Calibri" pitchFamily="34" charset="-120"/>
              </a:rPr>
              <a:t>Sub-tasks decomposed</a:t>
            </a:r>
            <a:endParaRPr lang="en-US" sz="1150" dirty="0"/>
          </a:p>
        </p:txBody>
      </p:sp>
      <p:sp>
        <p:nvSpPr>
          <p:cNvPr id="45" name="Text 43"/>
          <p:cNvSpPr/>
          <p:nvPr/>
        </p:nvSpPr>
        <p:spPr>
          <a:xfrm>
            <a:off x="8321040" y="5687568"/>
            <a:ext cx="3127248" cy="475488"/>
          </a:xfrm>
          <a:prstGeom prst="rect">
            <a:avLst/>
          </a:prstGeom>
          <a:noFill/>
          <a:ln/>
        </p:spPr>
        <p:txBody>
          <a:bodyPr wrap="square" lIns="0" tIns="0" rIns="0" bIns="0" rtlCol="0" anchor="ctr"/>
          <a:lstStyle/>
          <a:p>
            <a:pPr marL="0" indent="0">
              <a:lnSpc>
                <a:spcPts val="1300"/>
              </a:lnSpc>
              <a:buNone/>
            </a:pPr>
            <a:r>
              <a:rPr lang="en-US" sz="950" dirty="0">
                <a:solidFill>
                  <a:srgbClr val="5F6F62"/>
                </a:solidFill>
                <a:latin typeface="Calibri" pitchFamily="34" charset="0"/>
                <a:ea typeface="Calibri" pitchFamily="34" charset="-122"/>
                <a:cs typeface="Calibri" pitchFamily="34" charset="-120"/>
              </a:rPr>
              <a:t>2.3, 3.1, 4.2 each break into three sub-tasks covering families, donors and inventory separately.</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Resource Plan &amp; Cost</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Ten resources · 456 hours of assigned work · $25,010 total</a:t>
            </a:r>
            <a:endParaRPr lang="en-US" sz="1400" dirty="0"/>
          </a:p>
        </p:txBody>
      </p:sp>
      <p:graphicFrame>
        <p:nvGraphicFramePr>
          <p:cNvPr id="4" name="Chart 0"/>
          <p:cNvGraphicFramePr/>
          <p:nvPr/>
        </p:nvGraphicFramePr>
        <p:xfrm>
          <a:off x="457200" y="1463040"/>
          <a:ext cx="69494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726680" y="1463040"/>
            <a:ext cx="3913632" cy="292608"/>
          </a:xfrm>
          <a:prstGeom prst="rect">
            <a:avLst/>
          </a:prstGeom>
          <a:noFill/>
          <a:ln/>
        </p:spPr>
        <p:txBody>
          <a:bodyPr wrap="square" lIns="0" tIns="0" rIns="0" bIns="0" rtlCol="0" anchor="ctr"/>
          <a:lstStyle/>
          <a:p>
            <a:pPr marL="0" indent="0">
              <a:buNone/>
            </a:pPr>
            <a:r>
              <a:rPr lang="en-US" sz="1600" b="1" dirty="0">
                <a:solidFill>
                  <a:srgbClr val="163D24"/>
                </a:solidFill>
                <a:latin typeface="Cambria" pitchFamily="34" charset="0"/>
                <a:ea typeface="Cambria" pitchFamily="34" charset="-122"/>
                <a:cs typeface="Cambria" pitchFamily="34" charset="-120"/>
              </a:rPr>
              <a:t>Standard rates</a:t>
            </a:r>
            <a:endParaRPr lang="en-US" sz="1600" dirty="0"/>
          </a:p>
        </p:txBody>
      </p:sp>
      <p:sp>
        <p:nvSpPr>
          <p:cNvPr id="6" name="Shape 3"/>
          <p:cNvSpPr/>
          <p:nvPr/>
        </p:nvSpPr>
        <p:spPr>
          <a:xfrm>
            <a:off x="7726680" y="1847088"/>
            <a:ext cx="3913632" cy="384048"/>
          </a:xfrm>
          <a:prstGeom prst="roundRect">
            <a:avLst>
              <a:gd name="adj" fmla="val 21429"/>
            </a:avLst>
          </a:prstGeom>
          <a:solidFill>
            <a:srgbClr val="EEF3EA"/>
          </a:solidFill>
          <a:ln w="12700">
            <a:solidFill>
              <a:srgbClr val="EEF3EA"/>
            </a:solidFill>
            <a:prstDash val="solid"/>
          </a:ln>
        </p:spPr>
      </p:sp>
      <p:sp>
        <p:nvSpPr>
          <p:cNvPr id="7" name="Text 4"/>
          <p:cNvSpPr/>
          <p:nvPr/>
        </p:nvSpPr>
        <p:spPr>
          <a:xfrm>
            <a:off x="7973568" y="1847088"/>
            <a:ext cx="2377440" cy="384048"/>
          </a:xfrm>
          <a:prstGeom prst="rect">
            <a:avLst/>
          </a:prstGeom>
          <a:noFill/>
          <a:ln/>
        </p:spPr>
        <p:txBody>
          <a:bodyPr wrap="square" lIns="0" tIns="0" rIns="0" bIns="0" rtlCol="0" anchor="ctr"/>
          <a:lstStyle/>
          <a:p>
            <a:pPr marL="0" indent="0">
              <a:buNone/>
            </a:pPr>
            <a:r>
              <a:rPr lang="en-US" sz="1150" dirty="0">
                <a:solidFill>
                  <a:srgbClr val="1A2E20"/>
                </a:solidFill>
                <a:latin typeface="Calibri" pitchFamily="34" charset="0"/>
                <a:ea typeface="Calibri" pitchFamily="34" charset="-122"/>
                <a:cs typeface="Calibri" pitchFamily="34" charset="-120"/>
              </a:rPr>
              <a:t>Project Manager</a:t>
            </a:r>
            <a:endParaRPr lang="en-US" sz="1150" dirty="0"/>
          </a:p>
        </p:txBody>
      </p:sp>
      <p:sp>
        <p:nvSpPr>
          <p:cNvPr id="8" name="Text 5"/>
          <p:cNvSpPr/>
          <p:nvPr/>
        </p:nvSpPr>
        <p:spPr>
          <a:xfrm>
            <a:off x="10241280" y="1847088"/>
            <a:ext cx="1170432" cy="384048"/>
          </a:xfrm>
          <a:prstGeom prst="rect">
            <a:avLst/>
          </a:prstGeom>
          <a:noFill/>
          <a:ln/>
        </p:spPr>
        <p:txBody>
          <a:bodyPr wrap="square" lIns="0" tIns="0" rIns="0" bIns="0" rtlCol="0" anchor="ctr"/>
          <a:lstStyle/>
          <a:p>
            <a:pPr marL="0" indent="0" algn="r">
              <a:buNone/>
            </a:pPr>
            <a:r>
              <a:rPr lang="en-US" sz="1150" b="1" dirty="0">
                <a:solidFill>
                  <a:srgbClr val="2C5F2D"/>
                </a:solidFill>
                <a:latin typeface="Calibri" pitchFamily="34" charset="0"/>
                <a:ea typeface="Calibri" pitchFamily="34" charset="-122"/>
                <a:cs typeface="Calibri" pitchFamily="34" charset="-120"/>
              </a:rPr>
              <a:t>$60 / h</a:t>
            </a:r>
            <a:endParaRPr lang="en-US" sz="1150" dirty="0"/>
          </a:p>
        </p:txBody>
      </p:sp>
      <p:sp>
        <p:nvSpPr>
          <p:cNvPr id="9" name="Text 6"/>
          <p:cNvSpPr/>
          <p:nvPr/>
        </p:nvSpPr>
        <p:spPr>
          <a:xfrm>
            <a:off x="7973568" y="2267712"/>
            <a:ext cx="2377440" cy="384048"/>
          </a:xfrm>
          <a:prstGeom prst="rect">
            <a:avLst/>
          </a:prstGeom>
          <a:noFill/>
          <a:ln/>
        </p:spPr>
        <p:txBody>
          <a:bodyPr wrap="square" lIns="0" tIns="0" rIns="0" bIns="0" rtlCol="0" anchor="ctr"/>
          <a:lstStyle/>
          <a:p>
            <a:pPr marL="0" indent="0">
              <a:buNone/>
            </a:pPr>
            <a:r>
              <a:rPr lang="en-US" sz="1150" dirty="0">
                <a:solidFill>
                  <a:srgbClr val="1A2E20"/>
                </a:solidFill>
                <a:latin typeface="Calibri" pitchFamily="34" charset="0"/>
                <a:ea typeface="Calibri" pitchFamily="34" charset="-122"/>
                <a:cs typeface="Calibri" pitchFamily="34" charset="-120"/>
              </a:rPr>
              <a:t>Database Designer</a:t>
            </a:r>
            <a:endParaRPr lang="en-US" sz="1150" dirty="0"/>
          </a:p>
        </p:txBody>
      </p:sp>
      <p:sp>
        <p:nvSpPr>
          <p:cNvPr id="10" name="Text 7"/>
          <p:cNvSpPr/>
          <p:nvPr/>
        </p:nvSpPr>
        <p:spPr>
          <a:xfrm>
            <a:off x="10241280" y="2267712"/>
            <a:ext cx="1170432" cy="384048"/>
          </a:xfrm>
          <a:prstGeom prst="rect">
            <a:avLst/>
          </a:prstGeom>
          <a:noFill/>
          <a:ln/>
        </p:spPr>
        <p:txBody>
          <a:bodyPr wrap="square" lIns="0" tIns="0" rIns="0" bIns="0" rtlCol="0" anchor="ctr"/>
          <a:lstStyle/>
          <a:p>
            <a:pPr marL="0" indent="0" algn="r">
              <a:buNone/>
            </a:pPr>
            <a:r>
              <a:rPr lang="en-US" sz="1150" b="1" dirty="0">
                <a:solidFill>
                  <a:srgbClr val="2C5F2D"/>
                </a:solidFill>
                <a:latin typeface="Calibri" pitchFamily="34" charset="0"/>
                <a:ea typeface="Calibri" pitchFamily="34" charset="-122"/>
                <a:cs typeface="Calibri" pitchFamily="34" charset="-120"/>
              </a:rPr>
              <a:t>$55 / h</a:t>
            </a:r>
            <a:endParaRPr lang="en-US" sz="1150" dirty="0"/>
          </a:p>
        </p:txBody>
      </p:sp>
      <p:sp>
        <p:nvSpPr>
          <p:cNvPr id="11" name="Shape 8"/>
          <p:cNvSpPr/>
          <p:nvPr/>
        </p:nvSpPr>
        <p:spPr>
          <a:xfrm>
            <a:off x="7726680" y="2688336"/>
            <a:ext cx="3913632" cy="384048"/>
          </a:xfrm>
          <a:prstGeom prst="roundRect">
            <a:avLst>
              <a:gd name="adj" fmla="val 21429"/>
            </a:avLst>
          </a:prstGeom>
          <a:solidFill>
            <a:srgbClr val="EEF3EA"/>
          </a:solidFill>
          <a:ln w="12700">
            <a:solidFill>
              <a:srgbClr val="EEF3EA"/>
            </a:solidFill>
            <a:prstDash val="solid"/>
          </a:ln>
        </p:spPr>
      </p:sp>
      <p:sp>
        <p:nvSpPr>
          <p:cNvPr id="12" name="Text 9"/>
          <p:cNvSpPr/>
          <p:nvPr/>
        </p:nvSpPr>
        <p:spPr>
          <a:xfrm>
            <a:off x="7973568" y="2688336"/>
            <a:ext cx="2377440" cy="384048"/>
          </a:xfrm>
          <a:prstGeom prst="rect">
            <a:avLst/>
          </a:prstGeom>
          <a:noFill/>
          <a:ln/>
        </p:spPr>
        <p:txBody>
          <a:bodyPr wrap="square" lIns="0" tIns="0" rIns="0" bIns="0" rtlCol="0" anchor="ctr"/>
          <a:lstStyle/>
          <a:p>
            <a:pPr marL="0" indent="0">
              <a:buNone/>
            </a:pPr>
            <a:r>
              <a:rPr lang="en-US" sz="1150" dirty="0">
                <a:solidFill>
                  <a:srgbClr val="1A2E20"/>
                </a:solidFill>
                <a:latin typeface="Calibri" pitchFamily="34" charset="0"/>
                <a:ea typeface="Calibri" pitchFamily="34" charset="-122"/>
                <a:cs typeface="Calibri" pitchFamily="34" charset="-120"/>
              </a:rPr>
              <a:t>Business Analyst</a:t>
            </a:r>
            <a:endParaRPr lang="en-US" sz="1150" dirty="0"/>
          </a:p>
        </p:txBody>
      </p:sp>
      <p:sp>
        <p:nvSpPr>
          <p:cNvPr id="13" name="Text 10"/>
          <p:cNvSpPr/>
          <p:nvPr/>
        </p:nvSpPr>
        <p:spPr>
          <a:xfrm>
            <a:off x="10241280" y="2688336"/>
            <a:ext cx="1170432" cy="384048"/>
          </a:xfrm>
          <a:prstGeom prst="rect">
            <a:avLst/>
          </a:prstGeom>
          <a:noFill/>
          <a:ln/>
        </p:spPr>
        <p:txBody>
          <a:bodyPr wrap="square" lIns="0" tIns="0" rIns="0" bIns="0" rtlCol="0" anchor="ctr"/>
          <a:lstStyle/>
          <a:p>
            <a:pPr marL="0" indent="0" algn="r">
              <a:buNone/>
            </a:pPr>
            <a:r>
              <a:rPr lang="en-US" sz="1150" b="1" dirty="0">
                <a:solidFill>
                  <a:srgbClr val="2C5F2D"/>
                </a:solidFill>
                <a:latin typeface="Calibri" pitchFamily="34" charset="0"/>
                <a:ea typeface="Calibri" pitchFamily="34" charset="-122"/>
                <a:cs typeface="Calibri" pitchFamily="34" charset="-120"/>
              </a:rPr>
              <a:t>$50 / h</a:t>
            </a:r>
            <a:endParaRPr lang="en-US" sz="1150" dirty="0"/>
          </a:p>
        </p:txBody>
      </p:sp>
      <p:sp>
        <p:nvSpPr>
          <p:cNvPr id="14" name="Text 11"/>
          <p:cNvSpPr/>
          <p:nvPr/>
        </p:nvSpPr>
        <p:spPr>
          <a:xfrm>
            <a:off x="7973568" y="3108960"/>
            <a:ext cx="2377440" cy="384048"/>
          </a:xfrm>
          <a:prstGeom prst="rect">
            <a:avLst/>
          </a:prstGeom>
          <a:noFill/>
          <a:ln/>
        </p:spPr>
        <p:txBody>
          <a:bodyPr wrap="square" lIns="0" tIns="0" rIns="0" bIns="0" rtlCol="0" anchor="ctr"/>
          <a:lstStyle/>
          <a:p>
            <a:pPr marL="0" indent="0">
              <a:buNone/>
            </a:pPr>
            <a:r>
              <a:rPr lang="en-US" sz="1150" dirty="0">
                <a:solidFill>
                  <a:srgbClr val="1A2E20"/>
                </a:solidFill>
                <a:latin typeface="Calibri" pitchFamily="34" charset="0"/>
                <a:ea typeface="Calibri" pitchFamily="34" charset="-122"/>
                <a:cs typeface="Calibri" pitchFamily="34" charset="-120"/>
              </a:rPr>
              <a:t>Developer</a:t>
            </a:r>
            <a:endParaRPr lang="en-US" sz="1150" dirty="0"/>
          </a:p>
        </p:txBody>
      </p:sp>
      <p:sp>
        <p:nvSpPr>
          <p:cNvPr id="15" name="Text 12"/>
          <p:cNvSpPr/>
          <p:nvPr/>
        </p:nvSpPr>
        <p:spPr>
          <a:xfrm>
            <a:off x="10241280" y="3108960"/>
            <a:ext cx="1170432" cy="384048"/>
          </a:xfrm>
          <a:prstGeom prst="rect">
            <a:avLst/>
          </a:prstGeom>
          <a:noFill/>
          <a:ln/>
        </p:spPr>
        <p:txBody>
          <a:bodyPr wrap="square" lIns="0" tIns="0" rIns="0" bIns="0" rtlCol="0" anchor="ctr"/>
          <a:lstStyle/>
          <a:p>
            <a:pPr marL="0" indent="0" algn="r">
              <a:buNone/>
            </a:pPr>
            <a:r>
              <a:rPr lang="en-US" sz="1150" b="1" dirty="0">
                <a:solidFill>
                  <a:srgbClr val="2C5F2D"/>
                </a:solidFill>
                <a:latin typeface="Calibri" pitchFamily="34" charset="0"/>
                <a:ea typeface="Calibri" pitchFamily="34" charset="-122"/>
                <a:cs typeface="Calibri" pitchFamily="34" charset="-120"/>
              </a:rPr>
              <a:t>$50 / h</a:t>
            </a:r>
            <a:endParaRPr lang="en-US" sz="1150" dirty="0"/>
          </a:p>
        </p:txBody>
      </p:sp>
      <p:sp>
        <p:nvSpPr>
          <p:cNvPr id="16" name="Shape 13"/>
          <p:cNvSpPr/>
          <p:nvPr/>
        </p:nvSpPr>
        <p:spPr>
          <a:xfrm>
            <a:off x="7726680" y="3529584"/>
            <a:ext cx="3913632" cy="384048"/>
          </a:xfrm>
          <a:prstGeom prst="roundRect">
            <a:avLst>
              <a:gd name="adj" fmla="val 21429"/>
            </a:avLst>
          </a:prstGeom>
          <a:solidFill>
            <a:srgbClr val="EEF3EA"/>
          </a:solidFill>
          <a:ln w="12700">
            <a:solidFill>
              <a:srgbClr val="EEF3EA"/>
            </a:solidFill>
            <a:prstDash val="solid"/>
          </a:ln>
        </p:spPr>
      </p:sp>
      <p:sp>
        <p:nvSpPr>
          <p:cNvPr id="17" name="Text 14"/>
          <p:cNvSpPr/>
          <p:nvPr/>
        </p:nvSpPr>
        <p:spPr>
          <a:xfrm>
            <a:off x="7973568" y="3529584"/>
            <a:ext cx="2377440" cy="384048"/>
          </a:xfrm>
          <a:prstGeom prst="rect">
            <a:avLst/>
          </a:prstGeom>
          <a:noFill/>
          <a:ln/>
        </p:spPr>
        <p:txBody>
          <a:bodyPr wrap="square" lIns="0" tIns="0" rIns="0" bIns="0" rtlCol="0" anchor="ctr"/>
          <a:lstStyle/>
          <a:p>
            <a:pPr marL="0" indent="0">
              <a:buNone/>
            </a:pPr>
            <a:r>
              <a:rPr lang="en-US" sz="1150" dirty="0">
                <a:solidFill>
                  <a:srgbClr val="1A2E20"/>
                </a:solidFill>
                <a:latin typeface="Calibri" pitchFamily="34" charset="0"/>
                <a:ea typeface="Calibri" pitchFamily="34" charset="-122"/>
                <a:cs typeface="Calibri" pitchFamily="34" charset="-120"/>
              </a:rPr>
              <a:t>Data Migration Lead</a:t>
            </a:r>
            <a:endParaRPr lang="en-US" sz="1150" dirty="0"/>
          </a:p>
        </p:txBody>
      </p:sp>
      <p:sp>
        <p:nvSpPr>
          <p:cNvPr id="18" name="Text 15"/>
          <p:cNvSpPr/>
          <p:nvPr/>
        </p:nvSpPr>
        <p:spPr>
          <a:xfrm>
            <a:off x="10241280" y="3529584"/>
            <a:ext cx="1170432" cy="384048"/>
          </a:xfrm>
          <a:prstGeom prst="rect">
            <a:avLst/>
          </a:prstGeom>
          <a:noFill/>
          <a:ln/>
        </p:spPr>
        <p:txBody>
          <a:bodyPr wrap="square" lIns="0" tIns="0" rIns="0" bIns="0" rtlCol="0" anchor="ctr"/>
          <a:lstStyle/>
          <a:p>
            <a:pPr marL="0" indent="0" algn="r">
              <a:buNone/>
            </a:pPr>
            <a:r>
              <a:rPr lang="en-US" sz="1150" b="1" dirty="0">
                <a:solidFill>
                  <a:srgbClr val="2C5F2D"/>
                </a:solidFill>
                <a:latin typeface="Calibri" pitchFamily="34" charset="0"/>
                <a:ea typeface="Calibri" pitchFamily="34" charset="-122"/>
                <a:cs typeface="Calibri" pitchFamily="34" charset="-120"/>
              </a:rPr>
              <a:t>$45 / h</a:t>
            </a:r>
            <a:endParaRPr lang="en-US" sz="1150" dirty="0"/>
          </a:p>
        </p:txBody>
      </p:sp>
      <p:sp>
        <p:nvSpPr>
          <p:cNvPr id="19" name="Text 16"/>
          <p:cNvSpPr/>
          <p:nvPr/>
        </p:nvSpPr>
        <p:spPr>
          <a:xfrm>
            <a:off x="7973568" y="3950208"/>
            <a:ext cx="2377440" cy="384048"/>
          </a:xfrm>
          <a:prstGeom prst="rect">
            <a:avLst/>
          </a:prstGeom>
          <a:noFill/>
          <a:ln/>
        </p:spPr>
        <p:txBody>
          <a:bodyPr wrap="square" lIns="0" tIns="0" rIns="0" bIns="0" rtlCol="0" anchor="ctr"/>
          <a:lstStyle/>
          <a:p>
            <a:pPr marL="0" indent="0">
              <a:buNone/>
            </a:pPr>
            <a:r>
              <a:rPr lang="en-US" sz="1150" dirty="0">
                <a:solidFill>
                  <a:srgbClr val="1A2E20"/>
                </a:solidFill>
                <a:latin typeface="Calibri" pitchFamily="34" charset="0"/>
                <a:ea typeface="Calibri" pitchFamily="34" charset="-122"/>
                <a:cs typeface="Calibri" pitchFamily="34" charset="-120"/>
              </a:rPr>
              <a:t>Trainer</a:t>
            </a:r>
            <a:endParaRPr lang="en-US" sz="1150" dirty="0"/>
          </a:p>
        </p:txBody>
      </p:sp>
      <p:sp>
        <p:nvSpPr>
          <p:cNvPr id="20" name="Text 17"/>
          <p:cNvSpPr/>
          <p:nvPr/>
        </p:nvSpPr>
        <p:spPr>
          <a:xfrm>
            <a:off x="10241280" y="3950208"/>
            <a:ext cx="1170432" cy="384048"/>
          </a:xfrm>
          <a:prstGeom prst="rect">
            <a:avLst/>
          </a:prstGeom>
          <a:noFill/>
          <a:ln/>
        </p:spPr>
        <p:txBody>
          <a:bodyPr wrap="square" lIns="0" tIns="0" rIns="0" bIns="0" rtlCol="0" anchor="ctr"/>
          <a:lstStyle/>
          <a:p>
            <a:pPr marL="0" indent="0" algn="r">
              <a:buNone/>
            </a:pPr>
            <a:r>
              <a:rPr lang="en-US" sz="1150" b="1" dirty="0">
                <a:solidFill>
                  <a:srgbClr val="2C5F2D"/>
                </a:solidFill>
                <a:latin typeface="Calibri" pitchFamily="34" charset="0"/>
                <a:ea typeface="Calibri" pitchFamily="34" charset="-122"/>
                <a:cs typeface="Calibri" pitchFamily="34" charset="-120"/>
              </a:rPr>
              <a:t>$45 / h</a:t>
            </a:r>
            <a:endParaRPr lang="en-US" sz="1150" dirty="0"/>
          </a:p>
        </p:txBody>
      </p:sp>
      <p:sp>
        <p:nvSpPr>
          <p:cNvPr id="21" name="Shape 18"/>
          <p:cNvSpPr/>
          <p:nvPr/>
        </p:nvSpPr>
        <p:spPr>
          <a:xfrm>
            <a:off x="7726680" y="4370832"/>
            <a:ext cx="3913632" cy="384048"/>
          </a:xfrm>
          <a:prstGeom prst="roundRect">
            <a:avLst>
              <a:gd name="adj" fmla="val 21429"/>
            </a:avLst>
          </a:prstGeom>
          <a:solidFill>
            <a:srgbClr val="EEF3EA"/>
          </a:solidFill>
          <a:ln w="12700">
            <a:solidFill>
              <a:srgbClr val="EEF3EA"/>
            </a:solidFill>
            <a:prstDash val="solid"/>
          </a:ln>
        </p:spPr>
      </p:sp>
      <p:sp>
        <p:nvSpPr>
          <p:cNvPr id="22" name="Text 19"/>
          <p:cNvSpPr/>
          <p:nvPr/>
        </p:nvSpPr>
        <p:spPr>
          <a:xfrm>
            <a:off x="7973568" y="4370832"/>
            <a:ext cx="2377440" cy="384048"/>
          </a:xfrm>
          <a:prstGeom prst="rect">
            <a:avLst/>
          </a:prstGeom>
          <a:noFill/>
          <a:ln/>
        </p:spPr>
        <p:txBody>
          <a:bodyPr wrap="square" lIns="0" tIns="0" rIns="0" bIns="0" rtlCol="0" anchor="ctr"/>
          <a:lstStyle/>
          <a:p>
            <a:pPr marL="0" indent="0">
              <a:buNone/>
            </a:pPr>
            <a:r>
              <a:rPr lang="en-US" sz="1150" dirty="0">
                <a:solidFill>
                  <a:srgbClr val="1A2E20"/>
                </a:solidFill>
                <a:latin typeface="Calibri" pitchFamily="34" charset="0"/>
                <a:ea typeface="Calibri" pitchFamily="34" charset="-122"/>
                <a:cs typeface="Calibri" pitchFamily="34" charset="-120"/>
              </a:rPr>
              <a:t>Tester / QA</a:t>
            </a:r>
            <a:endParaRPr lang="en-US" sz="1150" dirty="0"/>
          </a:p>
        </p:txBody>
      </p:sp>
      <p:sp>
        <p:nvSpPr>
          <p:cNvPr id="23" name="Text 20"/>
          <p:cNvSpPr/>
          <p:nvPr/>
        </p:nvSpPr>
        <p:spPr>
          <a:xfrm>
            <a:off x="10241280" y="4370832"/>
            <a:ext cx="1170432" cy="384048"/>
          </a:xfrm>
          <a:prstGeom prst="rect">
            <a:avLst/>
          </a:prstGeom>
          <a:noFill/>
          <a:ln/>
        </p:spPr>
        <p:txBody>
          <a:bodyPr wrap="square" lIns="0" tIns="0" rIns="0" bIns="0" rtlCol="0" anchor="ctr"/>
          <a:lstStyle/>
          <a:p>
            <a:pPr marL="0" indent="0" algn="r">
              <a:buNone/>
            </a:pPr>
            <a:r>
              <a:rPr lang="en-US" sz="1150" b="1" dirty="0">
                <a:solidFill>
                  <a:srgbClr val="2C5F2D"/>
                </a:solidFill>
                <a:latin typeface="Calibri" pitchFamily="34" charset="0"/>
                <a:ea typeface="Calibri" pitchFamily="34" charset="-122"/>
                <a:cs typeface="Calibri" pitchFamily="34" charset="-120"/>
              </a:rPr>
              <a:t>$40 / h</a:t>
            </a:r>
            <a:endParaRPr lang="en-US" sz="1150" dirty="0"/>
          </a:p>
        </p:txBody>
      </p:sp>
      <p:sp>
        <p:nvSpPr>
          <p:cNvPr id="24" name="Text 21"/>
          <p:cNvSpPr/>
          <p:nvPr/>
        </p:nvSpPr>
        <p:spPr>
          <a:xfrm>
            <a:off x="7973568" y="4791456"/>
            <a:ext cx="2377440" cy="384048"/>
          </a:xfrm>
          <a:prstGeom prst="rect">
            <a:avLst/>
          </a:prstGeom>
          <a:noFill/>
          <a:ln/>
        </p:spPr>
        <p:txBody>
          <a:bodyPr wrap="square" lIns="0" tIns="0" rIns="0" bIns="0" rtlCol="0" anchor="ctr"/>
          <a:lstStyle/>
          <a:p>
            <a:pPr marL="0" indent="0">
              <a:buNone/>
            </a:pPr>
            <a:r>
              <a:rPr lang="en-US" sz="1150" dirty="0">
                <a:solidFill>
                  <a:srgbClr val="1A2E20"/>
                </a:solidFill>
                <a:latin typeface="Calibri" pitchFamily="34" charset="0"/>
                <a:ea typeface="Calibri" pitchFamily="34" charset="-122"/>
                <a:cs typeface="Calibri" pitchFamily="34" charset="-120"/>
              </a:rPr>
              <a:t>Training Materials</a:t>
            </a:r>
            <a:endParaRPr lang="en-US" sz="1150" dirty="0"/>
          </a:p>
        </p:txBody>
      </p:sp>
      <p:sp>
        <p:nvSpPr>
          <p:cNvPr id="25" name="Text 22"/>
          <p:cNvSpPr/>
          <p:nvPr/>
        </p:nvSpPr>
        <p:spPr>
          <a:xfrm>
            <a:off x="10241280" y="4791456"/>
            <a:ext cx="1170432" cy="384048"/>
          </a:xfrm>
          <a:prstGeom prst="rect">
            <a:avLst/>
          </a:prstGeom>
          <a:noFill/>
          <a:ln/>
        </p:spPr>
        <p:txBody>
          <a:bodyPr wrap="square" lIns="0" tIns="0" rIns="0" bIns="0" rtlCol="0" anchor="ctr"/>
          <a:lstStyle/>
          <a:p>
            <a:pPr marL="0" indent="0" algn="r">
              <a:buNone/>
            </a:pPr>
            <a:r>
              <a:rPr lang="en-US" sz="1150" b="1" dirty="0">
                <a:solidFill>
                  <a:srgbClr val="2C5F2D"/>
                </a:solidFill>
                <a:latin typeface="Calibri" pitchFamily="34" charset="0"/>
                <a:ea typeface="Calibri" pitchFamily="34" charset="-122"/>
                <a:cs typeface="Calibri" pitchFamily="34" charset="-120"/>
              </a:rPr>
              <a:t>$25 / h</a:t>
            </a:r>
            <a:endParaRPr lang="en-US" sz="1150" dirty="0"/>
          </a:p>
        </p:txBody>
      </p:sp>
      <p:sp>
        <p:nvSpPr>
          <p:cNvPr id="26" name="Shape 23"/>
          <p:cNvSpPr/>
          <p:nvPr/>
        </p:nvSpPr>
        <p:spPr>
          <a:xfrm>
            <a:off x="7726680" y="5285232"/>
            <a:ext cx="3913632" cy="713232"/>
          </a:xfrm>
          <a:prstGeom prst="roundRect">
            <a:avLst>
              <a:gd name="adj" fmla="val 11538"/>
            </a:avLst>
          </a:prstGeom>
          <a:solidFill>
            <a:srgbClr val="163D24"/>
          </a:solidFill>
          <a:ln w="12700">
            <a:solidFill>
              <a:srgbClr val="163D24"/>
            </a:solidFill>
            <a:prstDash val="solid"/>
          </a:ln>
        </p:spPr>
      </p:sp>
      <p:sp>
        <p:nvSpPr>
          <p:cNvPr id="27" name="Text 24"/>
          <p:cNvSpPr/>
          <p:nvPr/>
        </p:nvSpPr>
        <p:spPr>
          <a:xfrm>
            <a:off x="7726680" y="5321808"/>
            <a:ext cx="3913632" cy="402336"/>
          </a:xfrm>
          <a:prstGeom prst="rect">
            <a:avLst/>
          </a:prstGeom>
          <a:noFill/>
          <a:ln/>
        </p:spPr>
        <p:txBody>
          <a:bodyPr wrap="square" lIns="0" tIns="0" rIns="0" bIns="0" rtlCol="0" anchor="ctr"/>
          <a:lstStyle/>
          <a:p>
            <a:pPr marL="0" indent="0" algn="ctr">
              <a:buNone/>
            </a:pPr>
            <a:r>
              <a:rPr lang="en-US" sz="2400" b="1" dirty="0">
                <a:solidFill>
                  <a:srgbClr val="97BC62"/>
                </a:solidFill>
                <a:latin typeface="Cambria" pitchFamily="34" charset="0"/>
                <a:ea typeface="Cambria" pitchFamily="34" charset="-122"/>
                <a:cs typeface="Cambria" pitchFamily="34" charset="-120"/>
              </a:rPr>
              <a:t>$25,010</a:t>
            </a:r>
            <a:endParaRPr lang="en-US" sz="2400" dirty="0"/>
          </a:p>
        </p:txBody>
      </p:sp>
      <p:sp>
        <p:nvSpPr>
          <p:cNvPr id="28" name="Text 25"/>
          <p:cNvSpPr/>
          <p:nvPr/>
        </p:nvSpPr>
        <p:spPr>
          <a:xfrm>
            <a:off x="7726680" y="5705856"/>
            <a:ext cx="3913632" cy="237744"/>
          </a:xfrm>
          <a:prstGeom prst="rect">
            <a:avLst/>
          </a:prstGeom>
          <a:noFill/>
          <a:ln/>
        </p:spPr>
        <p:txBody>
          <a:bodyPr wrap="square" lIns="0" tIns="0" rIns="0" bIns="0" rtlCol="0" anchor="ctr"/>
          <a:lstStyle/>
          <a:p>
            <a:pPr marL="0" indent="0" algn="ctr">
              <a:buNone/>
            </a:pPr>
            <a:r>
              <a:rPr lang="en-US" sz="1000" dirty="0">
                <a:solidFill>
                  <a:srgbClr val="A9C09F"/>
                </a:solidFill>
                <a:latin typeface="Calibri" pitchFamily="34" charset="0"/>
                <a:ea typeface="Calibri" pitchFamily="34" charset="-122"/>
                <a:cs typeface="Calibri" pitchFamily="34" charset="-120"/>
              </a:rPr>
              <a:t>Total resource cost (CAD)</a:t>
            </a:r>
            <a:endParaRPr lang="en-US" sz="1000" dirty="0"/>
          </a:p>
        </p:txBody>
      </p:sp>
      <p:sp>
        <p:nvSpPr>
          <p:cNvPr id="29" name="Text 26"/>
          <p:cNvSpPr/>
          <p:nvPr/>
        </p:nvSpPr>
        <p:spPr>
          <a:xfrm>
            <a:off x="548640" y="6327648"/>
            <a:ext cx="11091672" cy="274320"/>
          </a:xfrm>
          <a:prstGeom prst="rect">
            <a:avLst/>
          </a:prstGeom>
          <a:noFill/>
          <a:ln/>
        </p:spPr>
        <p:txBody>
          <a:bodyPr wrap="square" lIns="0" tIns="0" rIns="0" bIns="0" rtlCol="0" anchor="ctr"/>
          <a:lstStyle/>
          <a:p>
            <a:pPr marL="0" indent="0" algn="l">
              <a:buNone/>
            </a:pPr>
            <a:r>
              <a:rPr lang="en-US" sz="950" dirty="0">
                <a:solidFill>
                  <a:srgbClr val="9AA79C"/>
                </a:solidFill>
                <a:latin typeface="Calibri" pitchFamily="34" charset="0"/>
                <a:ea typeface="Calibri" pitchFamily="34" charset="-122"/>
                <a:cs typeface="Calibri" pitchFamily="34" charset="-120"/>
              </a:rPr>
              <a:t>Software License ($1,000) and Travel &amp; Meetings ($100) are cost resources rather than hourly roles.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WBS Dictionary</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Twelve work packages documented in full — four shown here</a:t>
            </a:r>
            <a:endParaRPr lang="en-US" sz="1400" dirty="0"/>
          </a:p>
        </p:txBody>
      </p:sp>
      <p:sp>
        <p:nvSpPr>
          <p:cNvPr id="4" name="Shape 2"/>
          <p:cNvSpPr/>
          <p:nvPr/>
        </p:nvSpPr>
        <p:spPr>
          <a:xfrm>
            <a:off x="548640" y="1463040"/>
            <a:ext cx="5605272" cy="2148840"/>
          </a:xfrm>
          <a:prstGeom prst="roundRect">
            <a:avLst>
              <a:gd name="adj" fmla="val 3830"/>
            </a:avLst>
          </a:prstGeom>
          <a:solidFill>
            <a:srgbClr val="EEF3EA"/>
          </a:solidFill>
          <a:ln w="12700">
            <a:solidFill>
              <a:srgbClr val="EEF3EA"/>
            </a:solidFill>
            <a:prstDash val="solid"/>
          </a:ln>
        </p:spPr>
      </p:sp>
      <p:sp>
        <p:nvSpPr>
          <p:cNvPr id="5" name="Shape 3"/>
          <p:cNvSpPr/>
          <p:nvPr/>
        </p:nvSpPr>
        <p:spPr>
          <a:xfrm>
            <a:off x="804672" y="1682496"/>
            <a:ext cx="658368" cy="292608"/>
          </a:xfrm>
          <a:prstGeom prst="roundRect">
            <a:avLst>
              <a:gd name="adj" fmla="val 25000"/>
            </a:avLst>
          </a:prstGeom>
          <a:solidFill>
            <a:srgbClr val="2C5F2D"/>
          </a:solidFill>
          <a:ln w="12700">
            <a:solidFill>
              <a:srgbClr val="2C5F2D"/>
            </a:solidFill>
            <a:prstDash val="solid"/>
          </a:ln>
        </p:spPr>
      </p:sp>
      <p:sp>
        <p:nvSpPr>
          <p:cNvPr id="6" name="Text 4"/>
          <p:cNvSpPr/>
          <p:nvPr/>
        </p:nvSpPr>
        <p:spPr>
          <a:xfrm>
            <a:off x="804672" y="1682496"/>
            <a:ext cx="658368"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2.1</a:t>
            </a:r>
            <a:endParaRPr lang="en-US" sz="1150" dirty="0"/>
          </a:p>
        </p:txBody>
      </p:sp>
      <p:sp>
        <p:nvSpPr>
          <p:cNvPr id="7" name="Text 5"/>
          <p:cNvSpPr/>
          <p:nvPr/>
        </p:nvSpPr>
        <p:spPr>
          <a:xfrm>
            <a:off x="1572768" y="1664208"/>
            <a:ext cx="4343400" cy="329184"/>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Review existing spreadsheets and current data</a:t>
            </a:r>
            <a:endParaRPr lang="en-US" sz="1350" dirty="0"/>
          </a:p>
        </p:txBody>
      </p:sp>
      <p:sp>
        <p:nvSpPr>
          <p:cNvPr id="8" name="Text 6"/>
          <p:cNvSpPr/>
          <p:nvPr/>
        </p:nvSpPr>
        <p:spPr>
          <a:xfrm>
            <a:off x="804672" y="2103120"/>
            <a:ext cx="5102352" cy="1371600"/>
          </a:xfrm>
          <a:prstGeom prst="rect">
            <a:avLst/>
          </a:prstGeom>
          <a:noFill/>
          <a:ln/>
        </p:spPr>
        <p:txBody>
          <a:bodyPr wrap="square" lIns="0" tIns="0" rIns="0" bIns="0" rtlCol="0" anchor="ctr"/>
          <a:lstStyle/>
          <a:p>
            <a:pPr marL="0" indent="0">
              <a:lnSpc>
                <a:spcPts val="1600"/>
              </a:lnSpc>
              <a:buNone/>
            </a:pPr>
            <a:r>
              <a:rPr lang="en-US" sz="1100" dirty="0">
                <a:solidFill>
                  <a:srgbClr val="5F6F62"/>
                </a:solidFill>
                <a:latin typeface="Calibri" pitchFamily="34" charset="0"/>
                <a:ea typeface="Calibri" pitchFamily="34" charset="-122"/>
                <a:cs typeface="Calibri" pitchFamily="34" charset="-120"/>
              </a:rPr>
              <a:t>Collect and examine all existing spreadsheets covering families, donors, inventory, transportation and weekly schedules. Review how data is structured, what fields are captured, and where inconsistencies, duplicates or gaps exist. Findings feed system requirements and later design and migration work.</a:t>
            </a:r>
            <a:endParaRPr lang="en-US" sz="1100" dirty="0"/>
          </a:p>
        </p:txBody>
      </p:sp>
      <p:sp>
        <p:nvSpPr>
          <p:cNvPr id="9" name="Shape 7"/>
          <p:cNvSpPr/>
          <p:nvPr/>
        </p:nvSpPr>
        <p:spPr>
          <a:xfrm>
            <a:off x="6355080" y="1463040"/>
            <a:ext cx="5605272" cy="2148840"/>
          </a:xfrm>
          <a:prstGeom prst="roundRect">
            <a:avLst>
              <a:gd name="adj" fmla="val 3830"/>
            </a:avLst>
          </a:prstGeom>
          <a:solidFill>
            <a:srgbClr val="EEF3EA"/>
          </a:solidFill>
          <a:ln w="12700">
            <a:solidFill>
              <a:srgbClr val="EEF3EA"/>
            </a:solidFill>
            <a:prstDash val="solid"/>
          </a:ln>
        </p:spPr>
      </p:sp>
      <p:sp>
        <p:nvSpPr>
          <p:cNvPr id="10" name="Shape 8"/>
          <p:cNvSpPr/>
          <p:nvPr/>
        </p:nvSpPr>
        <p:spPr>
          <a:xfrm>
            <a:off x="6611112" y="1682496"/>
            <a:ext cx="658368" cy="292608"/>
          </a:xfrm>
          <a:prstGeom prst="roundRect">
            <a:avLst>
              <a:gd name="adj" fmla="val 25000"/>
            </a:avLst>
          </a:prstGeom>
          <a:solidFill>
            <a:srgbClr val="D97A26"/>
          </a:solidFill>
          <a:ln w="12700">
            <a:solidFill>
              <a:srgbClr val="D97A26"/>
            </a:solidFill>
            <a:prstDash val="solid"/>
          </a:ln>
        </p:spPr>
      </p:sp>
      <p:sp>
        <p:nvSpPr>
          <p:cNvPr id="11" name="Text 9"/>
          <p:cNvSpPr/>
          <p:nvPr/>
        </p:nvSpPr>
        <p:spPr>
          <a:xfrm>
            <a:off x="6611112" y="1682496"/>
            <a:ext cx="658368"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3.1</a:t>
            </a:r>
            <a:endParaRPr lang="en-US" sz="1150" dirty="0"/>
          </a:p>
        </p:txBody>
      </p:sp>
      <p:sp>
        <p:nvSpPr>
          <p:cNvPr id="12" name="Text 10"/>
          <p:cNvSpPr/>
          <p:nvPr/>
        </p:nvSpPr>
        <p:spPr>
          <a:xfrm>
            <a:off x="7379208" y="1664208"/>
            <a:ext cx="4343400" cy="329184"/>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Logical database design</a:t>
            </a:r>
            <a:endParaRPr lang="en-US" sz="1350" dirty="0"/>
          </a:p>
        </p:txBody>
      </p:sp>
      <p:sp>
        <p:nvSpPr>
          <p:cNvPr id="13" name="Text 11"/>
          <p:cNvSpPr/>
          <p:nvPr/>
        </p:nvSpPr>
        <p:spPr>
          <a:xfrm>
            <a:off x="6611112" y="2103120"/>
            <a:ext cx="5102352" cy="1371600"/>
          </a:xfrm>
          <a:prstGeom prst="rect">
            <a:avLst/>
          </a:prstGeom>
          <a:noFill/>
          <a:ln/>
        </p:spPr>
        <p:txBody>
          <a:bodyPr wrap="square" lIns="0" tIns="0" rIns="0" bIns="0" rtlCol="0" anchor="ctr"/>
          <a:lstStyle/>
          <a:p>
            <a:pPr marL="0" indent="0">
              <a:lnSpc>
                <a:spcPts val="1600"/>
              </a:lnSpc>
              <a:buNone/>
            </a:pPr>
            <a:r>
              <a:rPr lang="en-US" sz="1100" dirty="0">
                <a:solidFill>
                  <a:srgbClr val="5F6F62"/>
                </a:solidFill>
                <a:latin typeface="Calibri" pitchFamily="34" charset="0"/>
                <a:ea typeface="Calibri" pitchFamily="34" charset="-122"/>
                <a:cs typeface="Calibri" pitchFamily="34" charset="-120"/>
              </a:rPr>
              <a:t>Design the logical structure using approved requirements and identified entities: tables, fields, primary keys and relationships between families, donors, inventory items, hubs and routes — documented as entity-relationship diagrams and reviewed against core FoodShare operations.</a:t>
            </a:r>
            <a:endParaRPr lang="en-US" sz="1100" dirty="0"/>
          </a:p>
        </p:txBody>
      </p:sp>
      <p:sp>
        <p:nvSpPr>
          <p:cNvPr id="14" name="Shape 12"/>
          <p:cNvSpPr/>
          <p:nvPr/>
        </p:nvSpPr>
        <p:spPr>
          <a:xfrm>
            <a:off x="548640" y="3794760"/>
            <a:ext cx="5605272" cy="2148840"/>
          </a:xfrm>
          <a:prstGeom prst="roundRect">
            <a:avLst>
              <a:gd name="adj" fmla="val 3830"/>
            </a:avLst>
          </a:prstGeom>
          <a:solidFill>
            <a:srgbClr val="F3F6F0"/>
          </a:solidFill>
          <a:ln w="12700">
            <a:solidFill>
              <a:srgbClr val="F3F6F0"/>
            </a:solidFill>
            <a:prstDash val="solid"/>
          </a:ln>
        </p:spPr>
      </p:sp>
      <p:sp>
        <p:nvSpPr>
          <p:cNvPr id="15" name="Shape 13"/>
          <p:cNvSpPr/>
          <p:nvPr/>
        </p:nvSpPr>
        <p:spPr>
          <a:xfrm>
            <a:off x="804672" y="4014216"/>
            <a:ext cx="658368" cy="292608"/>
          </a:xfrm>
          <a:prstGeom prst="roundRect">
            <a:avLst>
              <a:gd name="adj" fmla="val 25000"/>
            </a:avLst>
          </a:prstGeom>
          <a:solidFill>
            <a:srgbClr val="2C5F2D"/>
          </a:solidFill>
          <a:ln w="12700">
            <a:solidFill>
              <a:srgbClr val="2C5F2D"/>
            </a:solidFill>
            <a:prstDash val="solid"/>
          </a:ln>
        </p:spPr>
      </p:sp>
      <p:sp>
        <p:nvSpPr>
          <p:cNvPr id="16" name="Text 14"/>
          <p:cNvSpPr/>
          <p:nvPr/>
        </p:nvSpPr>
        <p:spPr>
          <a:xfrm>
            <a:off x="804672" y="4014216"/>
            <a:ext cx="658368"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4.2</a:t>
            </a:r>
            <a:endParaRPr lang="en-US" sz="1150" dirty="0"/>
          </a:p>
        </p:txBody>
      </p:sp>
      <p:sp>
        <p:nvSpPr>
          <p:cNvPr id="17" name="Text 15"/>
          <p:cNvSpPr/>
          <p:nvPr/>
        </p:nvSpPr>
        <p:spPr>
          <a:xfrm>
            <a:off x="1572768" y="3995928"/>
            <a:ext cx="4343400" cy="329184"/>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Clean and standardize data</a:t>
            </a:r>
            <a:endParaRPr lang="en-US" sz="1350" dirty="0"/>
          </a:p>
        </p:txBody>
      </p:sp>
      <p:sp>
        <p:nvSpPr>
          <p:cNvPr id="18" name="Text 16"/>
          <p:cNvSpPr/>
          <p:nvPr/>
        </p:nvSpPr>
        <p:spPr>
          <a:xfrm>
            <a:off x="804672" y="4434840"/>
            <a:ext cx="5102352" cy="1371600"/>
          </a:xfrm>
          <a:prstGeom prst="rect">
            <a:avLst/>
          </a:prstGeom>
          <a:noFill/>
          <a:ln/>
        </p:spPr>
        <p:txBody>
          <a:bodyPr wrap="square" lIns="0" tIns="0" rIns="0" bIns="0" rtlCol="0" anchor="ctr"/>
          <a:lstStyle/>
          <a:p>
            <a:pPr marL="0" indent="0">
              <a:lnSpc>
                <a:spcPts val="1600"/>
              </a:lnSpc>
              <a:buNone/>
            </a:pPr>
            <a:r>
              <a:rPr lang="en-US" sz="1100" dirty="0">
                <a:solidFill>
                  <a:srgbClr val="5F6F62"/>
                </a:solidFill>
                <a:latin typeface="Calibri" pitchFamily="34" charset="0"/>
                <a:ea typeface="Calibri" pitchFamily="34" charset="-122"/>
                <a:cs typeface="Calibri" pitchFamily="34" charset="-120"/>
              </a:rPr>
              <a:t>Check spreadsheet data for missing values, inconsistent formats, incorrect codes and duplicate records. Reformat addresses, phone numbers, status fields and item descriptions into consistent structures, producing a prepared data set that imports with fewer errors.</a:t>
            </a:r>
            <a:endParaRPr lang="en-US" sz="1100" dirty="0"/>
          </a:p>
        </p:txBody>
      </p:sp>
      <p:sp>
        <p:nvSpPr>
          <p:cNvPr id="19" name="Shape 17"/>
          <p:cNvSpPr/>
          <p:nvPr/>
        </p:nvSpPr>
        <p:spPr>
          <a:xfrm>
            <a:off x="6355080" y="3794760"/>
            <a:ext cx="5605272" cy="2148840"/>
          </a:xfrm>
          <a:prstGeom prst="roundRect">
            <a:avLst>
              <a:gd name="adj" fmla="val 3830"/>
            </a:avLst>
          </a:prstGeom>
          <a:solidFill>
            <a:srgbClr val="F3F6F0"/>
          </a:solidFill>
          <a:ln w="12700">
            <a:solidFill>
              <a:srgbClr val="F3F6F0"/>
            </a:solidFill>
            <a:prstDash val="solid"/>
          </a:ln>
        </p:spPr>
      </p:sp>
      <p:sp>
        <p:nvSpPr>
          <p:cNvPr id="20" name="Shape 18"/>
          <p:cNvSpPr/>
          <p:nvPr/>
        </p:nvSpPr>
        <p:spPr>
          <a:xfrm>
            <a:off x="6611112" y="4014216"/>
            <a:ext cx="658368" cy="292608"/>
          </a:xfrm>
          <a:prstGeom prst="roundRect">
            <a:avLst>
              <a:gd name="adj" fmla="val 25000"/>
            </a:avLst>
          </a:prstGeom>
          <a:solidFill>
            <a:srgbClr val="D97A26"/>
          </a:solidFill>
          <a:ln w="12700">
            <a:solidFill>
              <a:srgbClr val="D97A26"/>
            </a:solidFill>
            <a:prstDash val="solid"/>
          </a:ln>
        </p:spPr>
      </p:sp>
      <p:sp>
        <p:nvSpPr>
          <p:cNvPr id="21" name="Text 19"/>
          <p:cNvSpPr/>
          <p:nvPr/>
        </p:nvSpPr>
        <p:spPr>
          <a:xfrm>
            <a:off x="6611112" y="4014216"/>
            <a:ext cx="658368"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5.3</a:t>
            </a:r>
            <a:endParaRPr lang="en-US" sz="1150" dirty="0"/>
          </a:p>
        </p:txBody>
      </p:sp>
      <p:sp>
        <p:nvSpPr>
          <p:cNvPr id="22" name="Text 20"/>
          <p:cNvSpPr/>
          <p:nvPr/>
        </p:nvSpPr>
        <p:spPr>
          <a:xfrm>
            <a:off x="7379208" y="3995928"/>
            <a:ext cx="4343400" cy="329184"/>
          </a:xfrm>
          <a:prstGeom prst="rect">
            <a:avLst/>
          </a:prstGeom>
          <a:noFill/>
          <a:ln/>
        </p:spPr>
        <p:txBody>
          <a:bodyPr wrap="square" lIns="0" tIns="0" rIns="0" bIns="0" rtlCol="0" anchor="ctr"/>
          <a:lstStyle/>
          <a:p>
            <a:pPr marL="0" indent="0">
              <a:buNone/>
            </a:pPr>
            <a:r>
              <a:rPr lang="en-US" sz="1350" b="1" dirty="0">
                <a:solidFill>
                  <a:srgbClr val="163D24"/>
                </a:solidFill>
                <a:latin typeface="Calibri" pitchFamily="34" charset="0"/>
                <a:ea typeface="Calibri" pitchFamily="34" charset="-122"/>
                <a:cs typeface="Calibri" pitchFamily="34" charset="-120"/>
              </a:rPr>
              <a:t>Implement reports / dashboard</a:t>
            </a:r>
            <a:endParaRPr lang="en-US" sz="1350" dirty="0"/>
          </a:p>
        </p:txBody>
      </p:sp>
      <p:sp>
        <p:nvSpPr>
          <p:cNvPr id="23" name="Text 21"/>
          <p:cNvSpPr/>
          <p:nvPr/>
        </p:nvSpPr>
        <p:spPr>
          <a:xfrm>
            <a:off x="6611112" y="4434840"/>
            <a:ext cx="5102352" cy="1371600"/>
          </a:xfrm>
          <a:prstGeom prst="rect">
            <a:avLst/>
          </a:prstGeom>
          <a:noFill/>
          <a:ln/>
        </p:spPr>
        <p:txBody>
          <a:bodyPr wrap="square" lIns="0" tIns="0" rIns="0" bIns="0" rtlCol="0" anchor="ctr"/>
          <a:lstStyle/>
          <a:p>
            <a:pPr marL="0" indent="0">
              <a:lnSpc>
                <a:spcPts val="1600"/>
              </a:lnSpc>
              <a:buNone/>
            </a:pPr>
            <a:r>
              <a:rPr lang="en-US" sz="1100" dirty="0">
                <a:solidFill>
                  <a:srgbClr val="5F6F62"/>
                </a:solidFill>
                <a:latin typeface="Calibri" pitchFamily="34" charset="0"/>
                <a:ea typeface="Calibri" pitchFamily="34" charset="-122"/>
                <a:cs typeface="Calibri" pitchFamily="34" charset="-120"/>
              </a:rPr>
              <a:t>Build the reports and dashboard views staff need: weekly distribution schedules, family lists by hub or priority, donor pickup schedules, and inventory status by category and location — connected to live tables and tested with sample data.</a:t>
            </a:r>
            <a:endParaRPr lang="en-US" sz="1100" dirty="0"/>
          </a:p>
        </p:txBody>
      </p:sp>
      <p:sp>
        <p:nvSpPr>
          <p:cNvPr id="24" name="Text 22"/>
          <p:cNvSpPr/>
          <p:nvPr/>
        </p:nvSpPr>
        <p:spPr>
          <a:xfrm>
            <a:off x="548640" y="6327648"/>
            <a:ext cx="11091672" cy="274320"/>
          </a:xfrm>
          <a:prstGeom prst="rect">
            <a:avLst/>
          </a:prstGeom>
          <a:noFill/>
          <a:ln/>
        </p:spPr>
        <p:txBody>
          <a:bodyPr wrap="square" lIns="0" tIns="0" rIns="0" bIns="0" rtlCol="0" anchor="ctr"/>
          <a:lstStyle/>
          <a:p>
            <a:pPr marL="0" indent="0" algn="l">
              <a:buNone/>
            </a:pPr>
            <a:r>
              <a:rPr lang="en-US" sz="950" dirty="0">
                <a:solidFill>
                  <a:srgbClr val="9AA79C"/>
                </a:solidFill>
                <a:latin typeface="Calibri" pitchFamily="34" charset="0"/>
                <a:ea typeface="Calibri" pitchFamily="34" charset="-122"/>
                <a:cs typeface="Calibri" pitchFamily="34" charset="-120"/>
              </a:rPr>
              <a:t>Full dictionary covers 2.1, 2.3, 2.4, 3.1, 3.1.1, 3.3, 4.2, 4.4, 5.3, 5.5, 5.6 and 6.2.</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Assumptions &amp; Constraints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Sections 15 and 16 — what we are taking as given, and what limits us</a:t>
            </a:r>
            <a:endParaRPr lang="en-US" sz="1400" dirty="0"/>
          </a:p>
        </p:txBody>
      </p:sp>
      <p:sp>
        <p:nvSpPr>
          <p:cNvPr id="4" name="Shape 2"/>
          <p:cNvSpPr/>
          <p:nvPr/>
        </p:nvSpPr>
        <p:spPr>
          <a:xfrm>
            <a:off x="548640" y="1463040"/>
            <a:ext cx="6720840" cy="4572000"/>
          </a:xfrm>
          <a:prstGeom prst="roundRect">
            <a:avLst>
              <a:gd name="adj" fmla="val 1800"/>
            </a:avLst>
          </a:prstGeom>
          <a:solidFill>
            <a:srgbClr val="EEF3EA"/>
          </a:solidFill>
          <a:ln w="12700">
            <a:solidFill>
              <a:srgbClr val="EEF3EA"/>
            </a:solidFill>
            <a:prstDash val="solid"/>
          </a:ln>
        </p:spPr>
      </p:sp>
      <p:sp>
        <p:nvSpPr>
          <p:cNvPr id="5" name="Shape 3"/>
          <p:cNvSpPr/>
          <p:nvPr/>
        </p:nvSpPr>
        <p:spPr>
          <a:xfrm>
            <a:off x="841248" y="1691640"/>
            <a:ext cx="1691640" cy="310896"/>
          </a:xfrm>
          <a:prstGeom prst="roundRect">
            <a:avLst>
              <a:gd name="adj" fmla="val 23529"/>
            </a:avLst>
          </a:prstGeom>
          <a:solidFill>
            <a:srgbClr val="2C5F2D"/>
          </a:solidFill>
          <a:ln w="12700">
            <a:solidFill>
              <a:srgbClr val="2C5F2D"/>
            </a:solidFill>
            <a:prstDash val="solid"/>
          </a:ln>
        </p:spPr>
      </p:sp>
      <p:sp>
        <p:nvSpPr>
          <p:cNvPr id="6" name="Text 4"/>
          <p:cNvSpPr/>
          <p:nvPr/>
        </p:nvSpPr>
        <p:spPr>
          <a:xfrm>
            <a:off x="841248" y="1691640"/>
            <a:ext cx="16916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ASSUMPTIONS</a:t>
            </a:r>
            <a:endParaRPr lang="en-US" sz="1100" dirty="0"/>
          </a:p>
        </p:txBody>
      </p:sp>
      <p:sp>
        <p:nvSpPr>
          <p:cNvPr id="7" name="Shape 5"/>
          <p:cNvSpPr/>
          <p:nvPr/>
        </p:nvSpPr>
        <p:spPr>
          <a:xfrm>
            <a:off x="896112" y="2258568"/>
            <a:ext cx="146304" cy="146304"/>
          </a:xfrm>
          <a:prstGeom prst="ellipse">
            <a:avLst/>
          </a:prstGeom>
          <a:solidFill>
            <a:srgbClr val="2C5F2D"/>
          </a:solidFill>
          <a:ln w="12700">
            <a:solidFill>
              <a:srgbClr val="2C5F2D"/>
            </a:solidFill>
            <a:prstDash val="solid"/>
          </a:ln>
        </p:spPr>
      </p:sp>
      <p:sp>
        <p:nvSpPr>
          <p:cNvPr id="8" name="Text 6"/>
          <p:cNvSpPr/>
          <p:nvPr/>
        </p:nvSpPr>
        <p:spPr>
          <a:xfrm>
            <a:off x="1188720" y="2139696"/>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FoodShare has three operational warehouses</a:t>
            </a:r>
            <a:endParaRPr lang="en-US" sz="1200" dirty="0"/>
          </a:p>
        </p:txBody>
      </p:sp>
      <p:sp>
        <p:nvSpPr>
          <p:cNvPr id="9" name="Shape 7"/>
          <p:cNvSpPr/>
          <p:nvPr/>
        </p:nvSpPr>
        <p:spPr>
          <a:xfrm>
            <a:off x="896112" y="2606040"/>
            <a:ext cx="146304" cy="146304"/>
          </a:xfrm>
          <a:prstGeom prst="ellipse">
            <a:avLst/>
          </a:prstGeom>
          <a:solidFill>
            <a:srgbClr val="2C5F2D"/>
          </a:solidFill>
          <a:ln w="12700">
            <a:solidFill>
              <a:srgbClr val="2C5F2D"/>
            </a:solidFill>
            <a:prstDash val="solid"/>
          </a:ln>
        </p:spPr>
      </p:sp>
      <p:sp>
        <p:nvSpPr>
          <p:cNvPr id="10" name="Text 8"/>
          <p:cNvSpPr/>
          <p:nvPr/>
        </p:nvSpPr>
        <p:spPr>
          <a:xfrm>
            <a:off x="1188720" y="2487168"/>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Two delivery trucks are available throughout the project</a:t>
            </a:r>
            <a:endParaRPr lang="en-US" sz="1200" dirty="0"/>
          </a:p>
        </p:txBody>
      </p:sp>
      <p:sp>
        <p:nvSpPr>
          <p:cNvPr id="11" name="Shape 9"/>
          <p:cNvSpPr/>
          <p:nvPr/>
        </p:nvSpPr>
        <p:spPr>
          <a:xfrm>
            <a:off x="896112" y="2953512"/>
            <a:ext cx="146304" cy="146304"/>
          </a:xfrm>
          <a:prstGeom prst="ellipse">
            <a:avLst/>
          </a:prstGeom>
          <a:solidFill>
            <a:srgbClr val="2C5F2D"/>
          </a:solidFill>
          <a:ln w="12700">
            <a:solidFill>
              <a:srgbClr val="2C5F2D"/>
            </a:solidFill>
            <a:prstDash val="solid"/>
          </a:ln>
        </p:spPr>
      </p:sp>
      <p:sp>
        <p:nvSpPr>
          <p:cNvPr id="12" name="Text 10"/>
          <p:cNvSpPr/>
          <p:nvPr/>
        </p:nvSpPr>
        <p:spPr>
          <a:xfrm>
            <a:off x="1188720" y="2834640"/>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Refrigerated storage is available for dairy and frozen products</a:t>
            </a:r>
            <a:endParaRPr lang="en-US" sz="1200" dirty="0"/>
          </a:p>
        </p:txBody>
      </p:sp>
      <p:sp>
        <p:nvSpPr>
          <p:cNvPr id="13" name="Shape 11"/>
          <p:cNvSpPr/>
          <p:nvPr/>
        </p:nvSpPr>
        <p:spPr>
          <a:xfrm>
            <a:off x="896112" y="3300984"/>
            <a:ext cx="146304" cy="146304"/>
          </a:xfrm>
          <a:prstGeom prst="ellipse">
            <a:avLst/>
          </a:prstGeom>
          <a:solidFill>
            <a:srgbClr val="2C5F2D"/>
          </a:solidFill>
          <a:ln w="12700">
            <a:solidFill>
              <a:srgbClr val="2C5F2D"/>
            </a:solidFill>
            <a:prstDash val="solid"/>
          </a:ln>
        </p:spPr>
      </p:sp>
      <p:sp>
        <p:nvSpPr>
          <p:cNvPr id="14" name="Text 12"/>
          <p:cNvSpPr/>
          <p:nvPr/>
        </p:nvSpPr>
        <p:spPr>
          <a:xfrm>
            <a:off x="1188720" y="3182112"/>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Food donations are accepted only as food items, not money</a:t>
            </a:r>
            <a:endParaRPr lang="en-US" sz="1200" dirty="0"/>
          </a:p>
        </p:txBody>
      </p:sp>
      <p:sp>
        <p:nvSpPr>
          <p:cNvPr id="15" name="Shape 13"/>
          <p:cNvSpPr/>
          <p:nvPr/>
        </p:nvSpPr>
        <p:spPr>
          <a:xfrm>
            <a:off x="896112" y="3648456"/>
            <a:ext cx="146304" cy="146304"/>
          </a:xfrm>
          <a:prstGeom prst="ellipse">
            <a:avLst/>
          </a:prstGeom>
          <a:solidFill>
            <a:srgbClr val="2C5F2D"/>
          </a:solidFill>
          <a:ln w="12700">
            <a:solidFill>
              <a:srgbClr val="2C5F2D"/>
            </a:solidFill>
            <a:prstDash val="solid"/>
          </a:ln>
        </p:spPr>
      </p:sp>
      <p:sp>
        <p:nvSpPr>
          <p:cNvPr id="16" name="Text 14"/>
          <p:cNvSpPr/>
          <p:nvPr/>
        </p:nvSpPr>
        <p:spPr>
          <a:xfrm>
            <a:off x="1188720" y="3529584"/>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Donors can request pickup or deliver food directly to a warehouse</a:t>
            </a:r>
            <a:endParaRPr lang="en-US" sz="1200" dirty="0"/>
          </a:p>
        </p:txBody>
      </p:sp>
      <p:sp>
        <p:nvSpPr>
          <p:cNvPr id="17" name="Shape 15"/>
          <p:cNvSpPr/>
          <p:nvPr/>
        </p:nvSpPr>
        <p:spPr>
          <a:xfrm>
            <a:off x="896112" y="3995928"/>
            <a:ext cx="146304" cy="146304"/>
          </a:xfrm>
          <a:prstGeom prst="ellipse">
            <a:avLst/>
          </a:prstGeom>
          <a:solidFill>
            <a:srgbClr val="2C5F2D"/>
          </a:solidFill>
          <a:ln w="12700">
            <a:solidFill>
              <a:srgbClr val="2C5F2D"/>
            </a:solidFill>
            <a:prstDash val="solid"/>
          </a:ln>
        </p:spPr>
      </p:sp>
      <p:sp>
        <p:nvSpPr>
          <p:cNvPr id="18" name="Text 16"/>
          <p:cNvSpPr/>
          <p:nvPr/>
        </p:nvSpPr>
        <p:spPr>
          <a:xfrm>
            <a:off x="1188720" y="3877056"/>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Partner organizations will regularly update donation information through the portal</a:t>
            </a:r>
            <a:endParaRPr lang="en-US" sz="1200" dirty="0"/>
          </a:p>
        </p:txBody>
      </p:sp>
      <p:sp>
        <p:nvSpPr>
          <p:cNvPr id="19" name="Shape 17"/>
          <p:cNvSpPr/>
          <p:nvPr/>
        </p:nvSpPr>
        <p:spPr>
          <a:xfrm>
            <a:off x="896112" y="4343400"/>
            <a:ext cx="146304" cy="146304"/>
          </a:xfrm>
          <a:prstGeom prst="ellipse">
            <a:avLst/>
          </a:prstGeom>
          <a:solidFill>
            <a:srgbClr val="2C5F2D"/>
          </a:solidFill>
          <a:ln w="12700">
            <a:solidFill>
              <a:srgbClr val="2C5F2D"/>
            </a:solidFill>
            <a:prstDash val="solid"/>
          </a:ln>
        </p:spPr>
      </p:sp>
      <p:sp>
        <p:nvSpPr>
          <p:cNvPr id="20" name="Text 18"/>
          <p:cNvSpPr/>
          <p:nvPr/>
        </p:nvSpPr>
        <p:spPr>
          <a:xfrm>
            <a:off x="1188720" y="4224528"/>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Warehouse staff will verify every donation before it is stored</a:t>
            </a:r>
            <a:endParaRPr lang="en-US" sz="1200" dirty="0"/>
          </a:p>
        </p:txBody>
      </p:sp>
      <p:sp>
        <p:nvSpPr>
          <p:cNvPr id="21" name="Shape 19"/>
          <p:cNvSpPr/>
          <p:nvPr/>
        </p:nvSpPr>
        <p:spPr>
          <a:xfrm>
            <a:off x="896112" y="4690872"/>
            <a:ext cx="146304" cy="146304"/>
          </a:xfrm>
          <a:prstGeom prst="ellipse">
            <a:avLst/>
          </a:prstGeom>
          <a:solidFill>
            <a:srgbClr val="2C5F2D"/>
          </a:solidFill>
          <a:ln w="12700">
            <a:solidFill>
              <a:srgbClr val="2C5F2D"/>
            </a:solidFill>
            <a:prstDash val="solid"/>
          </a:ln>
        </p:spPr>
      </p:sp>
      <p:sp>
        <p:nvSpPr>
          <p:cNvPr id="22" name="Text 20"/>
          <p:cNvSpPr/>
          <p:nvPr/>
        </p:nvSpPr>
        <p:spPr>
          <a:xfrm>
            <a:off x="1188720" y="4572000"/>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Perishable food will always be distributed first using the FIFO method</a:t>
            </a:r>
            <a:endParaRPr lang="en-US" sz="1200" dirty="0"/>
          </a:p>
        </p:txBody>
      </p:sp>
      <p:sp>
        <p:nvSpPr>
          <p:cNvPr id="23" name="Shape 21"/>
          <p:cNvSpPr/>
          <p:nvPr/>
        </p:nvSpPr>
        <p:spPr>
          <a:xfrm>
            <a:off x="896112" y="5038344"/>
            <a:ext cx="146304" cy="146304"/>
          </a:xfrm>
          <a:prstGeom prst="ellipse">
            <a:avLst/>
          </a:prstGeom>
          <a:solidFill>
            <a:srgbClr val="2C5F2D"/>
          </a:solidFill>
          <a:ln w="12700">
            <a:solidFill>
              <a:srgbClr val="2C5F2D"/>
            </a:solidFill>
            <a:prstDash val="solid"/>
          </a:ln>
        </p:spPr>
      </p:sp>
      <p:sp>
        <p:nvSpPr>
          <p:cNvPr id="24" name="Text 22"/>
          <p:cNvSpPr/>
          <p:nvPr/>
        </p:nvSpPr>
        <p:spPr>
          <a:xfrm>
            <a:off x="1188720" y="4919472"/>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Food is distributed once every month to registered families</a:t>
            </a:r>
            <a:endParaRPr lang="en-US" sz="1200" dirty="0"/>
          </a:p>
        </p:txBody>
      </p:sp>
      <p:sp>
        <p:nvSpPr>
          <p:cNvPr id="25" name="Shape 23"/>
          <p:cNvSpPr/>
          <p:nvPr/>
        </p:nvSpPr>
        <p:spPr>
          <a:xfrm>
            <a:off x="896112" y="5385816"/>
            <a:ext cx="146304" cy="146304"/>
          </a:xfrm>
          <a:prstGeom prst="ellipse">
            <a:avLst/>
          </a:prstGeom>
          <a:solidFill>
            <a:srgbClr val="2C5F2D"/>
          </a:solidFill>
          <a:ln w="12700">
            <a:solidFill>
              <a:srgbClr val="2C5F2D"/>
            </a:solidFill>
            <a:prstDash val="solid"/>
          </a:ln>
        </p:spPr>
      </p:sp>
      <p:sp>
        <p:nvSpPr>
          <p:cNvPr id="26" name="Text 24"/>
          <p:cNvSpPr/>
          <p:nvPr/>
        </p:nvSpPr>
        <p:spPr>
          <a:xfrm>
            <a:off x="1188720" y="5266944"/>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Family food packages are prepared according to household size</a:t>
            </a:r>
            <a:endParaRPr lang="en-US" sz="1200" dirty="0"/>
          </a:p>
        </p:txBody>
      </p:sp>
      <p:sp>
        <p:nvSpPr>
          <p:cNvPr id="27" name="Shape 25"/>
          <p:cNvSpPr/>
          <p:nvPr/>
        </p:nvSpPr>
        <p:spPr>
          <a:xfrm>
            <a:off x="896112" y="5733288"/>
            <a:ext cx="146304" cy="146304"/>
          </a:xfrm>
          <a:prstGeom prst="ellipse">
            <a:avLst/>
          </a:prstGeom>
          <a:solidFill>
            <a:srgbClr val="2C5F2D"/>
          </a:solidFill>
          <a:ln w="12700">
            <a:solidFill>
              <a:srgbClr val="2C5F2D"/>
            </a:solidFill>
            <a:prstDash val="solid"/>
          </a:ln>
        </p:spPr>
      </p:sp>
      <p:sp>
        <p:nvSpPr>
          <p:cNvPr id="28" name="Text 26"/>
          <p:cNvSpPr/>
          <p:nvPr/>
        </p:nvSpPr>
        <p:spPr>
          <a:xfrm>
            <a:off x="1188720" y="5614416"/>
            <a:ext cx="5852160" cy="365760"/>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Enough volunteers are available to support warehouse operations</a:t>
            </a:r>
            <a:endParaRPr lang="en-US" sz="1200" dirty="0"/>
          </a:p>
        </p:txBody>
      </p:sp>
      <p:sp>
        <p:nvSpPr>
          <p:cNvPr id="29" name="Shape 27"/>
          <p:cNvSpPr/>
          <p:nvPr/>
        </p:nvSpPr>
        <p:spPr>
          <a:xfrm>
            <a:off x="7589520" y="1463040"/>
            <a:ext cx="4050792" cy="4572000"/>
          </a:xfrm>
          <a:prstGeom prst="roundRect">
            <a:avLst>
              <a:gd name="adj" fmla="val 2032"/>
            </a:avLst>
          </a:prstGeom>
          <a:solidFill>
            <a:srgbClr val="163D24"/>
          </a:solidFill>
          <a:ln w="12700">
            <a:solidFill>
              <a:srgbClr val="163D24"/>
            </a:solidFill>
            <a:prstDash val="solid"/>
          </a:ln>
        </p:spPr>
      </p:sp>
      <p:sp>
        <p:nvSpPr>
          <p:cNvPr id="30" name="Shape 28"/>
          <p:cNvSpPr/>
          <p:nvPr/>
        </p:nvSpPr>
        <p:spPr>
          <a:xfrm>
            <a:off x="7882128" y="1691640"/>
            <a:ext cx="1691640" cy="310896"/>
          </a:xfrm>
          <a:prstGeom prst="roundRect">
            <a:avLst>
              <a:gd name="adj" fmla="val 23529"/>
            </a:avLst>
          </a:prstGeom>
          <a:solidFill>
            <a:srgbClr val="D97A26"/>
          </a:solidFill>
          <a:ln w="12700">
            <a:solidFill>
              <a:srgbClr val="D97A26"/>
            </a:solidFill>
            <a:prstDash val="solid"/>
          </a:ln>
        </p:spPr>
      </p:sp>
      <p:sp>
        <p:nvSpPr>
          <p:cNvPr id="31" name="Text 29"/>
          <p:cNvSpPr/>
          <p:nvPr/>
        </p:nvSpPr>
        <p:spPr>
          <a:xfrm>
            <a:off x="7882128" y="1691640"/>
            <a:ext cx="16916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CONSTRAINTS</a:t>
            </a:r>
            <a:endParaRPr lang="en-US" sz="1100" dirty="0"/>
          </a:p>
        </p:txBody>
      </p:sp>
      <p:sp>
        <p:nvSpPr>
          <p:cNvPr id="32" name="Shape 30"/>
          <p:cNvSpPr/>
          <p:nvPr/>
        </p:nvSpPr>
        <p:spPr>
          <a:xfrm>
            <a:off x="7936992" y="2331720"/>
            <a:ext cx="146304" cy="36576"/>
          </a:xfrm>
          <a:prstGeom prst="rect">
            <a:avLst/>
          </a:prstGeom>
          <a:solidFill>
            <a:srgbClr val="D97A26"/>
          </a:solidFill>
          <a:ln w="12700">
            <a:solidFill>
              <a:srgbClr val="D97A26"/>
            </a:solidFill>
            <a:prstDash val="solid"/>
          </a:ln>
        </p:spPr>
      </p:sp>
      <p:sp>
        <p:nvSpPr>
          <p:cNvPr id="33" name="Text 31"/>
          <p:cNvSpPr/>
          <p:nvPr/>
        </p:nvSpPr>
        <p:spPr>
          <a:xfrm>
            <a:off x="8211312" y="2139696"/>
            <a:ext cx="3310128" cy="438912"/>
          </a:xfrm>
          <a:prstGeom prst="rect">
            <a:avLst/>
          </a:prstGeom>
          <a:noFill/>
          <a:ln/>
        </p:spPr>
        <p:txBody>
          <a:bodyPr wrap="square" lIns="0" tIns="0" rIns="0" bIns="0" rtlCol="0" anchor="ctr"/>
          <a:lstStyle/>
          <a:p>
            <a:pPr marL="0" indent="0">
              <a:buNone/>
            </a:pPr>
            <a:r>
              <a:rPr lang="en-US" sz="1200" dirty="0">
                <a:solidFill>
                  <a:srgbClr val="D6E3D0"/>
                </a:solidFill>
                <a:latin typeface="Calibri" pitchFamily="34" charset="0"/>
                <a:ea typeface="Calibri" pitchFamily="34" charset="-122"/>
                <a:cs typeface="Calibri" pitchFamily="34" charset="-120"/>
              </a:rPr>
              <a:t>Limited project budget</a:t>
            </a:r>
            <a:endParaRPr lang="en-US" sz="1200" dirty="0"/>
          </a:p>
        </p:txBody>
      </p:sp>
      <p:sp>
        <p:nvSpPr>
          <p:cNvPr id="34" name="Shape 32"/>
          <p:cNvSpPr/>
          <p:nvPr/>
        </p:nvSpPr>
        <p:spPr>
          <a:xfrm>
            <a:off x="7936992" y="2862072"/>
            <a:ext cx="146304" cy="36576"/>
          </a:xfrm>
          <a:prstGeom prst="rect">
            <a:avLst/>
          </a:prstGeom>
          <a:solidFill>
            <a:srgbClr val="D97A26"/>
          </a:solidFill>
          <a:ln w="12700">
            <a:solidFill>
              <a:srgbClr val="D97A26"/>
            </a:solidFill>
            <a:prstDash val="solid"/>
          </a:ln>
        </p:spPr>
      </p:sp>
      <p:sp>
        <p:nvSpPr>
          <p:cNvPr id="35" name="Text 33"/>
          <p:cNvSpPr/>
          <p:nvPr/>
        </p:nvSpPr>
        <p:spPr>
          <a:xfrm>
            <a:off x="8211312" y="2670048"/>
            <a:ext cx="3310128" cy="438912"/>
          </a:xfrm>
          <a:prstGeom prst="rect">
            <a:avLst/>
          </a:prstGeom>
          <a:noFill/>
          <a:ln/>
        </p:spPr>
        <p:txBody>
          <a:bodyPr wrap="square" lIns="0" tIns="0" rIns="0" bIns="0" rtlCol="0" anchor="ctr"/>
          <a:lstStyle/>
          <a:p>
            <a:pPr marL="0" indent="0">
              <a:buNone/>
            </a:pPr>
            <a:r>
              <a:rPr lang="en-US" sz="1200" dirty="0">
                <a:solidFill>
                  <a:srgbClr val="D6E3D0"/>
                </a:solidFill>
                <a:latin typeface="Calibri" pitchFamily="34" charset="0"/>
                <a:ea typeface="Calibri" pitchFamily="34" charset="-122"/>
                <a:cs typeface="Calibri" pitchFamily="34" charset="-120"/>
              </a:rPr>
              <a:t>Only two delivery trucks are available</a:t>
            </a:r>
            <a:endParaRPr lang="en-US" sz="1200" dirty="0"/>
          </a:p>
        </p:txBody>
      </p:sp>
      <p:sp>
        <p:nvSpPr>
          <p:cNvPr id="36" name="Shape 34"/>
          <p:cNvSpPr/>
          <p:nvPr/>
        </p:nvSpPr>
        <p:spPr>
          <a:xfrm>
            <a:off x="7936992" y="3392424"/>
            <a:ext cx="146304" cy="36576"/>
          </a:xfrm>
          <a:prstGeom prst="rect">
            <a:avLst/>
          </a:prstGeom>
          <a:solidFill>
            <a:srgbClr val="D97A26"/>
          </a:solidFill>
          <a:ln w="12700">
            <a:solidFill>
              <a:srgbClr val="D97A26"/>
            </a:solidFill>
            <a:prstDash val="solid"/>
          </a:ln>
        </p:spPr>
      </p:sp>
      <p:sp>
        <p:nvSpPr>
          <p:cNvPr id="37" name="Text 35"/>
          <p:cNvSpPr/>
          <p:nvPr/>
        </p:nvSpPr>
        <p:spPr>
          <a:xfrm>
            <a:off x="8211312" y="3200400"/>
            <a:ext cx="3310128" cy="438912"/>
          </a:xfrm>
          <a:prstGeom prst="rect">
            <a:avLst/>
          </a:prstGeom>
          <a:noFill/>
          <a:ln/>
        </p:spPr>
        <p:txBody>
          <a:bodyPr wrap="square" lIns="0" tIns="0" rIns="0" bIns="0" rtlCol="0" anchor="ctr"/>
          <a:lstStyle/>
          <a:p>
            <a:pPr marL="0" indent="0">
              <a:buNone/>
            </a:pPr>
            <a:r>
              <a:rPr lang="en-US" sz="1200" dirty="0">
                <a:solidFill>
                  <a:srgbClr val="D6E3D0"/>
                </a:solidFill>
                <a:latin typeface="Calibri" pitchFamily="34" charset="0"/>
                <a:ea typeface="Calibri" pitchFamily="34" charset="-122"/>
                <a:cs typeface="Calibri" pitchFamily="34" charset="-120"/>
              </a:rPr>
              <a:t>Limited warehouse storage capacity</a:t>
            </a:r>
            <a:endParaRPr lang="en-US" sz="1200" dirty="0"/>
          </a:p>
        </p:txBody>
      </p:sp>
      <p:sp>
        <p:nvSpPr>
          <p:cNvPr id="38" name="Shape 36"/>
          <p:cNvSpPr/>
          <p:nvPr/>
        </p:nvSpPr>
        <p:spPr>
          <a:xfrm>
            <a:off x="7936992" y="3922776"/>
            <a:ext cx="146304" cy="36576"/>
          </a:xfrm>
          <a:prstGeom prst="rect">
            <a:avLst/>
          </a:prstGeom>
          <a:solidFill>
            <a:srgbClr val="D97A26"/>
          </a:solidFill>
          <a:ln w="12700">
            <a:solidFill>
              <a:srgbClr val="D97A26"/>
            </a:solidFill>
            <a:prstDash val="solid"/>
          </a:ln>
        </p:spPr>
      </p:sp>
      <p:sp>
        <p:nvSpPr>
          <p:cNvPr id="39" name="Text 37"/>
          <p:cNvSpPr/>
          <p:nvPr/>
        </p:nvSpPr>
        <p:spPr>
          <a:xfrm>
            <a:off x="8211312" y="3730752"/>
            <a:ext cx="3310128" cy="438912"/>
          </a:xfrm>
          <a:prstGeom prst="rect">
            <a:avLst/>
          </a:prstGeom>
          <a:noFill/>
          <a:ln/>
        </p:spPr>
        <p:txBody>
          <a:bodyPr wrap="square" lIns="0" tIns="0" rIns="0" bIns="0" rtlCol="0" anchor="ctr"/>
          <a:lstStyle/>
          <a:p>
            <a:pPr marL="0" indent="0">
              <a:buNone/>
            </a:pPr>
            <a:r>
              <a:rPr lang="en-US" sz="1200" dirty="0">
                <a:solidFill>
                  <a:srgbClr val="D6E3D0"/>
                </a:solidFill>
                <a:latin typeface="Calibri" pitchFamily="34" charset="0"/>
                <a:ea typeface="Calibri" pitchFamily="34" charset="-122"/>
                <a:cs typeface="Calibri" pitchFamily="34" charset="-120"/>
              </a:rPr>
              <a:t>Donations depend on community participation</a:t>
            </a:r>
            <a:endParaRPr lang="en-US" sz="1200" dirty="0"/>
          </a:p>
        </p:txBody>
      </p:sp>
      <p:sp>
        <p:nvSpPr>
          <p:cNvPr id="40" name="Shape 38"/>
          <p:cNvSpPr/>
          <p:nvPr/>
        </p:nvSpPr>
        <p:spPr>
          <a:xfrm>
            <a:off x="7936992" y="4453128"/>
            <a:ext cx="146304" cy="36576"/>
          </a:xfrm>
          <a:prstGeom prst="rect">
            <a:avLst/>
          </a:prstGeom>
          <a:solidFill>
            <a:srgbClr val="D97A26"/>
          </a:solidFill>
          <a:ln w="12700">
            <a:solidFill>
              <a:srgbClr val="D97A26"/>
            </a:solidFill>
            <a:prstDash val="solid"/>
          </a:ln>
        </p:spPr>
      </p:sp>
      <p:sp>
        <p:nvSpPr>
          <p:cNvPr id="41" name="Text 39"/>
          <p:cNvSpPr/>
          <p:nvPr/>
        </p:nvSpPr>
        <p:spPr>
          <a:xfrm>
            <a:off x="8211312" y="4261104"/>
            <a:ext cx="3310128" cy="438912"/>
          </a:xfrm>
          <a:prstGeom prst="rect">
            <a:avLst/>
          </a:prstGeom>
          <a:noFill/>
          <a:ln/>
        </p:spPr>
        <p:txBody>
          <a:bodyPr wrap="square" lIns="0" tIns="0" rIns="0" bIns="0" rtlCol="0" anchor="ctr"/>
          <a:lstStyle/>
          <a:p>
            <a:pPr marL="0" indent="0">
              <a:buNone/>
            </a:pPr>
            <a:r>
              <a:rPr lang="en-US" sz="1200" dirty="0">
                <a:solidFill>
                  <a:srgbClr val="D6E3D0"/>
                </a:solidFill>
                <a:latin typeface="Calibri" pitchFamily="34" charset="0"/>
                <a:ea typeface="Calibri" pitchFamily="34" charset="-122"/>
                <a:cs typeface="Calibri" pitchFamily="34" charset="-120"/>
              </a:rPr>
              <a:t>Some food items have very short expiry dates</a:t>
            </a:r>
            <a:endParaRPr lang="en-US" sz="1200" dirty="0"/>
          </a:p>
        </p:txBody>
      </p:sp>
      <p:sp>
        <p:nvSpPr>
          <p:cNvPr id="42" name="Shape 40"/>
          <p:cNvSpPr/>
          <p:nvPr/>
        </p:nvSpPr>
        <p:spPr>
          <a:xfrm>
            <a:off x="7936992" y="4983480"/>
            <a:ext cx="146304" cy="36576"/>
          </a:xfrm>
          <a:prstGeom prst="rect">
            <a:avLst/>
          </a:prstGeom>
          <a:solidFill>
            <a:srgbClr val="D97A26"/>
          </a:solidFill>
          <a:ln w="12700">
            <a:solidFill>
              <a:srgbClr val="D97A26"/>
            </a:solidFill>
            <a:prstDash val="solid"/>
          </a:ln>
        </p:spPr>
      </p:sp>
      <p:sp>
        <p:nvSpPr>
          <p:cNvPr id="43" name="Text 41"/>
          <p:cNvSpPr/>
          <p:nvPr/>
        </p:nvSpPr>
        <p:spPr>
          <a:xfrm>
            <a:off x="8211312" y="4791456"/>
            <a:ext cx="3310128" cy="438912"/>
          </a:xfrm>
          <a:prstGeom prst="rect">
            <a:avLst/>
          </a:prstGeom>
          <a:noFill/>
          <a:ln/>
        </p:spPr>
        <p:txBody>
          <a:bodyPr wrap="square" lIns="0" tIns="0" rIns="0" bIns="0" rtlCol="0" anchor="ctr"/>
          <a:lstStyle/>
          <a:p>
            <a:pPr marL="0" indent="0">
              <a:buNone/>
            </a:pPr>
            <a:r>
              <a:rPr lang="en-US" sz="1200" dirty="0">
                <a:solidFill>
                  <a:srgbClr val="D6E3D0"/>
                </a:solidFill>
                <a:latin typeface="Calibri" pitchFamily="34" charset="0"/>
                <a:ea typeface="Calibri" pitchFamily="34" charset="-122"/>
                <a:cs typeface="Calibri" pitchFamily="34" charset="-120"/>
              </a:rPr>
              <a:t>Volunteer availability may change throughout the year</a:t>
            </a:r>
            <a:endParaRPr lang="en-US" sz="1200" dirty="0"/>
          </a:p>
        </p:txBody>
      </p:sp>
      <p:sp>
        <p:nvSpPr>
          <p:cNvPr id="44" name="Text 42"/>
          <p:cNvSpPr/>
          <p:nvPr/>
        </p:nvSpPr>
        <p:spPr>
          <a:xfrm>
            <a:off x="7936992" y="5504688"/>
            <a:ext cx="3429000" cy="457200"/>
          </a:xfrm>
          <a:prstGeom prst="rect">
            <a:avLst/>
          </a:prstGeom>
          <a:noFill/>
          <a:ln/>
        </p:spPr>
        <p:txBody>
          <a:bodyPr wrap="square" lIns="0" tIns="0" rIns="0" bIns="0" rtlCol="0" anchor="ctr"/>
          <a:lstStyle/>
          <a:p>
            <a:pPr marL="0" indent="0">
              <a:lnSpc>
                <a:spcPts val="1600"/>
              </a:lnSpc>
              <a:buNone/>
            </a:pPr>
            <a:r>
              <a:rPr lang="en-US" sz="1100" i="1" dirty="0">
                <a:solidFill>
                  <a:srgbClr val="97BC62"/>
                </a:solidFill>
                <a:latin typeface="Calibri" pitchFamily="34" charset="0"/>
                <a:ea typeface="Calibri" pitchFamily="34" charset="-122"/>
                <a:cs typeface="Calibri" pitchFamily="34" charset="-120"/>
              </a:rPr>
              <a:t>Every constraint here has a matching risk on the next slide — the two lists are read together.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Project Risks &amp; Responses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17 — six identified risks, each with a planned response</a:t>
            </a:r>
            <a:endParaRPr lang="en-US" sz="1400" dirty="0"/>
          </a:p>
        </p:txBody>
      </p:sp>
      <p:sp>
        <p:nvSpPr>
          <p:cNvPr id="4" name="Text 2"/>
          <p:cNvSpPr/>
          <p:nvPr/>
        </p:nvSpPr>
        <p:spPr>
          <a:xfrm>
            <a:off x="1298448" y="1417320"/>
            <a:ext cx="3657600" cy="256032"/>
          </a:xfrm>
          <a:prstGeom prst="rect">
            <a:avLst/>
          </a:prstGeom>
          <a:noFill/>
          <a:ln/>
        </p:spPr>
        <p:txBody>
          <a:bodyPr wrap="square" lIns="0" tIns="0" rIns="0" bIns="0" rtlCol="0" anchor="ctr"/>
          <a:lstStyle/>
          <a:p>
            <a:pPr marL="0" indent="0">
              <a:buNone/>
            </a:pPr>
            <a:r>
              <a:rPr lang="en-US" sz="950" b="1" kern="0" spc="120" dirty="0">
                <a:solidFill>
                  <a:srgbClr val="5F6F62"/>
                </a:solidFill>
                <a:latin typeface="Calibri" pitchFamily="34" charset="0"/>
                <a:ea typeface="Calibri" pitchFamily="34" charset="-122"/>
                <a:cs typeface="Calibri" pitchFamily="34" charset="-120"/>
              </a:rPr>
              <a:t>RISK</a:t>
            </a:r>
            <a:endParaRPr lang="en-US" sz="950" dirty="0"/>
          </a:p>
        </p:txBody>
      </p:sp>
      <p:sp>
        <p:nvSpPr>
          <p:cNvPr id="5" name="Text 3"/>
          <p:cNvSpPr/>
          <p:nvPr/>
        </p:nvSpPr>
        <p:spPr>
          <a:xfrm>
            <a:off x="5943600" y="1417320"/>
            <a:ext cx="3657600" cy="256032"/>
          </a:xfrm>
          <a:prstGeom prst="rect">
            <a:avLst/>
          </a:prstGeom>
          <a:noFill/>
          <a:ln/>
        </p:spPr>
        <p:txBody>
          <a:bodyPr wrap="square" lIns="0" tIns="0" rIns="0" bIns="0" rtlCol="0" anchor="ctr"/>
          <a:lstStyle/>
          <a:p>
            <a:pPr marL="0" indent="0">
              <a:buNone/>
            </a:pPr>
            <a:r>
              <a:rPr lang="en-US" sz="950" b="1" kern="0" spc="120" dirty="0">
                <a:solidFill>
                  <a:srgbClr val="5F6F62"/>
                </a:solidFill>
                <a:latin typeface="Calibri" pitchFamily="34" charset="0"/>
                <a:ea typeface="Calibri" pitchFamily="34" charset="-122"/>
                <a:cs typeface="Calibri" pitchFamily="34" charset="-120"/>
              </a:rPr>
              <a:t>PLANNED RESPONSE</a:t>
            </a:r>
            <a:endParaRPr lang="en-US" sz="950" dirty="0"/>
          </a:p>
        </p:txBody>
      </p:sp>
      <p:sp>
        <p:nvSpPr>
          <p:cNvPr id="6" name="Shape 4"/>
          <p:cNvSpPr/>
          <p:nvPr/>
        </p:nvSpPr>
        <p:spPr>
          <a:xfrm>
            <a:off x="548640" y="1737360"/>
            <a:ext cx="11091672" cy="713232"/>
          </a:xfrm>
          <a:prstGeom prst="roundRect">
            <a:avLst>
              <a:gd name="adj" fmla="val 11538"/>
            </a:avLst>
          </a:prstGeom>
          <a:solidFill>
            <a:srgbClr val="EEF3EA"/>
          </a:solidFill>
          <a:ln w="12700">
            <a:solidFill>
              <a:srgbClr val="EEF3EA"/>
            </a:solidFill>
            <a:prstDash val="solid"/>
          </a:ln>
        </p:spPr>
      </p:sp>
      <p:sp>
        <p:nvSpPr>
          <p:cNvPr id="7" name="Shape 5"/>
          <p:cNvSpPr/>
          <p:nvPr/>
        </p:nvSpPr>
        <p:spPr>
          <a:xfrm>
            <a:off x="804672" y="1947672"/>
            <a:ext cx="292608" cy="292608"/>
          </a:xfrm>
          <a:prstGeom prst="ellipse">
            <a:avLst/>
          </a:prstGeom>
          <a:solidFill>
            <a:srgbClr val="D97A26"/>
          </a:solidFill>
          <a:ln w="12700">
            <a:solidFill>
              <a:srgbClr val="D97A26"/>
            </a:solidFill>
            <a:prstDash val="solid"/>
          </a:ln>
        </p:spPr>
      </p:sp>
      <p:sp>
        <p:nvSpPr>
          <p:cNvPr id="8" name="Text 6"/>
          <p:cNvSpPr/>
          <p:nvPr/>
        </p:nvSpPr>
        <p:spPr>
          <a:xfrm>
            <a:off x="804672" y="194767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98448" y="1737360"/>
            <a:ext cx="4434840" cy="713232"/>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Food expires before distribution</a:t>
            </a:r>
            <a:endParaRPr lang="en-US" sz="1300" dirty="0"/>
          </a:p>
        </p:txBody>
      </p:sp>
      <p:sp>
        <p:nvSpPr>
          <p:cNvPr id="10" name="Shape 8"/>
          <p:cNvSpPr/>
          <p:nvPr/>
        </p:nvSpPr>
        <p:spPr>
          <a:xfrm>
            <a:off x="5532120" y="2011680"/>
            <a:ext cx="219456" cy="164592"/>
          </a:xfrm>
          <a:prstGeom prst="rightArrow">
            <a:avLst/>
          </a:prstGeom>
          <a:solidFill>
            <a:srgbClr val="97BC62"/>
          </a:solidFill>
          <a:ln w="12700">
            <a:solidFill>
              <a:srgbClr val="97BC62"/>
            </a:solidFill>
            <a:prstDash val="solid"/>
          </a:ln>
        </p:spPr>
      </p:sp>
      <p:sp>
        <p:nvSpPr>
          <p:cNvPr id="11" name="Text 9"/>
          <p:cNvSpPr/>
          <p:nvPr/>
        </p:nvSpPr>
        <p:spPr>
          <a:xfrm>
            <a:off x="5943600" y="1737360"/>
            <a:ext cx="5440680" cy="713232"/>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Apply FIFO consistently and monitor expiry dates daily</a:t>
            </a:r>
            <a:endParaRPr lang="en-US" sz="1200" dirty="0"/>
          </a:p>
        </p:txBody>
      </p:sp>
      <p:sp>
        <p:nvSpPr>
          <p:cNvPr id="12" name="Shape 10"/>
          <p:cNvSpPr/>
          <p:nvPr/>
        </p:nvSpPr>
        <p:spPr>
          <a:xfrm>
            <a:off x="548640" y="2542032"/>
            <a:ext cx="11091672" cy="713232"/>
          </a:xfrm>
          <a:prstGeom prst="roundRect">
            <a:avLst>
              <a:gd name="adj" fmla="val 11538"/>
            </a:avLst>
          </a:prstGeom>
          <a:solidFill>
            <a:srgbClr val="F3F6F0"/>
          </a:solidFill>
          <a:ln w="12700">
            <a:solidFill>
              <a:srgbClr val="F3F6F0"/>
            </a:solidFill>
            <a:prstDash val="solid"/>
          </a:ln>
        </p:spPr>
      </p:sp>
      <p:sp>
        <p:nvSpPr>
          <p:cNvPr id="13" name="Shape 11"/>
          <p:cNvSpPr/>
          <p:nvPr/>
        </p:nvSpPr>
        <p:spPr>
          <a:xfrm>
            <a:off x="804672" y="2752344"/>
            <a:ext cx="292608" cy="292608"/>
          </a:xfrm>
          <a:prstGeom prst="ellipse">
            <a:avLst/>
          </a:prstGeom>
          <a:solidFill>
            <a:srgbClr val="D97A26"/>
          </a:solidFill>
          <a:ln w="12700">
            <a:solidFill>
              <a:srgbClr val="D97A26"/>
            </a:solidFill>
            <a:prstDash val="solid"/>
          </a:ln>
        </p:spPr>
      </p:sp>
      <p:sp>
        <p:nvSpPr>
          <p:cNvPr id="14" name="Text 12"/>
          <p:cNvSpPr/>
          <p:nvPr/>
        </p:nvSpPr>
        <p:spPr>
          <a:xfrm>
            <a:off x="804672" y="27523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1298448" y="2542032"/>
            <a:ext cx="4434840" cy="713232"/>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Low number of donations</a:t>
            </a:r>
            <a:endParaRPr lang="en-US" sz="1300" dirty="0"/>
          </a:p>
        </p:txBody>
      </p:sp>
      <p:sp>
        <p:nvSpPr>
          <p:cNvPr id="16" name="Shape 14"/>
          <p:cNvSpPr/>
          <p:nvPr/>
        </p:nvSpPr>
        <p:spPr>
          <a:xfrm>
            <a:off x="5532120" y="2816352"/>
            <a:ext cx="219456" cy="164592"/>
          </a:xfrm>
          <a:prstGeom prst="rightArrow">
            <a:avLst/>
          </a:prstGeom>
          <a:solidFill>
            <a:srgbClr val="97BC62"/>
          </a:solidFill>
          <a:ln w="12700">
            <a:solidFill>
              <a:srgbClr val="97BC62"/>
            </a:solidFill>
            <a:prstDash val="solid"/>
          </a:ln>
        </p:spPr>
      </p:sp>
      <p:sp>
        <p:nvSpPr>
          <p:cNvPr id="17" name="Text 15"/>
          <p:cNvSpPr/>
          <p:nvPr/>
        </p:nvSpPr>
        <p:spPr>
          <a:xfrm>
            <a:off x="5943600" y="2542032"/>
            <a:ext cx="5440680" cy="713232"/>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Build more partnerships with local businesses</a:t>
            </a:r>
            <a:endParaRPr lang="en-US" sz="1200" dirty="0"/>
          </a:p>
        </p:txBody>
      </p:sp>
      <p:sp>
        <p:nvSpPr>
          <p:cNvPr id="18" name="Shape 16"/>
          <p:cNvSpPr/>
          <p:nvPr/>
        </p:nvSpPr>
        <p:spPr>
          <a:xfrm>
            <a:off x="548640" y="3346704"/>
            <a:ext cx="11091672" cy="713232"/>
          </a:xfrm>
          <a:prstGeom prst="roundRect">
            <a:avLst>
              <a:gd name="adj" fmla="val 11538"/>
            </a:avLst>
          </a:prstGeom>
          <a:solidFill>
            <a:srgbClr val="EEF3EA"/>
          </a:solidFill>
          <a:ln w="12700">
            <a:solidFill>
              <a:srgbClr val="EEF3EA"/>
            </a:solidFill>
            <a:prstDash val="solid"/>
          </a:ln>
        </p:spPr>
      </p:sp>
      <p:sp>
        <p:nvSpPr>
          <p:cNvPr id="19" name="Shape 17"/>
          <p:cNvSpPr/>
          <p:nvPr/>
        </p:nvSpPr>
        <p:spPr>
          <a:xfrm>
            <a:off x="804672" y="3557016"/>
            <a:ext cx="292608" cy="292608"/>
          </a:xfrm>
          <a:prstGeom prst="ellipse">
            <a:avLst/>
          </a:prstGeom>
          <a:solidFill>
            <a:srgbClr val="D97A26"/>
          </a:solidFill>
          <a:ln w="12700">
            <a:solidFill>
              <a:srgbClr val="D97A26"/>
            </a:solidFill>
            <a:prstDash val="solid"/>
          </a:ln>
        </p:spPr>
      </p:sp>
      <p:sp>
        <p:nvSpPr>
          <p:cNvPr id="20" name="Text 18"/>
          <p:cNvSpPr/>
          <p:nvPr/>
        </p:nvSpPr>
        <p:spPr>
          <a:xfrm>
            <a:off x="804672" y="355701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1298448" y="3346704"/>
            <a:ext cx="4434840" cy="713232"/>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Truck breakdown</a:t>
            </a:r>
            <a:endParaRPr lang="en-US" sz="1300" dirty="0"/>
          </a:p>
        </p:txBody>
      </p:sp>
      <p:sp>
        <p:nvSpPr>
          <p:cNvPr id="22" name="Shape 20"/>
          <p:cNvSpPr/>
          <p:nvPr/>
        </p:nvSpPr>
        <p:spPr>
          <a:xfrm>
            <a:off x="5532120" y="3621024"/>
            <a:ext cx="219456" cy="164592"/>
          </a:xfrm>
          <a:prstGeom prst="rightArrow">
            <a:avLst/>
          </a:prstGeom>
          <a:solidFill>
            <a:srgbClr val="97BC62"/>
          </a:solidFill>
          <a:ln w="12700">
            <a:solidFill>
              <a:srgbClr val="97BC62"/>
            </a:solidFill>
            <a:prstDash val="solid"/>
          </a:ln>
        </p:spPr>
      </p:sp>
      <p:sp>
        <p:nvSpPr>
          <p:cNvPr id="23" name="Text 21"/>
          <p:cNvSpPr/>
          <p:nvPr/>
        </p:nvSpPr>
        <p:spPr>
          <a:xfrm>
            <a:off x="5943600" y="3346704"/>
            <a:ext cx="5440680" cy="713232"/>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Perform regular maintenance and keep a backup schedule</a:t>
            </a:r>
            <a:endParaRPr lang="en-US" sz="1200" dirty="0"/>
          </a:p>
        </p:txBody>
      </p:sp>
      <p:sp>
        <p:nvSpPr>
          <p:cNvPr id="24" name="Shape 22"/>
          <p:cNvSpPr/>
          <p:nvPr/>
        </p:nvSpPr>
        <p:spPr>
          <a:xfrm>
            <a:off x="548640" y="4151376"/>
            <a:ext cx="11091672" cy="713232"/>
          </a:xfrm>
          <a:prstGeom prst="roundRect">
            <a:avLst>
              <a:gd name="adj" fmla="val 11538"/>
            </a:avLst>
          </a:prstGeom>
          <a:solidFill>
            <a:srgbClr val="F3F6F0"/>
          </a:solidFill>
          <a:ln w="12700">
            <a:solidFill>
              <a:srgbClr val="F3F6F0"/>
            </a:solidFill>
            <a:prstDash val="solid"/>
          </a:ln>
        </p:spPr>
      </p:sp>
      <p:sp>
        <p:nvSpPr>
          <p:cNvPr id="25" name="Shape 23"/>
          <p:cNvSpPr/>
          <p:nvPr/>
        </p:nvSpPr>
        <p:spPr>
          <a:xfrm>
            <a:off x="804672" y="4361688"/>
            <a:ext cx="292608" cy="292608"/>
          </a:xfrm>
          <a:prstGeom prst="ellipse">
            <a:avLst/>
          </a:prstGeom>
          <a:solidFill>
            <a:srgbClr val="2C5F2D"/>
          </a:solidFill>
          <a:ln w="12700">
            <a:solidFill>
              <a:srgbClr val="2C5F2D"/>
            </a:solidFill>
            <a:prstDash val="solid"/>
          </a:ln>
        </p:spPr>
      </p:sp>
      <p:sp>
        <p:nvSpPr>
          <p:cNvPr id="26" name="Text 24"/>
          <p:cNvSpPr/>
          <p:nvPr/>
        </p:nvSpPr>
        <p:spPr>
          <a:xfrm>
            <a:off x="804672" y="436168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1298448" y="4151376"/>
            <a:ext cx="4434840" cy="713232"/>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Inventory mistakes</a:t>
            </a:r>
            <a:endParaRPr lang="en-US" sz="1300" dirty="0"/>
          </a:p>
        </p:txBody>
      </p:sp>
      <p:sp>
        <p:nvSpPr>
          <p:cNvPr id="28" name="Shape 26"/>
          <p:cNvSpPr/>
          <p:nvPr/>
        </p:nvSpPr>
        <p:spPr>
          <a:xfrm>
            <a:off x="5532120" y="4425696"/>
            <a:ext cx="219456" cy="164592"/>
          </a:xfrm>
          <a:prstGeom prst="rightArrow">
            <a:avLst/>
          </a:prstGeom>
          <a:solidFill>
            <a:srgbClr val="97BC62"/>
          </a:solidFill>
          <a:ln w="12700">
            <a:solidFill>
              <a:srgbClr val="97BC62"/>
            </a:solidFill>
            <a:prstDash val="solid"/>
          </a:ln>
        </p:spPr>
      </p:sp>
      <p:sp>
        <p:nvSpPr>
          <p:cNvPr id="29" name="Text 27"/>
          <p:cNvSpPr/>
          <p:nvPr/>
        </p:nvSpPr>
        <p:spPr>
          <a:xfrm>
            <a:off x="5943600" y="4151376"/>
            <a:ext cx="5440680" cy="713232"/>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Verify every donation before it is added to stock</a:t>
            </a:r>
            <a:endParaRPr lang="en-US" sz="1200" dirty="0"/>
          </a:p>
        </p:txBody>
      </p:sp>
      <p:sp>
        <p:nvSpPr>
          <p:cNvPr id="30" name="Shape 28"/>
          <p:cNvSpPr/>
          <p:nvPr/>
        </p:nvSpPr>
        <p:spPr>
          <a:xfrm>
            <a:off x="548640" y="4956048"/>
            <a:ext cx="11091672" cy="713232"/>
          </a:xfrm>
          <a:prstGeom prst="roundRect">
            <a:avLst>
              <a:gd name="adj" fmla="val 11538"/>
            </a:avLst>
          </a:prstGeom>
          <a:solidFill>
            <a:srgbClr val="EEF3EA"/>
          </a:solidFill>
          <a:ln w="12700">
            <a:solidFill>
              <a:srgbClr val="EEF3EA"/>
            </a:solidFill>
            <a:prstDash val="solid"/>
          </a:ln>
        </p:spPr>
      </p:sp>
      <p:sp>
        <p:nvSpPr>
          <p:cNvPr id="31" name="Shape 29"/>
          <p:cNvSpPr/>
          <p:nvPr/>
        </p:nvSpPr>
        <p:spPr>
          <a:xfrm>
            <a:off x="804672" y="5166360"/>
            <a:ext cx="292608" cy="292608"/>
          </a:xfrm>
          <a:prstGeom prst="ellipse">
            <a:avLst/>
          </a:prstGeom>
          <a:solidFill>
            <a:srgbClr val="2C5F2D"/>
          </a:solidFill>
          <a:ln w="12700">
            <a:solidFill>
              <a:srgbClr val="2C5F2D"/>
            </a:solidFill>
            <a:prstDash val="solid"/>
          </a:ln>
        </p:spPr>
      </p:sp>
      <p:sp>
        <p:nvSpPr>
          <p:cNvPr id="32" name="Text 30"/>
          <p:cNvSpPr/>
          <p:nvPr/>
        </p:nvSpPr>
        <p:spPr>
          <a:xfrm>
            <a:off x="804672" y="51663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3" name="Text 31"/>
          <p:cNvSpPr/>
          <p:nvPr/>
        </p:nvSpPr>
        <p:spPr>
          <a:xfrm>
            <a:off x="1298448" y="4956048"/>
            <a:ext cx="4434840" cy="713232"/>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Storage runs full</a:t>
            </a:r>
            <a:endParaRPr lang="en-US" sz="1300" dirty="0"/>
          </a:p>
        </p:txBody>
      </p:sp>
      <p:sp>
        <p:nvSpPr>
          <p:cNvPr id="34" name="Shape 32"/>
          <p:cNvSpPr/>
          <p:nvPr/>
        </p:nvSpPr>
        <p:spPr>
          <a:xfrm>
            <a:off x="5532120" y="5230368"/>
            <a:ext cx="219456" cy="164592"/>
          </a:xfrm>
          <a:prstGeom prst="rightArrow">
            <a:avLst/>
          </a:prstGeom>
          <a:solidFill>
            <a:srgbClr val="97BC62"/>
          </a:solidFill>
          <a:ln w="12700">
            <a:solidFill>
              <a:srgbClr val="97BC62"/>
            </a:solidFill>
            <a:prstDash val="solid"/>
          </a:ln>
        </p:spPr>
      </p:sp>
      <p:sp>
        <p:nvSpPr>
          <p:cNvPr id="35" name="Text 33"/>
          <p:cNvSpPr/>
          <p:nvPr/>
        </p:nvSpPr>
        <p:spPr>
          <a:xfrm>
            <a:off x="5943600" y="4956048"/>
            <a:ext cx="5440680" cy="713232"/>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Move inventory between warehouses as needed</a:t>
            </a:r>
            <a:endParaRPr lang="en-US" sz="1200" dirty="0"/>
          </a:p>
        </p:txBody>
      </p:sp>
      <p:sp>
        <p:nvSpPr>
          <p:cNvPr id="36" name="Shape 34"/>
          <p:cNvSpPr/>
          <p:nvPr/>
        </p:nvSpPr>
        <p:spPr>
          <a:xfrm>
            <a:off x="548640" y="5760720"/>
            <a:ext cx="11091672" cy="859536"/>
          </a:xfrm>
          <a:prstGeom prst="roundRect">
            <a:avLst>
              <a:gd name="adj" fmla="val 9574"/>
            </a:avLst>
          </a:prstGeom>
          <a:solidFill>
            <a:srgbClr val="F3F6F0"/>
          </a:solidFill>
          <a:ln w="12700">
            <a:solidFill>
              <a:srgbClr val="F3F6F0"/>
            </a:solidFill>
            <a:prstDash val="solid"/>
          </a:ln>
        </p:spPr>
      </p:sp>
      <p:sp>
        <p:nvSpPr>
          <p:cNvPr id="37" name="Shape 35"/>
          <p:cNvSpPr/>
          <p:nvPr/>
        </p:nvSpPr>
        <p:spPr>
          <a:xfrm>
            <a:off x="804672" y="6044184"/>
            <a:ext cx="292608" cy="292608"/>
          </a:xfrm>
          <a:prstGeom prst="ellipse">
            <a:avLst/>
          </a:prstGeom>
          <a:solidFill>
            <a:srgbClr val="2C5F2D"/>
          </a:solidFill>
          <a:ln w="12700">
            <a:solidFill>
              <a:srgbClr val="2C5F2D"/>
            </a:solidFill>
            <a:prstDash val="solid"/>
          </a:ln>
        </p:spPr>
      </p:sp>
      <p:sp>
        <p:nvSpPr>
          <p:cNvPr id="38" name="Text 36"/>
          <p:cNvSpPr/>
          <p:nvPr/>
        </p:nvSpPr>
        <p:spPr>
          <a:xfrm>
            <a:off x="804672" y="60441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7"/>
          <p:cNvSpPr/>
          <p:nvPr/>
        </p:nvSpPr>
        <p:spPr>
          <a:xfrm>
            <a:off x="1298448" y="5760720"/>
            <a:ext cx="4434840" cy="859536"/>
          </a:xfrm>
          <a:prstGeom prst="rect">
            <a:avLst/>
          </a:prstGeom>
          <a:noFill/>
          <a:ln/>
        </p:spPr>
        <p:txBody>
          <a:bodyPr wrap="square" lIns="0" tIns="0" rIns="0" bIns="0" rtlCol="0" anchor="ctr"/>
          <a:lstStyle/>
          <a:p>
            <a:pPr marL="0" indent="0">
              <a:buNone/>
            </a:pPr>
            <a:r>
              <a:rPr lang="en-US" sz="1300" b="1" dirty="0">
                <a:solidFill>
                  <a:srgbClr val="163D24"/>
                </a:solidFill>
                <a:latin typeface="Calibri" pitchFamily="34" charset="0"/>
                <a:ea typeface="Calibri" pitchFamily="34" charset="-122"/>
                <a:cs typeface="Calibri" pitchFamily="34" charset="-120"/>
              </a:rPr>
              <a:t>Uneven pickup coverage between hubs</a:t>
            </a:r>
            <a:endParaRPr lang="en-US" sz="1300" dirty="0"/>
          </a:p>
        </p:txBody>
      </p:sp>
      <p:sp>
        <p:nvSpPr>
          <p:cNvPr id="40" name="Shape 38"/>
          <p:cNvSpPr/>
          <p:nvPr/>
        </p:nvSpPr>
        <p:spPr>
          <a:xfrm>
            <a:off x="5532120" y="6108192"/>
            <a:ext cx="219456" cy="164592"/>
          </a:xfrm>
          <a:prstGeom prst="rightArrow">
            <a:avLst/>
          </a:prstGeom>
          <a:solidFill>
            <a:srgbClr val="97BC62"/>
          </a:solidFill>
          <a:ln w="12700">
            <a:solidFill>
              <a:srgbClr val="97BC62"/>
            </a:solidFill>
            <a:prstDash val="solid"/>
          </a:ln>
        </p:spPr>
      </p:sp>
      <p:sp>
        <p:nvSpPr>
          <p:cNvPr id="41" name="Text 39"/>
          <p:cNvSpPr/>
          <p:nvPr/>
        </p:nvSpPr>
        <p:spPr>
          <a:xfrm>
            <a:off x="5943600" y="5760720"/>
            <a:ext cx="5440680" cy="859536"/>
          </a:xfrm>
          <a:prstGeom prst="rect">
            <a:avLst/>
          </a:prstGeom>
          <a:noFill/>
          <a:ln/>
        </p:spPr>
        <p:txBody>
          <a:bodyPr wrap="square" lIns="0" tIns="0" rIns="0" bIns="0" rtlCol="0" anchor="ctr"/>
          <a:lstStyle/>
          <a:p>
            <a:pPr marL="0" indent="0">
              <a:buNone/>
            </a:pPr>
            <a:r>
              <a:rPr lang="en-US" sz="1200" dirty="0">
                <a:solidFill>
                  <a:srgbClr val="1A2E20"/>
                </a:solidFill>
                <a:latin typeface="Calibri" pitchFamily="34" charset="0"/>
                <a:ea typeface="Calibri" pitchFamily="34" charset="-122"/>
                <a:cs typeface="Calibri" pitchFamily="34" charset="-120"/>
              </a:rPr>
              <a:t>Review route balance against per-hub demand, following the pattern observed in comparable networks (Section 14)</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Success Criteria</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18 — how we will know the project worked</a:t>
            </a:r>
            <a:endParaRPr lang="en-US" sz="1400" dirty="0"/>
          </a:p>
        </p:txBody>
      </p:sp>
      <p:sp>
        <p:nvSpPr>
          <p:cNvPr id="4" name="Shape 2"/>
          <p:cNvSpPr/>
          <p:nvPr/>
        </p:nvSpPr>
        <p:spPr>
          <a:xfrm>
            <a:off x="548640" y="1517904"/>
            <a:ext cx="5605272" cy="1005840"/>
          </a:xfrm>
          <a:prstGeom prst="roundRect">
            <a:avLst>
              <a:gd name="adj" fmla="val 8182"/>
            </a:avLst>
          </a:prstGeom>
          <a:solidFill>
            <a:srgbClr val="EEF3EA"/>
          </a:solidFill>
          <a:ln w="12700">
            <a:solidFill>
              <a:srgbClr val="EEF3EA"/>
            </a:solidFill>
            <a:prstDash val="solid"/>
          </a:ln>
        </p:spPr>
      </p:sp>
      <p:sp>
        <p:nvSpPr>
          <p:cNvPr id="5" name="Shape 3"/>
          <p:cNvSpPr/>
          <p:nvPr/>
        </p:nvSpPr>
        <p:spPr>
          <a:xfrm>
            <a:off x="841248" y="1801368"/>
            <a:ext cx="438912" cy="438912"/>
          </a:xfrm>
          <a:prstGeom prst="ellipse">
            <a:avLst/>
          </a:prstGeom>
          <a:solidFill>
            <a:srgbClr val="2C5F2D"/>
          </a:solidFill>
          <a:ln w="12700">
            <a:solidFill>
              <a:srgbClr val="2C5F2D"/>
            </a:solidFill>
            <a:prstDash val="solid"/>
          </a:ln>
        </p:spPr>
      </p:sp>
      <p:sp>
        <p:nvSpPr>
          <p:cNvPr id="6" name="Text 4"/>
          <p:cNvSpPr/>
          <p:nvPr/>
        </p:nvSpPr>
        <p:spPr>
          <a:xfrm>
            <a:off x="841248" y="180136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7" name="Text 5"/>
          <p:cNvSpPr/>
          <p:nvPr/>
        </p:nvSpPr>
        <p:spPr>
          <a:xfrm>
            <a:off x="1444752" y="1517904"/>
            <a:ext cx="4416552" cy="1005840"/>
          </a:xfrm>
          <a:prstGeom prst="rect">
            <a:avLst/>
          </a:prstGeom>
          <a:noFill/>
          <a:ln/>
        </p:spPr>
        <p:txBody>
          <a:bodyPr wrap="square" lIns="0" tIns="0" rIns="0" bIns="0" rtlCol="0" anchor="ctr"/>
          <a:lstStyle/>
          <a:p>
            <a:pPr marL="0" indent="0">
              <a:buNone/>
            </a:pPr>
            <a:r>
              <a:rPr lang="en-US" sz="1450" dirty="0">
                <a:solidFill>
                  <a:srgbClr val="163D24"/>
                </a:solidFill>
                <a:latin typeface="Calibri" pitchFamily="34" charset="0"/>
                <a:ea typeface="Calibri" pitchFamily="34" charset="-122"/>
                <a:cs typeface="Calibri" pitchFamily="34" charset="-120"/>
              </a:rPr>
              <a:t>Food donations are recorded correctly</a:t>
            </a:r>
            <a:endParaRPr lang="en-US" sz="1450" dirty="0"/>
          </a:p>
        </p:txBody>
      </p:sp>
      <p:sp>
        <p:nvSpPr>
          <p:cNvPr id="8" name="Shape 6"/>
          <p:cNvSpPr/>
          <p:nvPr/>
        </p:nvSpPr>
        <p:spPr>
          <a:xfrm>
            <a:off x="6355080" y="1517904"/>
            <a:ext cx="5605272" cy="1005840"/>
          </a:xfrm>
          <a:prstGeom prst="roundRect">
            <a:avLst>
              <a:gd name="adj" fmla="val 8182"/>
            </a:avLst>
          </a:prstGeom>
          <a:solidFill>
            <a:srgbClr val="F3F6F0"/>
          </a:solidFill>
          <a:ln w="12700">
            <a:solidFill>
              <a:srgbClr val="F3F6F0"/>
            </a:solidFill>
            <a:prstDash val="solid"/>
          </a:ln>
        </p:spPr>
      </p:sp>
      <p:sp>
        <p:nvSpPr>
          <p:cNvPr id="9" name="Shape 7"/>
          <p:cNvSpPr/>
          <p:nvPr/>
        </p:nvSpPr>
        <p:spPr>
          <a:xfrm>
            <a:off x="6647688" y="1801368"/>
            <a:ext cx="438912" cy="438912"/>
          </a:xfrm>
          <a:prstGeom prst="ellipse">
            <a:avLst/>
          </a:prstGeom>
          <a:solidFill>
            <a:srgbClr val="2C5F2D"/>
          </a:solidFill>
          <a:ln w="12700">
            <a:solidFill>
              <a:srgbClr val="2C5F2D"/>
            </a:solidFill>
            <a:prstDash val="solid"/>
          </a:ln>
        </p:spPr>
      </p:sp>
      <p:sp>
        <p:nvSpPr>
          <p:cNvPr id="10" name="Text 8"/>
          <p:cNvSpPr/>
          <p:nvPr/>
        </p:nvSpPr>
        <p:spPr>
          <a:xfrm>
            <a:off x="6647688" y="180136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7251192" y="1517904"/>
            <a:ext cx="4416552" cy="1005840"/>
          </a:xfrm>
          <a:prstGeom prst="rect">
            <a:avLst/>
          </a:prstGeom>
          <a:noFill/>
          <a:ln/>
        </p:spPr>
        <p:txBody>
          <a:bodyPr wrap="square" lIns="0" tIns="0" rIns="0" bIns="0" rtlCol="0" anchor="ctr"/>
          <a:lstStyle/>
          <a:p>
            <a:pPr marL="0" indent="0">
              <a:buNone/>
            </a:pPr>
            <a:r>
              <a:rPr lang="en-US" sz="1450" dirty="0">
                <a:solidFill>
                  <a:srgbClr val="163D24"/>
                </a:solidFill>
                <a:latin typeface="Calibri" pitchFamily="34" charset="0"/>
                <a:ea typeface="Calibri" pitchFamily="34" charset="-122"/>
                <a:cs typeface="Calibri" pitchFamily="34" charset="-120"/>
              </a:rPr>
              <a:t>Inventory information stays accurate</a:t>
            </a:r>
            <a:endParaRPr lang="en-US" sz="1450" dirty="0"/>
          </a:p>
        </p:txBody>
      </p:sp>
      <p:sp>
        <p:nvSpPr>
          <p:cNvPr id="12" name="Shape 10"/>
          <p:cNvSpPr/>
          <p:nvPr/>
        </p:nvSpPr>
        <p:spPr>
          <a:xfrm>
            <a:off x="548640" y="2688336"/>
            <a:ext cx="5605272" cy="1005840"/>
          </a:xfrm>
          <a:prstGeom prst="roundRect">
            <a:avLst>
              <a:gd name="adj" fmla="val 8182"/>
            </a:avLst>
          </a:prstGeom>
          <a:solidFill>
            <a:srgbClr val="EEF3EA"/>
          </a:solidFill>
          <a:ln w="12700">
            <a:solidFill>
              <a:srgbClr val="EEF3EA"/>
            </a:solidFill>
            <a:prstDash val="solid"/>
          </a:ln>
        </p:spPr>
      </p:sp>
      <p:sp>
        <p:nvSpPr>
          <p:cNvPr id="13" name="Shape 11"/>
          <p:cNvSpPr/>
          <p:nvPr/>
        </p:nvSpPr>
        <p:spPr>
          <a:xfrm>
            <a:off x="841248" y="2971800"/>
            <a:ext cx="438912" cy="438912"/>
          </a:xfrm>
          <a:prstGeom prst="ellipse">
            <a:avLst/>
          </a:prstGeom>
          <a:solidFill>
            <a:srgbClr val="2C5F2D"/>
          </a:solidFill>
          <a:ln w="12700">
            <a:solidFill>
              <a:srgbClr val="2C5F2D"/>
            </a:solidFill>
            <a:prstDash val="solid"/>
          </a:ln>
        </p:spPr>
      </p:sp>
      <p:sp>
        <p:nvSpPr>
          <p:cNvPr id="14" name="Text 12"/>
          <p:cNvSpPr/>
          <p:nvPr/>
        </p:nvSpPr>
        <p:spPr>
          <a:xfrm>
            <a:off x="841248" y="29718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5" name="Text 13"/>
          <p:cNvSpPr/>
          <p:nvPr/>
        </p:nvSpPr>
        <p:spPr>
          <a:xfrm>
            <a:off x="1444752" y="2688336"/>
            <a:ext cx="4416552" cy="1005840"/>
          </a:xfrm>
          <a:prstGeom prst="rect">
            <a:avLst/>
          </a:prstGeom>
          <a:noFill/>
          <a:ln/>
        </p:spPr>
        <p:txBody>
          <a:bodyPr wrap="square" lIns="0" tIns="0" rIns="0" bIns="0" rtlCol="0" anchor="ctr"/>
          <a:lstStyle/>
          <a:p>
            <a:pPr marL="0" indent="0">
              <a:buNone/>
            </a:pPr>
            <a:r>
              <a:rPr lang="en-US" sz="1450" dirty="0">
                <a:solidFill>
                  <a:srgbClr val="163D24"/>
                </a:solidFill>
                <a:latin typeface="Calibri" pitchFamily="34" charset="0"/>
                <a:ea typeface="Calibri" pitchFamily="34" charset="-122"/>
                <a:cs typeface="Calibri" pitchFamily="34" charset="-120"/>
              </a:rPr>
              <a:t>Food waste is reduced</a:t>
            </a:r>
            <a:endParaRPr lang="en-US" sz="1450" dirty="0"/>
          </a:p>
        </p:txBody>
      </p:sp>
      <p:sp>
        <p:nvSpPr>
          <p:cNvPr id="16" name="Shape 14"/>
          <p:cNvSpPr/>
          <p:nvPr/>
        </p:nvSpPr>
        <p:spPr>
          <a:xfrm>
            <a:off x="6355080" y="2688336"/>
            <a:ext cx="5605272" cy="1005840"/>
          </a:xfrm>
          <a:prstGeom prst="roundRect">
            <a:avLst>
              <a:gd name="adj" fmla="val 8182"/>
            </a:avLst>
          </a:prstGeom>
          <a:solidFill>
            <a:srgbClr val="F3F6F0"/>
          </a:solidFill>
          <a:ln w="12700">
            <a:solidFill>
              <a:srgbClr val="F3F6F0"/>
            </a:solidFill>
            <a:prstDash val="solid"/>
          </a:ln>
        </p:spPr>
      </p:sp>
      <p:sp>
        <p:nvSpPr>
          <p:cNvPr id="17" name="Shape 15"/>
          <p:cNvSpPr/>
          <p:nvPr/>
        </p:nvSpPr>
        <p:spPr>
          <a:xfrm>
            <a:off x="6647688" y="2971800"/>
            <a:ext cx="438912" cy="438912"/>
          </a:xfrm>
          <a:prstGeom prst="ellipse">
            <a:avLst/>
          </a:prstGeom>
          <a:solidFill>
            <a:srgbClr val="2C5F2D"/>
          </a:solidFill>
          <a:ln w="12700">
            <a:solidFill>
              <a:srgbClr val="2C5F2D"/>
            </a:solidFill>
            <a:prstDash val="solid"/>
          </a:ln>
        </p:spPr>
      </p:sp>
      <p:sp>
        <p:nvSpPr>
          <p:cNvPr id="18" name="Text 16"/>
          <p:cNvSpPr/>
          <p:nvPr/>
        </p:nvSpPr>
        <p:spPr>
          <a:xfrm>
            <a:off x="6647688" y="29718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9" name="Text 17"/>
          <p:cNvSpPr/>
          <p:nvPr/>
        </p:nvSpPr>
        <p:spPr>
          <a:xfrm>
            <a:off x="7251192" y="2688336"/>
            <a:ext cx="4416552" cy="1005840"/>
          </a:xfrm>
          <a:prstGeom prst="rect">
            <a:avLst/>
          </a:prstGeom>
          <a:noFill/>
          <a:ln/>
        </p:spPr>
        <p:txBody>
          <a:bodyPr wrap="square" lIns="0" tIns="0" rIns="0" bIns="0" rtlCol="0" anchor="ctr"/>
          <a:lstStyle/>
          <a:p>
            <a:pPr marL="0" indent="0">
              <a:buNone/>
            </a:pPr>
            <a:r>
              <a:rPr lang="en-US" sz="1450" dirty="0">
                <a:solidFill>
                  <a:srgbClr val="163D24"/>
                </a:solidFill>
                <a:latin typeface="Calibri" pitchFamily="34" charset="0"/>
                <a:ea typeface="Calibri" pitchFamily="34" charset="-122"/>
                <a:cs typeface="Calibri" pitchFamily="34" charset="-120"/>
              </a:rPr>
              <a:t>Families receive food on time</a:t>
            </a:r>
            <a:endParaRPr lang="en-US" sz="1450" dirty="0"/>
          </a:p>
        </p:txBody>
      </p:sp>
      <p:sp>
        <p:nvSpPr>
          <p:cNvPr id="20" name="Shape 18"/>
          <p:cNvSpPr/>
          <p:nvPr/>
        </p:nvSpPr>
        <p:spPr>
          <a:xfrm>
            <a:off x="548640" y="3858768"/>
            <a:ext cx="5605272" cy="1005840"/>
          </a:xfrm>
          <a:prstGeom prst="roundRect">
            <a:avLst>
              <a:gd name="adj" fmla="val 8182"/>
            </a:avLst>
          </a:prstGeom>
          <a:solidFill>
            <a:srgbClr val="EEF3EA"/>
          </a:solidFill>
          <a:ln w="12700">
            <a:solidFill>
              <a:srgbClr val="EEF3EA"/>
            </a:solidFill>
            <a:prstDash val="solid"/>
          </a:ln>
        </p:spPr>
      </p:sp>
      <p:sp>
        <p:nvSpPr>
          <p:cNvPr id="21" name="Shape 19"/>
          <p:cNvSpPr/>
          <p:nvPr/>
        </p:nvSpPr>
        <p:spPr>
          <a:xfrm>
            <a:off x="841248" y="4142232"/>
            <a:ext cx="438912" cy="438912"/>
          </a:xfrm>
          <a:prstGeom prst="ellipse">
            <a:avLst/>
          </a:prstGeom>
          <a:solidFill>
            <a:srgbClr val="2C5F2D"/>
          </a:solidFill>
          <a:ln w="12700">
            <a:solidFill>
              <a:srgbClr val="2C5F2D"/>
            </a:solidFill>
            <a:prstDash val="solid"/>
          </a:ln>
        </p:spPr>
      </p:sp>
      <p:sp>
        <p:nvSpPr>
          <p:cNvPr id="22" name="Text 20"/>
          <p:cNvSpPr/>
          <p:nvPr/>
        </p:nvSpPr>
        <p:spPr>
          <a:xfrm>
            <a:off x="841248" y="414223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3" name="Text 21"/>
          <p:cNvSpPr/>
          <p:nvPr/>
        </p:nvSpPr>
        <p:spPr>
          <a:xfrm>
            <a:off x="1444752" y="3858768"/>
            <a:ext cx="4416552" cy="1005840"/>
          </a:xfrm>
          <a:prstGeom prst="rect">
            <a:avLst/>
          </a:prstGeom>
          <a:noFill/>
          <a:ln/>
        </p:spPr>
        <p:txBody>
          <a:bodyPr wrap="square" lIns="0" tIns="0" rIns="0" bIns="0" rtlCol="0" anchor="ctr"/>
          <a:lstStyle/>
          <a:p>
            <a:pPr marL="0" indent="0">
              <a:buNone/>
            </a:pPr>
            <a:r>
              <a:rPr lang="en-US" sz="1450" dirty="0">
                <a:solidFill>
                  <a:srgbClr val="163D24"/>
                </a:solidFill>
                <a:latin typeface="Calibri" pitchFamily="34" charset="0"/>
                <a:ea typeface="Calibri" pitchFamily="34" charset="-122"/>
                <a:cs typeface="Calibri" pitchFamily="34" charset="-120"/>
              </a:rPr>
              <a:t>Perishable food is distributed before expiry</a:t>
            </a:r>
            <a:endParaRPr lang="en-US" sz="1450" dirty="0"/>
          </a:p>
        </p:txBody>
      </p:sp>
      <p:sp>
        <p:nvSpPr>
          <p:cNvPr id="24" name="Shape 22"/>
          <p:cNvSpPr/>
          <p:nvPr/>
        </p:nvSpPr>
        <p:spPr>
          <a:xfrm>
            <a:off x="6355080" y="3858768"/>
            <a:ext cx="5605272" cy="1005840"/>
          </a:xfrm>
          <a:prstGeom prst="roundRect">
            <a:avLst>
              <a:gd name="adj" fmla="val 8182"/>
            </a:avLst>
          </a:prstGeom>
          <a:solidFill>
            <a:srgbClr val="F3F6F0"/>
          </a:solidFill>
          <a:ln w="12700">
            <a:solidFill>
              <a:srgbClr val="F3F6F0"/>
            </a:solidFill>
            <a:prstDash val="solid"/>
          </a:ln>
        </p:spPr>
      </p:sp>
      <p:sp>
        <p:nvSpPr>
          <p:cNvPr id="25" name="Shape 23"/>
          <p:cNvSpPr/>
          <p:nvPr/>
        </p:nvSpPr>
        <p:spPr>
          <a:xfrm>
            <a:off x="6647688" y="4142232"/>
            <a:ext cx="438912" cy="438912"/>
          </a:xfrm>
          <a:prstGeom prst="ellipse">
            <a:avLst/>
          </a:prstGeom>
          <a:solidFill>
            <a:srgbClr val="2C5F2D"/>
          </a:solidFill>
          <a:ln w="12700">
            <a:solidFill>
              <a:srgbClr val="2C5F2D"/>
            </a:solidFill>
            <a:prstDash val="solid"/>
          </a:ln>
        </p:spPr>
      </p:sp>
      <p:sp>
        <p:nvSpPr>
          <p:cNvPr id="26" name="Text 24"/>
          <p:cNvSpPr/>
          <p:nvPr/>
        </p:nvSpPr>
        <p:spPr>
          <a:xfrm>
            <a:off x="6647688" y="414223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7" name="Text 25"/>
          <p:cNvSpPr/>
          <p:nvPr/>
        </p:nvSpPr>
        <p:spPr>
          <a:xfrm>
            <a:off x="7251192" y="3858768"/>
            <a:ext cx="4416552" cy="1005840"/>
          </a:xfrm>
          <a:prstGeom prst="rect">
            <a:avLst/>
          </a:prstGeom>
          <a:noFill/>
          <a:ln/>
        </p:spPr>
        <p:txBody>
          <a:bodyPr wrap="square" lIns="0" tIns="0" rIns="0" bIns="0" rtlCol="0" anchor="ctr"/>
          <a:lstStyle/>
          <a:p>
            <a:pPr marL="0" indent="0">
              <a:buNone/>
            </a:pPr>
            <a:r>
              <a:rPr lang="en-US" sz="1450" dirty="0">
                <a:solidFill>
                  <a:srgbClr val="163D24"/>
                </a:solidFill>
                <a:latin typeface="Calibri" pitchFamily="34" charset="0"/>
                <a:ea typeface="Calibri" pitchFamily="34" charset="-122"/>
                <a:cs typeface="Calibri" pitchFamily="34" charset="-120"/>
              </a:rPr>
              <a:t>Warehouse operations become more organized</a:t>
            </a:r>
            <a:endParaRPr lang="en-US" sz="1450" dirty="0"/>
          </a:p>
        </p:txBody>
      </p:sp>
      <p:sp>
        <p:nvSpPr>
          <p:cNvPr id="28" name="Shape 26"/>
          <p:cNvSpPr/>
          <p:nvPr/>
        </p:nvSpPr>
        <p:spPr>
          <a:xfrm>
            <a:off x="548640" y="5029200"/>
            <a:ext cx="11091672" cy="1005840"/>
          </a:xfrm>
          <a:prstGeom prst="roundRect">
            <a:avLst>
              <a:gd name="adj" fmla="val 8182"/>
            </a:avLst>
          </a:prstGeom>
          <a:solidFill>
            <a:srgbClr val="EEF3EA"/>
          </a:solidFill>
          <a:ln w="12700">
            <a:solidFill>
              <a:srgbClr val="EEF3EA"/>
            </a:solidFill>
            <a:prstDash val="solid"/>
          </a:ln>
        </p:spPr>
      </p:sp>
      <p:sp>
        <p:nvSpPr>
          <p:cNvPr id="29" name="Shape 27"/>
          <p:cNvSpPr/>
          <p:nvPr/>
        </p:nvSpPr>
        <p:spPr>
          <a:xfrm>
            <a:off x="841248" y="5312664"/>
            <a:ext cx="438912" cy="438912"/>
          </a:xfrm>
          <a:prstGeom prst="ellipse">
            <a:avLst/>
          </a:prstGeom>
          <a:solidFill>
            <a:srgbClr val="2C5F2D"/>
          </a:solidFill>
          <a:ln w="12700">
            <a:solidFill>
              <a:srgbClr val="2C5F2D"/>
            </a:solidFill>
            <a:prstDash val="solid"/>
          </a:ln>
        </p:spPr>
      </p:sp>
      <p:sp>
        <p:nvSpPr>
          <p:cNvPr id="30" name="Text 28"/>
          <p:cNvSpPr/>
          <p:nvPr/>
        </p:nvSpPr>
        <p:spPr>
          <a:xfrm>
            <a:off x="841248" y="5312664"/>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31" name="Text 29"/>
          <p:cNvSpPr/>
          <p:nvPr/>
        </p:nvSpPr>
        <p:spPr>
          <a:xfrm>
            <a:off x="1444752" y="5029200"/>
            <a:ext cx="9902952" cy="1005840"/>
          </a:xfrm>
          <a:prstGeom prst="rect">
            <a:avLst/>
          </a:prstGeom>
          <a:noFill/>
          <a:ln/>
        </p:spPr>
        <p:txBody>
          <a:bodyPr wrap="square" lIns="0" tIns="0" rIns="0" bIns="0" rtlCol="0" anchor="ctr"/>
          <a:lstStyle/>
          <a:p>
            <a:pPr marL="0" indent="0">
              <a:buNone/>
            </a:pPr>
            <a:r>
              <a:rPr lang="en-US" sz="1450" dirty="0">
                <a:solidFill>
                  <a:srgbClr val="163D24"/>
                </a:solidFill>
                <a:latin typeface="Calibri" pitchFamily="34" charset="0"/>
                <a:ea typeface="Calibri" pitchFamily="34" charset="-122"/>
                <a:cs typeface="Calibri" pitchFamily="34" charset="-120"/>
              </a:rPr>
              <a:t>Staff can generate reports whenever they are needed</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1672" cy="566928"/>
          </a:xfrm>
          <a:prstGeom prst="rect">
            <a:avLst/>
          </a:prstGeom>
          <a:noFill/>
          <a:ln/>
        </p:spPr>
        <p:txBody>
          <a:bodyPr wrap="square" lIns="0" tIns="0" rIns="0" bIns="0" rtlCol="0" anchor="ctr"/>
          <a:lstStyle/>
          <a:p>
            <a:pPr marL="0" indent="0" algn="l">
              <a:buNone/>
            </a:pPr>
            <a:r>
              <a:rPr lang="en-US" sz="3200" b="1" dirty="0">
                <a:solidFill>
                  <a:srgbClr val="163D24"/>
                </a:solidFill>
                <a:latin typeface="Cambria" pitchFamily="34" charset="0"/>
                <a:ea typeface="Cambria" pitchFamily="34" charset="-122"/>
                <a:cs typeface="Cambria" pitchFamily="34" charset="-120"/>
              </a:rPr>
              <a:t>Future Improvements</a:t>
            </a:r>
            <a:endParaRPr lang="en-US" sz="3200" dirty="0"/>
          </a:p>
        </p:txBody>
      </p:sp>
      <p:sp>
        <p:nvSpPr>
          <p:cNvPr id="3" name="Text 1"/>
          <p:cNvSpPr/>
          <p:nvPr/>
        </p:nvSpPr>
        <p:spPr>
          <a:xfrm>
            <a:off x="548640" y="914400"/>
            <a:ext cx="11091672" cy="329184"/>
          </a:xfrm>
          <a:prstGeom prst="rect">
            <a:avLst/>
          </a:prstGeom>
          <a:noFill/>
          <a:ln/>
        </p:spPr>
        <p:txBody>
          <a:bodyPr wrap="square" lIns="0" tIns="0" rIns="0" bIns="0" rtlCol="0" anchor="ctr"/>
          <a:lstStyle/>
          <a:p>
            <a:pPr marL="0" indent="0">
              <a:buNone/>
            </a:pPr>
            <a:r>
              <a:rPr lang="en-US" sz="1400" i="1" dirty="0">
                <a:solidFill>
                  <a:srgbClr val="5F6F62"/>
                </a:solidFill>
                <a:latin typeface="Calibri" pitchFamily="34" charset="0"/>
                <a:ea typeface="Calibri" pitchFamily="34" charset="-122"/>
                <a:cs typeface="Calibri" pitchFamily="34" charset="-120"/>
              </a:rPr>
              <a:t>Section 19 — what this foundation makes possible next</a:t>
            </a:r>
            <a:endParaRPr lang="en-US" sz="1400" dirty="0"/>
          </a:p>
        </p:txBody>
      </p:sp>
      <p:sp>
        <p:nvSpPr>
          <p:cNvPr id="4" name="Shape 2"/>
          <p:cNvSpPr/>
          <p:nvPr/>
        </p:nvSpPr>
        <p:spPr>
          <a:xfrm>
            <a:off x="548640" y="1481328"/>
            <a:ext cx="2615184" cy="2286000"/>
          </a:xfrm>
          <a:prstGeom prst="roundRect">
            <a:avLst>
              <a:gd name="adj" fmla="val 3600"/>
            </a:avLst>
          </a:prstGeom>
          <a:solidFill>
            <a:srgbClr val="EEF3EA"/>
          </a:solidFill>
          <a:ln w="12700">
            <a:solidFill>
              <a:srgbClr val="EEF3EA"/>
            </a:solidFill>
            <a:prstDash val="solid"/>
          </a:ln>
        </p:spPr>
      </p:sp>
      <p:sp>
        <p:nvSpPr>
          <p:cNvPr id="5" name="Shape 3"/>
          <p:cNvSpPr/>
          <p:nvPr/>
        </p:nvSpPr>
        <p:spPr>
          <a:xfrm>
            <a:off x="822960" y="1755648"/>
            <a:ext cx="548640" cy="548640"/>
          </a:xfrm>
          <a:prstGeom prst="ellipse">
            <a:avLst/>
          </a:prstGeom>
          <a:solidFill>
            <a:srgbClr val="2C5F2D"/>
          </a:solidFill>
          <a:ln w="12700">
            <a:solidFill>
              <a:srgbClr val="2C5F2D"/>
            </a:solidFill>
            <a:prstDash val="solid"/>
          </a:ln>
        </p:spPr>
      </p:sp>
      <p:sp>
        <p:nvSpPr>
          <p:cNvPr id="6" name="Text 4"/>
          <p:cNvSpPr/>
          <p:nvPr/>
        </p:nvSpPr>
        <p:spPr>
          <a:xfrm>
            <a:off x="822960" y="17556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22960" y="2450592"/>
            <a:ext cx="2066544" cy="60350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More warehouse locations</a:t>
            </a:r>
            <a:endParaRPr lang="en-US" sz="1400" dirty="0"/>
          </a:p>
        </p:txBody>
      </p:sp>
      <p:sp>
        <p:nvSpPr>
          <p:cNvPr id="8" name="Text 6"/>
          <p:cNvSpPr/>
          <p:nvPr/>
        </p:nvSpPr>
        <p:spPr>
          <a:xfrm>
            <a:off x="822960" y="3035808"/>
            <a:ext cx="2066544" cy="658368"/>
          </a:xfrm>
          <a:prstGeom prst="rect">
            <a:avLst/>
          </a:prstGeom>
          <a:noFill/>
          <a:ln/>
        </p:spPr>
        <p:txBody>
          <a:bodyPr wrap="square" lIns="0" tIns="0" rIns="0" bIns="0" rtlCol="0" anchor="ctr"/>
          <a:lstStyle/>
          <a:p>
            <a:pPr marL="0" indent="0">
              <a:lnSpc>
                <a:spcPts val="1600"/>
              </a:lnSpc>
              <a:buNone/>
            </a:pPr>
            <a:r>
              <a:rPr lang="en-US" sz="1100" dirty="0">
                <a:solidFill>
                  <a:srgbClr val="5F6F62"/>
                </a:solidFill>
                <a:latin typeface="Calibri" pitchFamily="34" charset="0"/>
                <a:ea typeface="Calibri" pitchFamily="34" charset="-122"/>
                <a:cs typeface="Calibri" pitchFamily="34" charset="-120"/>
              </a:rPr>
              <a:t>Extend the hub network beyond the current three sites</a:t>
            </a:r>
            <a:endParaRPr lang="en-US" sz="1100" dirty="0"/>
          </a:p>
        </p:txBody>
      </p:sp>
      <p:sp>
        <p:nvSpPr>
          <p:cNvPr id="9" name="Shape 7"/>
          <p:cNvSpPr/>
          <p:nvPr/>
        </p:nvSpPr>
        <p:spPr>
          <a:xfrm>
            <a:off x="3401568" y="1481328"/>
            <a:ext cx="2615184" cy="2286000"/>
          </a:xfrm>
          <a:prstGeom prst="roundRect">
            <a:avLst>
              <a:gd name="adj" fmla="val 3600"/>
            </a:avLst>
          </a:prstGeom>
          <a:solidFill>
            <a:srgbClr val="EEF3EA"/>
          </a:solidFill>
          <a:ln w="12700">
            <a:solidFill>
              <a:srgbClr val="EEF3EA"/>
            </a:solidFill>
            <a:prstDash val="solid"/>
          </a:ln>
        </p:spPr>
      </p:sp>
      <p:sp>
        <p:nvSpPr>
          <p:cNvPr id="10" name="Shape 8"/>
          <p:cNvSpPr/>
          <p:nvPr/>
        </p:nvSpPr>
        <p:spPr>
          <a:xfrm>
            <a:off x="3675888" y="1755648"/>
            <a:ext cx="548640" cy="548640"/>
          </a:xfrm>
          <a:prstGeom prst="ellipse">
            <a:avLst/>
          </a:prstGeom>
          <a:solidFill>
            <a:srgbClr val="2C5F2D"/>
          </a:solidFill>
          <a:ln w="12700">
            <a:solidFill>
              <a:srgbClr val="2C5F2D"/>
            </a:solidFill>
            <a:prstDash val="solid"/>
          </a:ln>
        </p:spPr>
      </p:sp>
      <p:sp>
        <p:nvSpPr>
          <p:cNvPr id="11" name="Text 9"/>
          <p:cNvSpPr/>
          <p:nvPr/>
        </p:nvSpPr>
        <p:spPr>
          <a:xfrm>
            <a:off x="3675888" y="17556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675888" y="2450592"/>
            <a:ext cx="2066544" cy="60350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A larger delivery fleet</a:t>
            </a:r>
            <a:endParaRPr lang="en-US" sz="1400" dirty="0"/>
          </a:p>
        </p:txBody>
      </p:sp>
      <p:sp>
        <p:nvSpPr>
          <p:cNvPr id="13" name="Text 11"/>
          <p:cNvSpPr/>
          <p:nvPr/>
        </p:nvSpPr>
        <p:spPr>
          <a:xfrm>
            <a:off x="3675888" y="3035808"/>
            <a:ext cx="2066544" cy="658368"/>
          </a:xfrm>
          <a:prstGeom prst="rect">
            <a:avLst/>
          </a:prstGeom>
          <a:noFill/>
          <a:ln/>
        </p:spPr>
        <p:txBody>
          <a:bodyPr wrap="square" lIns="0" tIns="0" rIns="0" bIns="0" rtlCol="0" anchor="ctr"/>
          <a:lstStyle/>
          <a:p>
            <a:pPr marL="0" indent="0">
              <a:lnSpc>
                <a:spcPts val="1600"/>
              </a:lnSpc>
              <a:buNone/>
            </a:pPr>
            <a:r>
              <a:rPr lang="en-US" sz="1100" dirty="0">
                <a:solidFill>
                  <a:srgbClr val="5F6F62"/>
                </a:solidFill>
                <a:latin typeface="Calibri" pitchFamily="34" charset="0"/>
                <a:ea typeface="Calibri" pitchFamily="34" charset="-122"/>
                <a:cs typeface="Calibri" pitchFamily="34" charset="-120"/>
              </a:rPr>
              <a:t>Relieve the two-truck ceiling on collection and distribution</a:t>
            </a:r>
            <a:endParaRPr lang="en-US" sz="1100" dirty="0"/>
          </a:p>
        </p:txBody>
      </p:sp>
      <p:sp>
        <p:nvSpPr>
          <p:cNvPr id="14" name="Shape 12"/>
          <p:cNvSpPr/>
          <p:nvPr/>
        </p:nvSpPr>
        <p:spPr>
          <a:xfrm>
            <a:off x="6254496" y="1481328"/>
            <a:ext cx="2615184" cy="2286000"/>
          </a:xfrm>
          <a:prstGeom prst="roundRect">
            <a:avLst>
              <a:gd name="adj" fmla="val 3600"/>
            </a:avLst>
          </a:prstGeom>
          <a:solidFill>
            <a:srgbClr val="EEF3EA"/>
          </a:solidFill>
          <a:ln w="12700">
            <a:solidFill>
              <a:srgbClr val="EEF3EA"/>
            </a:solidFill>
            <a:prstDash val="solid"/>
          </a:ln>
        </p:spPr>
      </p:sp>
      <p:sp>
        <p:nvSpPr>
          <p:cNvPr id="15" name="Shape 13"/>
          <p:cNvSpPr/>
          <p:nvPr/>
        </p:nvSpPr>
        <p:spPr>
          <a:xfrm>
            <a:off x="6528816" y="1755648"/>
            <a:ext cx="548640" cy="548640"/>
          </a:xfrm>
          <a:prstGeom prst="ellipse">
            <a:avLst/>
          </a:prstGeom>
          <a:solidFill>
            <a:srgbClr val="D97A26"/>
          </a:solidFill>
          <a:ln w="12700">
            <a:solidFill>
              <a:srgbClr val="D97A26"/>
            </a:solidFill>
            <a:prstDash val="solid"/>
          </a:ln>
        </p:spPr>
      </p:sp>
      <p:sp>
        <p:nvSpPr>
          <p:cNvPr id="16" name="Text 14"/>
          <p:cNvSpPr/>
          <p:nvPr/>
        </p:nvSpPr>
        <p:spPr>
          <a:xfrm>
            <a:off x="6528816" y="17556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528816" y="2450592"/>
            <a:ext cx="2066544" cy="60350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More community partners</a:t>
            </a:r>
            <a:endParaRPr lang="en-US" sz="1400" dirty="0"/>
          </a:p>
        </p:txBody>
      </p:sp>
      <p:sp>
        <p:nvSpPr>
          <p:cNvPr id="18" name="Text 16"/>
          <p:cNvSpPr/>
          <p:nvPr/>
        </p:nvSpPr>
        <p:spPr>
          <a:xfrm>
            <a:off x="6528816" y="3035808"/>
            <a:ext cx="2066544" cy="658368"/>
          </a:xfrm>
          <a:prstGeom prst="rect">
            <a:avLst/>
          </a:prstGeom>
          <a:noFill/>
          <a:ln/>
        </p:spPr>
        <p:txBody>
          <a:bodyPr wrap="square" lIns="0" tIns="0" rIns="0" bIns="0" rtlCol="0" anchor="ctr"/>
          <a:lstStyle/>
          <a:p>
            <a:pPr marL="0" indent="0">
              <a:lnSpc>
                <a:spcPts val="1600"/>
              </a:lnSpc>
              <a:buNone/>
            </a:pPr>
            <a:r>
              <a:rPr lang="en-US" sz="1100" dirty="0">
                <a:solidFill>
                  <a:srgbClr val="5F6F62"/>
                </a:solidFill>
                <a:latin typeface="Calibri" pitchFamily="34" charset="0"/>
                <a:ea typeface="Calibri" pitchFamily="34" charset="-122"/>
                <a:cs typeface="Calibri" pitchFamily="34" charset="-120"/>
              </a:rPr>
              <a:t>Widen the donor base and add collection points</a:t>
            </a:r>
            <a:endParaRPr lang="en-US" sz="1100" dirty="0"/>
          </a:p>
        </p:txBody>
      </p:sp>
      <p:sp>
        <p:nvSpPr>
          <p:cNvPr id="19" name="Shape 17"/>
          <p:cNvSpPr/>
          <p:nvPr/>
        </p:nvSpPr>
        <p:spPr>
          <a:xfrm>
            <a:off x="9107424" y="1481328"/>
            <a:ext cx="2615184" cy="2286000"/>
          </a:xfrm>
          <a:prstGeom prst="roundRect">
            <a:avLst>
              <a:gd name="adj" fmla="val 3600"/>
            </a:avLst>
          </a:prstGeom>
          <a:solidFill>
            <a:srgbClr val="EEF3EA"/>
          </a:solidFill>
          <a:ln w="12700">
            <a:solidFill>
              <a:srgbClr val="EEF3EA"/>
            </a:solidFill>
            <a:prstDash val="solid"/>
          </a:ln>
        </p:spPr>
      </p:sp>
      <p:sp>
        <p:nvSpPr>
          <p:cNvPr id="20" name="Shape 18"/>
          <p:cNvSpPr/>
          <p:nvPr/>
        </p:nvSpPr>
        <p:spPr>
          <a:xfrm>
            <a:off x="9381744" y="1755648"/>
            <a:ext cx="548640" cy="548640"/>
          </a:xfrm>
          <a:prstGeom prst="ellipse">
            <a:avLst/>
          </a:prstGeom>
          <a:solidFill>
            <a:srgbClr val="D97A26"/>
          </a:solidFill>
          <a:ln w="12700">
            <a:solidFill>
              <a:srgbClr val="D97A26"/>
            </a:solidFill>
            <a:prstDash val="solid"/>
          </a:ln>
        </p:spPr>
      </p:sp>
      <p:sp>
        <p:nvSpPr>
          <p:cNvPr id="21" name="Text 19"/>
          <p:cNvSpPr/>
          <p:nvPr/>
        </p:nvSpPr>
        <p:spPr>
          <a:xfrm>
            <a:off x="9381744" y="175564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381744" y="2450592"/>
            <a:ext cx="2066544" cy="603504"/>
          </a:xfrm>
          <a:prstGeom prst="rect">
            <a:avLst/>
          </a:prstGeom>
          <a:noFill/>
          <a:ln/>
        </p:spPr>
        <p:txBody>
          <a:bodyPr wrap="square" lIns="0" tIns="0" rIns="0" bIns="0" rtlCol="0" anchor="ctr"/>
          <a:lstStyle/>
          <a:p>
            <a:pPr marL="0" indent="0">
              <a:buNone/>
            </a:pPr>
            <a:r>
              <a:rPr lang="en-US" sz="1400" b="1" dirty="0">
                <a:solidFill>
                  <a:srgbClr val="163D24"/>
                </a:solidFill>
                <a:latin typeface="Calibri" pitchFamily="34" charset="0"/>
                <a:ea typeface="Calibri" pitchFamily="34" charset="-122"/>
                <a:cs typeface="Calibri" pitchFamily="34" charset="-120"/>
              </a:rPr>
              <a:t>A mobile app</a:t>
            </a:r>
            <a:endParaRPr lang="en-US" sz="1400" dirty="0"/>
          </a:p>
        </p:txBody>
      </p:sp>
      <p:sp>
        <p:nvSpPr>
          <p:cNvPr id="23" name="Text 21"/>
          <p:cNvSpPr/>
          <p:nvPr/>
        </p:nvSpPr>
        <p:spPr>
          <a:xfrm>
            <a:off x="9381744" y="3035808"/>
            <a:ext cx="2066544" cy="658368"/>
          </a:xfrm>
          <a:prstGeom prst="rect">
            <a:avLst/>
          </a:prstGeom>
          <a:noFill/>
          <a:ln/>
        </p:spPr>
        <p:txBody>
          <a:bodyPr wrap="square" lIns="0" tIns="0" rIns="0" bIns="0" rtlCol="0" anchor="ctr"/>
          <a:lstStyle/>
          <a:p>
            <a:pPr marL="0" indent="0">
              <a:lnSpc>
                <a:spcPts val="1600"/>
              </a:lnSpc>
              <a:buNone/>
            </a:pPr>
            <a:r>
              <a:rPr lang="en-US" sz="1100" dirty="0">
                <a:solidFill>
                  <a:srgbClr val="5F6F62"/>
                </a:solidFill>
                <a:latin typeface="Calibri" pitchFamily="34" charset="0"/>
                <a:ea typeface="Calibri" pitchFamily="34" charset="-122"/>
                <a:cs typeface="Calibri" pitchFamily="34" charset="-120"/>
              </a:rPr>
              <a:t>Give donors and volunteers a phone-first way to participate</a:t>
            </a:r>
            <a:endParaRPr lang="en-US" sz="1100" dirty="0"/>
          </a:p>
        </p:txBody>
      </p:sp>
      <p:sp>
        <p:nvSpPr>
          <p:cNvPr id="24" name="Shape 22"/>
          <p:cNvSpPr/>
          <p:nvPr/>
        </p:nvSpPr>
        <p:spPr>
          <a:xfrm>
            <a:off x="548640" y="4005072"/>
            <a:ext cx="11091672" cy="2011680"/>
          </a:xfrm>
          <a:prstGeom prst="roundRect">
            <a:avLst>
              <a:gd name="adj" fmla="val 4091"/>
            </a:avLst>
          </a:prstGeom>
          <a:solidFill>
            <a:srgbClr val="163D24"/>
          </a:solidFill>
          <a:ln w="12700">
            <a:solidFill>
              <a:srgbClr val="163D24"/>
            </a:solidFill>
            <a:prstDash val="solid"/>
          </a:ln>
        </p:spPr>
      </p:sp>
      <p:sp>
        <p:nvSpPr>
          <p:cNvPr id="25" name="Text 23"/>
          <p:cNvSpPr/>
          <p:nvPr/>
        </p:nvSpPr>
        <p:spPr>
          <a:xfrm>
            <a:off x="868680" y="4224528"/>
            <a:ext cx="7315200" cy="329184"/>
          </a:xfrm>
          <a:prstGeom prst="rect">
            <a:avLst/>
          </a:prstGeom>
          <a:noFill/>
          <a:ln/>
        </p:spPr>
        <p:txBody>
          <a:bodyPr wrap="square" lIns="0" tIns="0" rIns="0" bIns="0" rtlCol="0" anchor="ctr"/>
          <a:lstStyle/>
          <a:p>
            <a:pPr marL="0" indent="0">
              <a:buNone/>
            </a:pPr>
            <a:r>
              <a:rPr lang="en-US" sz="1900" b="1" dirty="0">
                <a:solidFill>
                  <a:srgbClr val="97BC62"/>
                </a:solidFill>
                <a:latin typeface="Cambria" pitchFamily="34" charset="0"/>
                <a:ea typeface="Cambria" pitchFamily="34" charset="-122"/>
                <a:cs typeface="Cambria" pitchFamily="34" charset="-120"/>
              </a:rPr>
              <a:t>The reporting layer is the multiplier</a:t>
            </a:r>
            <a:endParaRPr lang="en-US" sz="1900" dirty="0"/>
          </a:p>
        </p:txBody>
      </p:sp>
      <p:sp>
        <p:nvSpPr>
          <p:cNvPr id="26" name="Text 24"/>
          <p:cNvSpPr/>
          <p:nvPr/>
        </p:nvSpPr>
        <p:spPr>
          <a:xfrm>
            <a:off x="868680" y="4626864"/>
            <a:ext cx="10424160" cy="1188720"/>
          </a:xfrm>
          <a:prstGeom prst="rect">
            <a:avLst/>
          </a:prstGeom>
          <a:noFill/>
          <a:ln/>
        </p:spPr>
        <p:txBody>
          <a:bodyPr wrap="square" lIns="0" tIns="0" rIns="0" bIns="0" rtlCol="0" anchor="ctr"/>
          <a:lstStyle/>
          <a:p>
            <a:pPr marL="0" indent="0">
              <a:lnSpc>
                <a:spcPts val="2100"/>
              </a:lnSpc>
              <a:buNone/>
            </a:pPr>
            <a:r>
              <a:rPr lang="en-US" sz="1300" dirty="0">
                <a:solidFill>
                  <a:srgbClr val="C8D8C4"/>
                </a:solidFill>
                <a:latin typeface="Calibri" pitchFamily="34" charset="0"/>
                <a:ea typeface="Calibri" pitchFamily="34" charset="-122"/>
                <a:cs typeface="Calibri" pitchFamily="34" charset="-120"/>
              </a:rPr>
              <a:t>The reporting layer built in this phase would also let FoodShare start spotting donation trends and shifting family needs earlier — the same way the benchmark data in Section 14 has helped shape this plan. Once FoodShare's own donor, family and inventory data is captured independently, the organization can stop planning against someone else's numbers and start measuring itself.</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3D24"/>
        </a:solidFill>
        <a:effectLst/>
      </p:bgPr>
    </p:bg>
    <p:spTree>
      <p:nvGrpSpPr>
        <p:cNvPr id="1" name=""/>
        <p:cNvGrpSpPr/>
        <p:nvPr/>
      </p:nvGrpSpPr>
      <p:grpSpPr>
        <a:xfrm>
          <a:off x="0" y="0"/>
          <a:ext cx="0" cy="0"/>
          <a:chOff x="0" y="0"/>
          <a:chExt cx="0" cy="0"/>
        </a:xfrm>
      </p:grpSpPr>
      <p:sp>
        <p:nvSpPr>
          <p:cNvPr id="2" name="Shape 0"/>
          <p:cNvSpPr/>
          <p:nvPr/>
        </p:nvSpPr>
        <p:spPr>
          <a:xfrm>
            <a:off x="9692640" y="4023360"/>
            <a:ext cx="4206240" cy="4206240"/>
          </a:xfrm>
          <a:prstGeom prst="ellipse">
            <a:avLst/>
          </a:prstGeom>
          <a:solidFill>
            <a:srgbClr val="2C5F2D">
              <a:alpha val="40000"/>
            </a:srgbClr>
          </a:solidFill>
          <a:ln w="12700">
            <a:solidFill>
              <a:srgbClr val="2C5F2D"/>
            </a:solidFill>
            <a:prstDash val="solid"/>
          </a:ln>
        </p:spPr>
      </p:sp>
      <p:sp>
        <p:nvSpPr>
          <p:cNvPr id="3" name="Text 1"/>
          <p:cNvSpPr/>
          <p:nvPr/>
        </p:nvSpPr>
        <p:spPr>
          <a:xfrm>
            <a:off x="777240" y="45720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References</a:t>
            </a:r>
            <a:endParaRPr lang="en-US" sz="3200" dirty="0"/>
          </a:p>
        </p:txBody>
      </p:sp>
      <p:sp>
        <p:nvSpPr>
          <p:cNvPr id="4" name="Shape 2"/>
          <p:cNvSpPr/>
          <p:nvPr/>
        </p:nvSpPr>
        <p:spPr>
          <a:xfrm>
            <a:off x="777240" y="1435608"/>
            <a:ext cx="146304" cy="32004"/>
          </a:xfrm>
          <a:prstGeom prst="rect">
            <a:avLst/>
          </a:prstGeom>
          <a:solidFill>
            <a:srgbClr val="D97A26"/>
          </a:solidFill>
          <a:ln w="12700">
            <a:solidFill>
              <a:srgbClr val="D97A26"/>
            </a:solidFill>
            <a:prstDash val="solid"/>
          </a:ln>
        </p:spPr>
      </p:sp>
      <p:sp>
        <p:nvSpPr>
          <p:cNvPr id="5" name="Text 3"/>
          <p:cNvSpPr/>
          <p:nvPr/>
        </p:nvSpPr>
        <p:spPr>
          <a:xfrm>
            <a:off x="1115568" y="1271016"/>
            <a:ext cx="8138160" cy="658368"/>
          </a:xfrm>
          <a:prstGeom prst="rect">
            <a:avLst/>
          </a:prstGeom>
          <a:noFill/>
          <a:ln/>
        </p:spPr>
        <p:txBody>
          <a:bodyPr wrap="square" lIns="0" tIns="0" rIns="0" bIns="0" rtlCol="0" anchor="ctr"/>
          <a:lstStyle/>
          <a:p>
            <a:pPr marL="0" indent="0">
              <a:lnSpc>
                <a:spcPts val="1800"/>
              </a:lnSpc>
              <a:buNone/>
            </a:pPr>
            <a:r>
              <a:rPr lang="en-US" sz="1200" dirty="0">
                <a:solidFill>
                  <a:srgbClr val="C8D8C4"/>
                </a:solidFill>
                <a:latin typeface="Calibri" pitchFamily="34" charset="0"/>
                <a:ea typeface="Calibri" pitchFamily="34" charset="-122"/>
                <a:cs typeface="Calibri" pitchFamily="34" charset="-120"/>
              </a:rPr>
              <a:t>Care Shield Food Bank. (n.d.). Care Shield Food Bank. Retrieved July 22, 2026, from csfoodbank.com.</a:t>
            </a:r>
            <a:endParaRPr lang="en-US" sz="1200" dirty="0"/>
          </a:p>
        </p:txBody>
      </p:sp>
      <p:sp>
        <p:nvSpPr>
          <p:cNvPr id="6" name="Shape 4"/>
          <p:cNvSpPr/>
          <p:nvPr/>
        </p:nvSpPr>
        <p:spPr>
          <a:xfrm>
            <a:off x="777240" y="2185416"/>
            <a:ext cx="146304" cy="32004"/>
          </a:xfrm>
          <a:prstGeom prst="rect">
            <a:avLst/>
          </a:prstGeom>
          <a:solidFill>
            <a:srgbClr val="D97A26"/>
          </a:solidFill>
          <a:ln w="12700">
            <a:solidFill>
              <a:srgbClr val="D97A26"/>
            </a:solidFill>
            <a:prstDash val="solid"/>
          </a:ln>
        </p:spPr>
      </p:sp>
      <p:sp>
        <p:nvSpPr>
          <p:cNvPr id="7" name="Text 5"/>
          <p:cNvSpPr/>
          <p:nvPr/>
        </p:nvSpPr>
        <p:spPr>
          <a:xfrm>
            <a:off x="1115568" y="2020824"/>
            <a:ext cx="8138160" cy="658368"/>
          </a:xfrm>
          <a:prstGeom prst="rect">
            <a:avLst/>
          </a:prstGeom>
          <a:noFill/>
          <a:ln/>
        </p:spPr>
        <p:txBody>
          <a:bodyPr wrap="square" lIns="0" tIns="0" rIns="0" bIns="0" rtlCol="0" anchor="ctr"/>
          <a:lstStyle/>
          <a:p>
            <a:pPr marL="0" indent="0">
              <a:lnSpc>
                <a:spcPts val="1800"/>
              </a:lnSpc>
              <a:buNone/>
            </a:pPr>
            <a:r>
              <a:rPr lang="en-US" sz="1200" dirty="0">
                <a:solidFill>
                  <a:srgbClr val="C8D8C4"/>
                </a:solidFill>
                <a:latin typeface="Calibri" pitchFamily="34" charset="0"/>
                <a:ea typeface="Calibri" pitchFamily="34" charset="-122"/>
                <a:cs typeface="Calibri" pitchFamily="34" charset="-120"/>
              </a:rPr>
              <a:t>Care Shield Food Bank. (2026). Food Bank Complete Database [Internal organizational dataset: Families, Donors, Costing, Inventory, Staff, Transportation, and Collection Schedule records].</a:t>
            </a:r>
            <a:endParaRPr lang="en-US" sz="1200" dirty="0"/>
          </a:p>
        </p:txBody>
      </p:sp>
      <p:sp>
        <p:nvSpPr>
          <p:cNvPr id="8" name="Shape 6"/>
          <p:cNvSpPr/>
          <p:nvPr/>
        </p:nvSpPr>
        <p:spPr>
          <a:xfrm>
            <a:off x="777240" y="2935224"/>
            <a:ext cx="146304" cy="32004"/>
          </a:xfrm>
          <a:prstGeom prst="rect">
            <a:avLst/>
          </a:prstGeom>
          <a:solidFill>
            <a:srgbClr val="D97A26"/>
          </a:solidFill>
          <a:ln w="12700">
            <a:solidFill>
              <a:srgbClr val="D97A26"/>
            </a:solidFill>
            <a:prstDash val="solid"/>
          </a:ln>
        </p:spPr>
      </p:sp>
      <p:sp>
        <p:nvSpPr>
          <p:cNvPr id="9" name="Text 7"/>
          <p:cNvSpPr/>
          <p:nvPr/>
        </p:nvSpPr>
        <p:spPr>
          <a:xfrm>
            <a:off x="1115568" y="2770632"/>
            <a:ext cx="8138160" cy="658368"/>
          </a:xfrm>
          <a:prstGeom prst="rect">
            <a:avLst/>
          </a:prstGeom>
          <a:noFill/>
          <a:ln/>
        </p:spPr>
        <p:txBody>
          <a:bodyPr wrap="square" lIns="0" tIns="0" rIns="0" bIns="0" rtlCol="0" anchor="ctr"/>
          <a:lstStyle/>
          <a:p>
            <a:pPr marL="0" indent="0">
              <a:lnSpc>
                <a:spcPts val="1800"/>
              </a:lnSpc>
              <a:buNone/>
            </a:pPr>
            <a:r>
              <a:rPr lang="en-US" sz="1200" dirty="0">
                <a:solidFill>
                  <a:srgbClr val="C8D8C4"/>
                </a:solidFill>
                <a:latin typeface="Calibri" pitchFamily="34" charset="0"/>
                <a:ea typeface="Calibri" pitchFamily="34" charset="-122"/>
                <a:cs typeface="Calibri" pitchFamily="34" charset="-120"/>
              </a:rPr>
              <a:t>Food Banks Canada. (n.d.). HungerCount report. Food Banks Canada.</a:t>
            </a:r>
            <a:endParaRPr lang="en-US" sz="1200" dirty="0"/>
          </a:p>
        </p:txBody>
      </p:sp>
      <p:sp>
        <p:nvSpPr>
          <p:cNvPr id="10" name="Shape 8"/>
          <p:cNvSpPr/>
          <p:nvPr/>
        </p:nvSpPr>
        <p:spPr>
          <a:xfrm>
            <a:off x="777240" y="3685032"/>
            <a:ext cx="146304" cy="32004"/>
          </a:xfrm>
          <a:prstGeom prst="rect">
            <a:avLst/>
          </a:prstGeom>
          <a:solidFill>
            <a:srgbClr val="D97A26"/>
          </a:solidFill>
          <a:ln w="12700">
            <a:solidFill>
              <a:srgbClr val="D97A26"/>
            </a:solidFill>
            <a:prstDash val="solid"/>
          </a:ln>
        </p:spPr>
      </p:sp>
      <p:sp>
        <p:nvSpPr>
          <p:cNvPr id="11" name="Text 9"/>
          <p:cNvSpPr/>
          <p:nvPr/>
        </p:nvSpPr>
        <p:spPr>
          <a:xfrm>
            <a:off x="1115568" y="3520440"/>
            <a:ext cx="8138160" cy="658368"/>
          </a:xfrm>
          <a:prstGeom prst="rect">
            <a:avLst/>
          </a:prstGeom>
          <a:noFill/>
          <a:ln/>
        </p:spPr>
        <p:txBody>
          <a:bodyPr wrap="square" lIns="0" tIns="0" rIns="0" bIns="0" rtlCol="0" anchor="ctr"/>
          <a:lstStyle/>
          <a:p>
            <a:pPr marL="0" indent="0">
              <a:lnSpc>
                <a:spcPts val="1800"/>
              </a:lnSpc>
              <a:buNone/>
            </a:pPr>
            <a:r>
              <a:rPr lang="en-US" sz="1200" dirty="0">
                <a:solidFill>
                  <a:srgbClr val="C8D8C4"/>
                </a:solidFill>
                <a:latin typeface="Calibri" pitchFamily="34" charset="0"/>
                <a:ea typeface="Calibri" pitchFamily="34" charset="-122"/>
                <a:cs typeface="Calibri" pitchFamily="34" charset="-120"/>
              </a:rPr>
              <a:t>Project Management Institute. (2021). A guide to the project management body of knowledge (PMBOK guide) (7th ed.). Project Management Institute.</a:t>
            </a:r>
            <a:endParaRPr lang="en-US" sz="1200" dirty="0"/>
          </a:p>
        </p:txBody>
      </p:sp>
      <p:sp>
        <p:nvSpPr>
          <p:cNvPr id="12" name="Shape 10"/>
          <p:cNvSpPr/>
          <p:nvPr/>
        </p:nvSpPr>
        <p:spPr>
          <a:xfrm>
            <a:off x="777240" y="4434840"/>
            <a:ext cx="8412480" cy="1051560"/>
          </a:xfrm>
          <a:prstGeom prst="roundRect">
            <a:avLst>
              <a:gd name="adj" fmla="val 7826"/>
            </a:avLst>
          </a:prstGeom>
          <a:solidFill>
            <a:srgbClr val="1E4E2E"/>
          </a:solidFill>
          <a:ln w="12700">
            <a:solidFill>
              <a:srgbClr val="1E4E2E"/>
            </a:solidFill>
            <a:prstDash val="solid"/>
          </a:ln>
        </p:spPr>
      </p:sp>
      <p:sp>
        <p:nvSpPr>
          <p:cNvPr id="13" name="Text 11"/>
          <p:cNvSpPr/>
          <p:nvPr/>
        </p:nvSpPr>
        <p:spPr>
          <a:xfrm>
            <a:off x="1097280" y="4553712"/>
            <a:ext cx="7772400" cy="822960"/>
          </a:xfrm>
          <a:prstGeom prst="rect">
            <a:avLst/>
          </a:prstGeom>
          <a:noFill/>
          <a:ln/>
        </p:spPr>
        <p:txBody>
          <a:bodyPr wrap="square" lIns="0" tIns="0" rIns="0" bIns="0" rtlCol="0" anchor="ctr"/>
          <a:lstStyle/>
          <a:p>
            <a:pPr marL="0" indent="0">
              <a:lnSpc>
                <a:spcPts val="1700"/>
              </a:lnSpc>
              <a:buNone/>
            </a:pPr>
            <a:r>
              <a:rPr lang="en-US" sz="1150" i="1" dirty="0">
                <a:solidFill>
                  <a:srgbClr val="97BC62"/>
                </a:solidFill>
                <a:latin typeface="Calibri" pitchFamily="34" charset="0"/>
                <a:ea typeface="Calibri" pitchFamily="34" charset="-122"/>
                <a:cs typeface="Calibri" pitchFamily="34" charset="-120"/>
              </a:rPr>
              <a:t>This charter draws on Care Shield Food Bank's published operating figures strictly as a comparison benchmark for planning purposes. FoodShare's own donor, family and inventory data will be captured independently once the system described here is in place.</a:t>
            </a:r>
            <a:endParaRPr lang="en-US" sz="1150" dirty="0"/>
          </a:p>
        </p:txBody>
      </p:sp>
      <p:sp>
        <p:nvSpPr>
          <p:cNvPr id="14" name="Text 12"/>
          <p:cNvSpPr/>
          <p:nvPr/>
        </p:nvSpPr>
        <p:spPr>
          <a:xfrm>
            <a:off x="777240" y="5806440"/>
            <a:ext cx="106070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FoodShare Food Bank  ·  Network Capacity &amp; Efficiency Expansion Project  ·  FSFB-2026</a:t>
            </a:r>
            <a:endParaRPr lang="en-US" sz="1200" dirty="0"/>
          </a:p>
        </p:txBody>
      </p:sp>
      <p:sp>
        <p:nvSpPr>
          <p:cNvPr id="15" name="Text 13"/>
          <p:cNvSpPr/>
          <p:nvPr/>
        </p:nvSpPr>
        <p:spPr>
          <a:xfrm>
            <a:off x="777240" y="6108192"/>
            <a:ext cx="10607040" cy="292608"/>
          </a:xfrm>
          <a:prstGeom prst="rect">
            <a:avLst/>
          </a:prstGeom>
          <a:noFill/>
          <a:ln/>
        </p:spPr>
        <p:txBody>
          <a:bodyPr wrap="square" lIns="0" tIns="0" rIns="0" bIns="0" rtlCol="0" anchor="ctr"/>
          <a:lstStyle/>
          <a:p>
            <a:pPr marL="0" indent="0">
              <a:buNone/>
            </a:pPr>
            <a:r>
              <a:rPr lang="en-US" sz="1100" dirty="0">
                <a:solidFill>
                  <a:srgbClr val="8FA487"/>
                </a:solidFill>
                <a:latin typeface="Calibri" pitchFamily="34" charset="0"/>
                <a:ea typeface="Calibri" pitchFamily="34" charset="-122"/>
                <a:cs typeface="Calibri" pitchFamily="34" charset="-120"/>
              </a:rPr>
              <a:t>Seneca Polytechnic — Business Information Technology Program  ·  July 23,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4591</Words>
  <Application>Microsoft Office PowerPoint</Application>
  <PresentationFormat>Widescreen</PresentationFormat>
  <Paragraphs>669</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FoodShare Food Bank — Network Capacity &amp; Efficiency Expansion Project</dc:title>
  <dc:subject>PptxGenJS Presentation</dc:subject>
  <dc:creator>FSFB-2026 Project Team</dc:creator>
  <cp:lastModifiedBy>Devkumar Manishkumar Patel</cp:lastModifiedBy>
  <cp:revision>2</cp:revision>
  <dcterms:created xsi:type="dcterms:W3CDTF">2026-08-13T17:02:47Z</dcterms:created>
  <dcterms:modified xsi:type="dcterms:W3CDTF">2026-08-13T22:13:08Z</dcterms:modified>
</cp:coreProperties>
</file>